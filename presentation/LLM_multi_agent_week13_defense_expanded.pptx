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17a2f8586e64560" /><Relationship Type="http://schemas.openxmlformats.org/officeDocument/2006/relationships/extended-properties" Target="/docProps/app.xml" Id="Rb71c5cdccfec4365" /><Relationship Type="http://schemas.openxmlformats.org/officeDocument/2006/relationships/officeDocument" Target="/ppt/presentation.xml" Id="Re5a137c4551b4c4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2ec4d68991e4bfb"/>
  </p:sldMasterIdLst>
  <p:notesMasterIdLst>
    <p:notesMasterId xmlns:r="http://schemas.openxmlformats.org/officeDocument/2006/relationships" r:id="Raf2bce3984f34587"/>
  </p:notesMasterIdLst>
  <p:sldIdLst>
    <p:sldId xmlns:r="http://schemas.openxmlformats.org/officeDocument/2006/relationships" id="256" r:id="R95e5c50225cb45e4"/>
    <p:sldId xmlns:r="http://schemas.openxmlformats.org/officeDocument/2006/relationships" id="257" r:id="Rfce407cca6fa4eba"/>
    <p:sldId xmlns:r="http://schemas.openxmlformats.org/officeDocument/2006/relationships" id="258" r:id="Raa9b3d5b27264dd5"/>
    <p:sldId xmlns:r="http://schemas.openxmlformats.org/officeDocument/2006/relationships" id="259" r:id="R4f65e67823244733"/>
    <p:sldId xmlns:r="http://schemas.openxmlformats.org/officeDocument/2006/relationships" id="260" r:id="R2dd2eef9c3974530"/>
    <p:sldId xmlns:r="http://schemas.openxmlformats.org/officeDocument/2006/relationships" id="261" r:id="R10c2078b0e99445c"/>
    <p:sldId xmlns:r="http://schemas.openxmlformats.org/officeDocument/2006/relationships" id="262" r:id="R13dd4db11b6748a1"/>
    <p:sldId xmlns:r="http://schemas.openxmlformats.org/officeDocument/2006/relationships" id="263" r:id="R9734ffbf71964e83"/>
    <p:sldId xmlns:r="http://schemas.openxmlformats.org/officeDocument/2006/relationships" id="264" r:id="Rd0f10dc6ffa24d14"/>
    <p:sldId xmlns:r="http://schemas.openxmlformats.org/officeDocument/2006/relationships" id="265" r:id="R1c8f972ad4c744fa"/>
    <p:sldId xmlns:r="http://schemas.openxmlformats.org/officeDocument/2006/relationships" id="266" r:id="R4e021a86d8d247fa"/>
    <p:sldId xmlns:r="http://schemas.openxmlformats.org/officeDocument/2006/relationships" id="267" r:id="Rf645866eca2646cc"/>
    <p:sldId xmlns:r="http://schemas.openxmlformats.org/officeDocument/2006/relationships" id="268" r:id="R69091d9b3b96410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ec4d68991e4bfb" /><Relationship Type="http://schemas.openxmlformats.org/officeDocument/2006/relationships/theme" Target="/ppt/theme/theme1.xml" Id="Rc277541f2d63474f" /><Relationship Type="http://schemas.openxmlformats.org/officeDocument/2006/relationships/notesMaster" Target="/ppt/notesMasters/notesMaster1.xml" Id="Raf2bce3984f34587" /><Relationship Type="http://schemas.openxmlformats.org/officeDocument/2006/relationships/presProps" Target="/ppt/presProps.xml" Id="Rb37d134f44074967" /><Relationship Type="http://schemas.openxmlformats.org/officeDocument/2006/relationships/viewProps" Target="/ppt/viewProps.xml" Id="Rbb933ba235014c4c" /><Relationship Type="http://schemas.openxmlformats.org/officeDocument/2006/relationships/tableStyles" Target="/ppt/tableStyles.xml" Id="R58bf0166685e4ddd" /><Relationship Type="http://schemas.openxmlformats.org/officeDocument/2006/relationships/slide" Target="/ppt/slides/slide1.xml" Id="R95e5c50225cb45e4" /><Relationship Type="http://schemas.openxmlformats.org/officeDocument/2006/relationships/slide" Target="/ppt/slides/slide2.xml" Id="Rfce407cca6fa4eba" /><Relationship Type="http://schemas.openxmlformats.org/officeDocument/2006/relationships/slide" Target="/ppt/slides/slide3.xml" Id="Raa9b3d5b27264dd5" /><Relationship Type="http://schemas.openxmlformats.org/officeDocument/2006/relationships/slide" Target="/ppt/slides/slide4.xml" Id="R4f65e67823244733" /><Relationship Type="http://schemas.openxmlformats.org/officeDocument/2006/relationships/slide" Target="/ppt/slides/slide5.xml" Id="R2dd2eef9c3974530" /><Relationship Type="http://schemas.openxmlformats.org/officeDocument/2006/relationships/slide" Target="/ppt/slides/slide6.xml" Id="R10c2078b0e99445c" /><Relationship Type="http://schemas.openxmlformats.org/officeDocument/2006/relationships/slide" Target="/ppt/slides/slide7.xml" Id="R13dd4db11b6748a1" /><Relationship Type="http://schemas.openxmlformats.org/officeDocument/2006/relationships/slide" Target="/ppt/slides/slide8.xml" Id="R9734ffbf71964e83" /><Relationship Type="http://schemas.openxmlformats.org/officeDocument/2006/relationships/slide" Target="/ppt/slides/slide9.xml" Id="Rd0f10dc6ffa24d14" /><Relationship Type="http://schemas.openxmlformats.org/officeDocument/2006/relationships/slide" Target="/ppt/slides/slide10.xml" Id="R1c8f972ad4c744fa" /><Relationship Type="http://schemas.openxmlformats.org/officeDocument/2006/relationships/slide" Target="/ppt/slides/slide11.xml" Id="R4e021a86d8d247fa" /><Relationship Type="http://schemas.openxmlformats.org/officeDocument/2006/relationships/slide" Target="/ppt/slides/slide12.xml" Id="Rf645866eca2646cc" /><Relationship Type="http://schemas.openxmlformats.org/officeDocument/2006/relationships/slide" Target="/ppt/slides/slide13.xml" Id="R69091d9b3b96410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1f85d81b97a041f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8fdf977e0c54650" /><Relationship Type="http://schemas.openxmlformats.org/officeDocument/2006/relationships/notesMaster" Target="/ppt/notesMasters/notesMaster1.xml" Id="Rde6b0c6b4fbb439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0633e6823a049a8" /><Relationship Type="http://schemas.openxmlformats.org/officeDocument/2006/relationships/notesMaster" Target="/ppt/notesMasters/notesMaster1.xml" Id="R7d2a70bdcc43403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535f1222bff476c" /><Relationship Type="http://schemas.openxmlformats.org/officeDocument/2006/relationships/notesMaster" Target="/ppt/notesMasters/notesMaster1.xml" Id="Re7ceb42fd83641a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c750a526fe44ce2" /><Relationship Type="http://schemas.openxmlformats.org/officeDocument/2006/relationships/notesMaster" Target="/ppt/notesMasters/notesMaster1.xml" Id="Rb5919a050410489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c5bdc247fd04cc2" /><Relationship Type="http://schemas.openxmlformats.org/officeDocument/2006/relationships/notesMaster" Target="/ppt/notesMasters/notesMaster1.xml" Id="Rcb2201b3ffbc406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213e62705b645c9" /><Relationship Type="http://schemas.openxmlformats.org/officeDocument/2006/relationships/notesMaster" Target="/ppt/notesMasters/notesMaster1.xml" Id="R68aae0294f2d4d7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7f2f201e5c1468c" /><Relationship Type="http://schemas.openxmlformats.org/officeDocument/2006/relationships/notesMaster" Target="/ppt/notesMasters/notesMaster1.xml" Id="R8a190028e76d40d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b36866e7620446e" /><Relationship Type="http://schemas.openxmlformats.org/officeDocument/2006/relationships/notesMaster" Target="/ppt/notesMasters/notesMaster1.xml" Id="R2a4b4915ad47476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0bb51c67b70481d" /><Relationship Type="http://schemas.openxmlformats.org/officeDocument/2006/relationships/notesMaster" Target="/ppt/notesMasters/notesMaster1.xml" Id="R99d6805494dc4ff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cd77a7b4a504f73" /><Relationship Type="http://schemas.openxmlformats.org/officeDocument/2006/relationships/notesMaster" Target="/ppt/notesMasters/notesMaster1.xml" Id="R07e5b14ba1a548a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75c4427457c4959" /><Relationship Type="http://schemas.openxmlformats.org/officeDocument/2006/relationships/notesMaster" Target="/ppt/notesMasters/notesMaster1.xml" Id="R8369474ae9d5409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a5c039445514582" /><Relationship Type="http://schemas.openxmlformats.org/officeDocument/2006/relationships/notesMaster" Target="/ppt/notesMasters/notesMaster1.xml" Id="R75ae73167c9f42a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1e6b957e9524a8e" /><Relationship Type="http://schemas.openxmlformats.org/officeDocument/2006/relationships/notesMaster" Target="/ppt/notesMasters/notesMaster1.xml" Id="Rada1c5861f3943e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67dbc1d64f4113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ca8125d1d52d4ccb" /><Relationship Type="http://schemas.openxmlformats.org/officeDocument/2006/relationships/slideLayout" Target="/ppt/slideLayouts/slideLayout2.xml" Id="R0fbc55e0335541c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fbc55e0335541c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9207749506b4951" /><Relationship Type="http://schemas.openxmlformats.org/officeDocument/2006/relationships/notesSlide" Target="/ppt/notesSlides/notesSlide1.xml" Id="Rb5ee33d87921477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68072976dc04d4a" /><Relationship Type="http://schemas.openxmlformats.org/officeDocument/2006/relationships/notesSlide" Target="/ppt/notesSlides/notesSlide2.xml" Id="R7bf64e9d1f8a467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af6af6bcdc94720" /><Relationship Type="http://schemas.openxmlformats.org/officeDocument/2006/relationships/notesSlide" Target="/ppt/notesSlides/notesSlide3.xml" Id="R61d4a39f84144fd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d7eba9799f34d45" /><Relationship Type="http://schemas.openxmlformats.org/officeDocument/2006/relationships/notesSlide" Target="/ppt/notesSlides/notesSlide4.xml" Id="Ra62441c65eeb4ea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d6b2169762e452e" /><Relationship Type="http://schemas.openxmlformats.org/officeDocument/2006/relationships/notesSlide" Target="/ppt/notesSlides/notesSlide5.xml" Id="Rf03fb98ae0ea4db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ae301fd78644dca" /><Relationship Type="http://schemas.openxmlformats.org/officeDocument/2006/relationships/notesSlide" Target="/ppt/notesSlides/notesSlide6.xml" Id="Re8faa5a9047b489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2636f05ac6143c9" /><Relationship Type="http://schemas.openxmlformats.org/officeDocument/2006/relationships/notesSlide" Target="/ppt/notesSlides/notesSlide7.xml" Id="R72555a0678e748e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2d6d4cd75b14917" /><Relationship Type="http://schemas.openxmlformats.org/officeDocument/2006/relationships/notesSlide" Target="/ppt/notesSlides/notesSlide8.xml" Id="R7278482d5bf94c4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8a6b92cfa574a0c" /><Relationship Type="http://schemas.openxmlformats.org/officeDocument/2006/relationships/image" Target="/ppt/media/image.png" Id="R5bc5b80df54847c9" /><Relationship Type="http://schemas.openxmlformats.org/officeDocument/2006/relationships/notesSlide" Target="/ppt/notesSlides/notesSlide9.xml" Id="Rd9d14f867bae48b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e0f1c37c32e4104" /><Relationship Type="http://schemas.openxmlformats.org/officeDocument/2006/relationships/image" Target="/ppt/media/image2.png" Id="R5c92f03211ce4d48" /><Relationship Type="http://schemas.openxmlformats.org/officeDocument/2006/relationships/image" Target="/ppt/media/image3.png" Id="R04d6ee84dfb34f45" /><Relationship Type="http://schemas.openxmlformats.org/officeDocument/2006/relationships/notesSlide" Target="/ppt/notesSlides/notesSlide10.xml" Id="R5cd6481c55934c6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65ef85eb69f407a" /><Relationship Type="http://schemas.openxmlformats.org/officeDocument/2006/relationships/image" Target="/ppt/media/image4.png" Id="R3c215104a4754fc4" /><Relationship Type="http://schemas.openxmlformats.org/officeDocument/2006/relationships/notesSlide" Target="/ppt/notesSlides/notesSlide11.xml" Id="Rc09e17215301475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0ad0a113b6b4d5a" /><Relationship Type="http://schemas.openxmlformats.org/officeDocument/2006/relationships/notesSlide" Target="/ppt/notesSlides/notesSlide12.xml" Id="R0fb3933a37ff4f7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e6917ba87df429f" /><Relationship Type="http://schemas.openxmlformats.org/officeDocument/2006/relationships/notesSlide" Target="/ppt/notesSlides/notesSlide13.xml" Id="Rd17449e309814a8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77CC1E7-0E7B-47FB-98F5-A4C167531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C56713-54DA-4487-BF44-21B27AE95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C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07BA3B-F32B-47D5-91CD-DF1C2C059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CDB5D9-01A8-4479-8620-F4A9C6226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FF42C3-6D7C-478C-B96D-D32EE2DB6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7C4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B7C4D6"/>
                </a:solidFill>
                <a:latin typeface="Microsoft YaHei"/>
                <a:ea typeface="Microsoft YaHei"/>
                <a:cs typeface="Microsoft YaHei"/>
              </a:rPr>
              <a:t>文献计量学课程项目答辩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EF0697-3EDB-41D3-90F9-34F8C202B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953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4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LLM 多智能体协作研究趋势分析与综述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D185BF-9DF0-46DC-B97E-347BE5095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05150"/>
            <a:ext cx="6477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9E0E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D9E0EA"/>
                </a:solidFill>
                <a:latin typeface="Microsoft YaHei"/>
                <a:ea typeface="Microsoft YaHei"/>
                <a:cs typeface="Microsoft YaHei"/>
              </a:rPr>
              <a:t>从 Lens.org 数据集、知识图谱到 mini review 的可复现 GitHub 项目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787266-BB7B-4188-97A9-758AA1700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7675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89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D89B19"/>
                </a:solidFill>
                <a:latin typeface="Microsoft YaHei"/>
                <a:ea typeface="Microsoft YaHei"/>
                <a:cs typeface="Microsoft YaHei"/>
              </a:rPr>
              <a:t>答辩主线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5A2F7F-73F4-4635-9015-88D4E90BE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81550"/>
            <a:ext cx="6667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DF1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EDF1F5"/>
                </a:solidFill>
                <a:latin typeface="Microsoft YaHei"/>
                <a:ea typeface="Microsoft YaHei"/>
                <a:cs typeface="Microsoft YaHei"/>
              </a:rPr>
              <a:t>课程要求如何被落到 M1-M3 交付物中；计量证据如何支撑综述结构；Week 13 如何把图表、文字与证据链绑定成可提交版本。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4B354B-CEA9-4848-BA8D-39FF36B79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876300"/>
            <a:ext cx="23241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F649AA-F3D8-4C14-917F-E6C7505EF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876300"/>
            <a:ext cx="47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AB79AE-5C63-41BF-947A-EC45D8352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971550"/>
            <a:ext cx="2057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024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100" b="1">
                <a:solidFill>
                  <a:srgbClr val="20242A"/>
                </a:solidFill>
                <a:latin typeface="Microsoft YaHei UI"/>
                <a:ea typeface="Microsoft YaHei UI"/>
                <a:cs typeface="Microsoft YaHei UI"/>
              </a:rPr>
              <a:t>522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61DA4C-F952-4CEA-B4AF-468661788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295400"/>
            <a:ext cx="2057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rPr>
              <a:t>有效文献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175A5A-D9F2-45AB-8E97-0A1DCD645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476375"/>
            <a:ext cx="2057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B75"/>
                </a:solidFill>
                <a:latin typeface="Microsoft YaHei"/>
                <a:ea typeface="Microsoft YaHei"/>
                <a:cs typeface="Microsoft YaHei"/>
              </a:rPr>
              <a:t>542 条原始记录去重后纳入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9A9B77-0B7B-4615-A293-F44BAB1B5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866900"/>
            <a:ext cx="23241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5BB0EE-84D3-4E6D-93A4-4781EF30B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866900"/>
            <a:ext cx="47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A7A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C4E0C8-1D0C-4C89-B8BD-0ED0AF760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962150"/>
            <a:ext cx="2057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024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100" b="1">
                <a:solidFill>
                  <a:srgbClr val="20242A"/>
                </a:solidFill>
                <a:latin typeface="Microsoft YaHei UI"/>
                <a:ea typeface="Microsoft YaHei UI"/>
                <a:cs typeface="Microsoft YaHei UI"/>
              </a:rPr>
              <a:t>4,265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A23138-EFF5-4AEE-AEDE-CC434647B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286000"/>
            <a:ext cx="2057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rPr>
              <a:t>总被引次数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2F65B6-14B1-4C84-8C5F-EF444DC26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466975"/>
            <a:ext cx="2057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B75"/>
                </a:solidFill>
                <a:latin typeface="Microsoft YaHei"/>
                <a:ea typeface="Microsoft YaHei"/>
                <a:cs typeface="Microsoft YaHei"/>
              </a:rPr>
              <a:t>样本整体学术关注度较高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F035C1-F1F3-42C9-894D-62DD39858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857500"/>
            <a:ext cx="23241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3A49CB-216C-49D2-B5D5-67053A97B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857500"/>
            <a:ext cx="47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26AE6F-7A4D-42C0-8C79-3C882A0D6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952750"/>
            <a:ext cx="2057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024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100" b="1">
                <a:solidFill>
                  <a:srgbClr val="20242A"/>
                </a:solidFill>
                <a:latin typeface="Microsoft YaHei UI"/>
                <a:ea typeface="Microsoft YaHei UI"/>
                <a:cs typeface="Microsoft YaHei UI"/>
              </a:rPr>
              <a:t>h = 31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EF1158-2F43-4F54-B096-AE11E3DDF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276600"/>
            <a:ext cx="2057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rPr>
              <a:t>领域影响力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D195E7-3B1F-49D4-969D-D9F413592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457575"/>
            <a:ext cx="2057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B75"/>
                </a:solidFill>
                <a:latin typeface="Microsoft YaHei"/>
                <a:ea typeface="Microsoft YaHei"/>
                <a:cs typeface="Microsoft YaHei"/>
              </a:rPr>
              <a:t>31 篇论文被引至少 31 次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BE584AE-9E0A-4735-A8B4-DC1F7A7B8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848100"/>
            <a:ext cx="23241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93C867-0D16-49ED-A8B2-302250C54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848100"/>
            <a:ext cx="47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6B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46C075C-5FD2-4A0B-9182-E43370D46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943350"/>
            <a:ext cx="2057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024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100" b="1">
                <a:solidFill>
                  <a:srgbClr val="20242A"/>
                </a:solidFill>
                <a:latin typeface="Microsoft YaHei UI"/>
                <a:ea typeface="Microsoft YaHei UI"/>
                <a:cs typeface="Microsoft YaHei UI"/>
              </a:rPr>
              <a:t>344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57DD38A-C5A4-4EF9-BC03-0E050A0F7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267200"/>
            <a:ext cx="2057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rPr>
              <a:t>2025 年发文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0E4021D-A94E-4703-881B-25457883A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448175"/>
            <a:ext cx="2057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B75"/>
                </a:solidFill>
                <a:latin typeface="Microsoft YaHei"/>
                <a:ea typeface="Microsoft YaHei"/>
                <a:cs typeface="Microsoft YaHei"/>
              </a:rPr>
              <a:t>进入爆发式增长阶段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94A7985-E417-4676-A6F5-6E8467238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219700"/>
            <a:ext cx="2343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26B75"/>
                </a:solidFill>
                <a:latin typeface="Microsoft YaHei"/>
                <a:ea typeface="Microsoft YaHei"/>
                <a:cs typeface="Microsoft YaHei"/>
              </a:rPr>
              <a:t>组别 / 姓名可在此处替换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E487DD7-8DF7-4446-AF04-C8CEF2E62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486400"/>
            <a:ext cx="2343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6B75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626B75"/>
                </a:solidFill>
                <a:latin typeface="Consolas"/>
                <a:ea typeface="Consolas"/>
                <a:cs typeface="Consolas"/>
              </a:rPr>
              <a:t>Week 13 defense draft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50573D4-9D14-471D-A450-8D2E5FAC6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857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A7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A746B"/>
                </a:solidFill>
                <a:latin typeface="Microsoft YaHei"/>
                <a:ea typeface="Microsoft YaHei"/>
                <a:cs typeface="Microsoft YaHei"/>
              </a:rPr>
              <a:t>Project: LLM-trends-analysis-main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DCE5C24-13CA-487B-8CE2-6AF1AB30B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51510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A746B"/>
                </a:solidFill>
                <a:latin typeface="Consolas"/>
                <a:ea typeface="Consolas"/>
                <a:cs typeface="Consolas"/>
              </a:defRPr>
            </a:pPr>
            <a:r>
              <a:rPr sz="825" b="0">
                <a:solidFill>
                  <a:srgbClr val="7A746B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61443081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C59715F-689E-497C-AEB8-B797266C3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2-marker">
            <a:extLst xmlns:a="http://schemas.openxmlformats.org/drawingml/2006/main">
              <a:ext uri="{FF2B5EF4-FFF2-40B4-BE49-F238E27FC236}">
                <a16:creationId xmlns:a16="http://schemas.microsoft.com/office/drawing/2014/main" id="{D25CD791-3440-4EE2-8458-9050DD902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05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2-label">
            <a:extLst xmlns:a="http://schemas.openxmlformats.org/drawingml/2006/main">
              <a:ext uri="{FF2B5EF4-FFF2-40B4-BE49-F238E27FC236}">
                <a16:creationId xmlns:a16="http://schemas.microsoft.com/office/drawing/2014/main" id="{4497778E-2E75-495D-8ADC-ED0480CC4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290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46BF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1">
                <a:solidFill>
                  <a:srgbClr val="246BFE"/>
                </a:solidFill>
                <a:latin typeface="Microsoft YaHei UI"/>
                <a:ea typeface="Microsoft YaHei UI"/>
                <a:cs typeface="Microsoft YaHei UI"/>
              </a:rPr>
              <a:t>COURSE FIT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D0BA73-EDEC-4904-A060-3E42ED5B2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9906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024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20242A"/>
                </a:solidFill>
                <a:latin typeface="Microsoft YaHei UI"/>
                <a:ea typeface="Microsoft YaHei UI"/>
                <a:cs typeface="Microsoft YaHei UI"/>
              </a:rPr>
              <a:t>课程任务已经被拆解为可验证的项目交付物。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F61E8F-79A6-4A2C-9973-067B4043C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38300"/>
            <a:ext cx="7810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C24"/>
          </a:solidFill>
          <a:ln xmlns:a="http://schemas.openxmlformats.org/drawingml/2006/main" w="9525">
            <a:solidFill>
              <a:srgbClr val="D8D1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9619C8-82E3-4737-98CB-F21A748BF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4975"/>
            <a:ext cx="184023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阶段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87344C-1C4B-470D-A3D9-ED15AF953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2730" y="1704975"/>
            <a:ext cx="308991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课程要求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103354-CBD9-4471-93D1-296216199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3140" y="1704975"/>
            <a:ext cx="230886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项目响应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F8F713-9205-413C-BF22-B7594C1BC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7810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7C12F7-3DD3-4134-9E6A-9ECA2CD02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33625"/>
            <a:ext cx="184023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rPr>
              <a:t>Week 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84CB4E-B58D-4706-AB04-2138F5C74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2730" y="2333625"/>
            <a:ext cx="308991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rPr>
              <a:t>复现实验、工具基线、二次开源声明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04C98C-374B-4C2F-AFD8-FAAC38FA3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3140" y="2333625"/>
            <a:ext cx="230886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rPr>
              <a:t>建立 GitHub 仓库、参数化检索配置和复现说明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749C9D-697E-4BC0-8266-D925AE625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95600"/>
            <a:ext cx="7810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8D1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3C3F16-8275-4581-A548-1547F102A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62275"/>
            <a:ext cx="184023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rPr>
              <a:t>Week 9-10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1BAAD6-0E8E-4E0F-B22D-40D526DB8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2730" y="2962275"/>
            <a:ext cx="308991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rPr>
              <a:t>案例计量分析、3 图 1 表、方法解释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E7D048-9B28-4745-96E4-060C5F091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3140" y="2962275"/>
            <a:ext cx="230886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rPr>
              <a:t>完成 M1/M2 报告、指标表、关键词与合作网络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5DEED8-D11A-4FD0-B4A6-E4341130E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24250"/>
            <a:ext cx="7810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6C83C6-3458-4852-A4C2-366366102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90925"/>
            <a:ext cx="184023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rPr>
              <a:t>Week 11-12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456739-81A9-4644-BFD4-85A0BA1FA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2730" y="3590925"/>
            <a:ext cx="308991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rPr>
              <a:t>PRISMA、综述写作、引用规范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98C0AF-8066-4750-9442-96F71464E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3140" y="3590925"/>
            <a:ext cx="230886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rPr>
              <a:t>完成 mini review、图表配文、参考项目材料清单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D75814-02C9-4074-A255-326A7B453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52900"/>
            <a:ext cx="7810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8D1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315414-58F1-4BE9-8551-71C99B9B4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19575"/>
            <a:ext cx="184023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rPr>
              <a:t>Week 13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19531B-2DD0-45E6-9573-E47AB1A4D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2730" y="4219575"/>
            <a:ext cx="308991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rPr>
              <a:t>智能体构建、证据绑定、CER 修订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6CB98A-7225-429E-B2FD-AC7A21ED4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3140" y="4219575"/>
            <a:ext cx="230886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rPr>
              <a:t>形成 claim-evidence-reasoning 的改稿和答辩流程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8CCE427-9ADD-4792-BBA5-85D3DAE1E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638300"/>
            <a:ext cx="247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rPr>
              <a:t>不是把课程周任务分散提交，而是把它们合并成一条可追溯链：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F6B4208-9AD7-4458-9EDA-A55A9F054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305050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FE">
              <a:alpha val="9412"/>
            </a:srgbClr>
          </a:solidFill>
          <a:ln xmlns:a="http://schemas.openxmlformats.org/drawingml/2006/main" w="9525">
            <a:solidFill>
              <a:srgbClr val="246BF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282BD44-7661-46BD-924B-EDAE081CF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343150"/>
            <a:ext cx="1847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46BF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246BFE"/>
                </a:solidFill>
                <a:latin typeface="Microsoft YaHei"/>
                <a:ea typeface="Microsoft YaHei"/>
                <a:cs typeface="Microsoft YaHei"/>
              </a:rPr>
              <a:t>M1 数据与检索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D56CD30-833C-4C4A-A9CA-1E2265E4A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667000"/>
            <a:ext cx="247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26B75"/>
                </a:solidFill>
                <a:latin typeface="Microsoft YaHei"/>
                <a:ea typeface="Microsoft YaHei"/>
                <a:cs typeface="Microsoft YaHei"/>
              </a:rPr>
              <a:t>数据口径、去重逻辑、字段覆盖率和 PRISMA 式筛选。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B33DD3-96B1-435A-AF8B-3272EC4F5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276600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A7A0">
              <a:alpha val="9412"/>
            </a:srgbClr>
          </a:solidFill>
          <a:ln xmlns:a="http://schemas.openxmlformats.org/drawingml/2006/main" w="9525">
            <a:solidFill>
              <a:srgbClr val="12A7A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2769539-5606-47C8-B7C4-CDF4F92D8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314700"/>
            <a:ext cx="1847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2A7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2A7A0"/>
                </a:solidFill>
                <a:latin typeface="Microsoft YaHei"/>
                <a:ea typeface="Microsoft YaHei"/>
                <a:cs typeface="Microsoft YaHei"/>
              </a:rPr>
              <a:t>M2 计量与图谱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83B1FEF-FF9F-4FEE-A5FD-DD8721E15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38550"/>
            <a:ext cx="247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26B75"/>
                </a:solidFill>
                <a:latin typeface="Microsoft YaHei"/>
                <a:ea typeface="Microsoft YaHei"/>
                <a:cs typeface="Microsoft YaHei"/>
              </a:rPr>
              <a:t>发文趋势、影响力指标、关键词共现、引用与共被引网络。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EEDD421-0CF0-4F9F-A13A-A61DF7134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248150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19">
              <a:alpha val="9412"/>
            </a:srgbClr>
          </a:solidFill>
          <a:ln xmlns:a="http://schemas.openxmlformats.org/drawingml/2006/main" w="9525">
            <a:solidFill>
              <a:srgbClr val="D89B19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BE07F64-89C7-4D5F-B48E-A42314207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286250"/>
            <a:ext cx="1847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D89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D89B19"/>
                </a:solidFill>
                <a:latin typeface="Microsoft YaHei"/>
                <a:ea typeface="Microsoft YaHei"/>
                <a:cs typeface="Microsoft YaHei"/>
              </a:rPr>
              <a:t>M3 综述与发布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44FCC0E-3CE0-4043-A117-CF8FE7A02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610100"/>
            <a:ext cx="247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26B75"/>
                </a:solidFill>
                <a:latin typeface="Microsoft YaHei"/>
                <a:ea typeface="Microsoft YaHei"/>
                <a:cs typeface="Microsoft YaHei"/>
              </a:rPr>
              <a:t>把图谱证据转化为技术叙事线，整理 GitHub 可复现版本。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6CDD9E2-2A8A-41FB-ADE1-8F79B4C18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4673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36B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E36B5C"/>
                </a:solidFill>
                <a:latin typeface="Microsoft YaHei"/>
                <a:ea typeface="Microsoft YaHei"/>
                <a:cs typeface="Microsoft YaHei"/>
              </a:rPr>
              <a:t>答辩重点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A558BD2-AE9A-4F7A-9C9A-C74890006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734050"/>
            <a:ext cx="2476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rPr>
              <a:t>我们展示的是“如何完成课程要求”，更展示“为什么这些结果能支撑一个综述”。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67F18E7-7A2C-4582-9C82-AA0B9CF60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857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A7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A746B"/>
                </a:solidFill>
                <a:latin typeface="Microsoft YaHei"/>
                <a:ea typeface="Microsoft YaHei"/>
                <a:cs typeface="Microsoft YaHei"/>
              </a:rPr>
              <a:t>Course timeline interpreted from Week 8-13 requirements and local deliverables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71CBCFE-AF4A-49CC-B5FA-8D0123FEC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51510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A746B"/>
                </a:solidFill>
                <a:latin typeface="Consolas"/>
                <a:ea typeface="Consolas"/>
                <a:cs typeface="Consolas"/>
              </a:defRPr>
            </a:pPr>
            <a:r>
              <a:rPr sz="825" b="0">
                <a:solidFill>
                  <a:srgbClr val="7A746B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08852488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A22A1D4-C321-4877-877A-D9D9D3BCF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3-marker">
            <a:extLst xmlns:a="http://schemas.openxmlformats.org/drawingml/2006/main">
              <a:ext uri="{FF2B5EF4-FFF2-40B4-BE49-F238E27FC236}">
                <a16:creationId xmlns:a16="http://schemas.microsoft.com/office/drawing/2014/main" id="{DF2F9826-2DE8-4109-B98B-58950B779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05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3-label">
            <a:extLst xmlns:a="http://schemas.openxmlformats.org/drawingml/2006/main">
              <a:ext uri="{FF2B5EF4-FFF2-40B4-BE49-F238E27FC236}">
                <a16:creationId xmlns:a16="http://schemas.microsoft.com/office/drawing/2014/main" id="{C3E88B0D-57BA-4362-B771-CD9A518AA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290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46BF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1">
                <a:solidFill>
                  <a:srgbClr val="246BFE"/>
                </a:solidFill>
                <a:latin typeface="Microsoft YaHei UI"/>
                <a:ea typeface="Microsoft YaHei UI"/>
                <a:cs typeface="Microsoft YaHei UI"/>
              </a:rPr>
              <a:t>RESEARCH QUESTION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D60E49-D669-4033-8D8A-56C65EF42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9906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024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250" b="1">
                <a:solidFill>
                  <a:srgbClr val="20242A"/>
                </a:solidFill>
                <a:latin typeface="Microsoft YaHei UI"/>
                <a:ea typeface="Microsoft YaHei UI"/>
                <a:cs typeface="Microsoft YaHei UI"/>
              </a:rPr>
              <a:t>我们研究的不是泛泛的 LLM，而是“多智能体协作”如何成为新前沿。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398721-B17D-4A31-A61E-3076A0599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47625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57BF81-1E62-4C20-B28F-475277ABD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097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6BF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46BFE"/>
                </a:solidFill>
                <a:latin typeface="Microsoft YaHei"/>
                <a:ea typeface="Microsoft YaHei"/>
                <a:cs typeface="Microsoft YaHei"/>
              </a:rPr>
              <a:t>核心研究问题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C567D5-F137-47D5-B218-7561854F9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43150"/>
            <a:ext cx="400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rPr>
              <a:t>RQ1：LLM 多智能体协作研究在 2020-2026 年经历了怎样的发展阶段？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400FAB-5F2C-431D-BA7C-ECD4111CE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28950"/>
            <a:ext cx="400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rPr>
              <a:t>RQ2：哪些关键词、主题和应用场景构成当前知识结构？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2FD031-4140-4BDB-AF9D-E5D06BBF6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14750"/>
            <a:ext cx="400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rPr>
              <a:t>RQ3：高被引论文与共被引关系能否支撑综述中的技术主线？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47BC7E-5EA5-40E1-AE25-B67F56480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00550"/>
            <a:ext cx="400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rPr>
              <a:t>RQ4：课程项目如何把计量图谱转化为可提交的 mini review？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C5FC75-2A43-4085-B46B-377FCD55F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504950"/>
            <a:ext cx="47625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C24"/>
          </a:solidFill>
          <a:ln xmlns:a="http://schemas.openxmlformats.org/drawingml/2006/main" w="9525">
            <a:solidFill>
              <a:srgbClr val="171C2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10B0DF-7674-4703-8559-A9EF671EB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0975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为什么这个题目适合文献计量学？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2AF8C3-2DC4-419E-817D-4E9490C34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381250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FE">
              <a:alpha val="9412"/>
            </a:srgbClr>
          </a:solidFill>
          <a:ln xmlns:a="http://schemas.openxmlformats.org/drawingml/2006/main" w="9525">
            <a:solidFill>
              <a:srgbClr val="246BF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20CDE4-38AF-4770-87BD-BA6656C7A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19350"/>
            <a:ext cx="1371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46BF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246BFE"/>
                </a:solidFill>
                <a:latin typeface="Microsoft YaHei"/>
                <a:ea typeface="Microsoft YaHei"/>
                <a:cs typeface="Microsoft YaHei"/>
              </a:rPr>
              <a:t>增长速度快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2FC5AD-0B22-461F-82BF-2286A8198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81250"/>
            <a:ext cx="2476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CE3E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DCE3EC"/>
                </a:solidFill>
                <a:latin typeface="Microsoft YaHei"/>
                <a:ea typeface="Microsoft YaHei"/>
                <a:cs typeface="Microsoft YaHei"/>
              </a:rPr>
              <a:t>2024-2025 年文献量激增，人工逐篇阅读容易遗漏阶段性变化。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346780-840E-488A-8DE0-C8C08D6B8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105150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A7A0">
              <a:alpha val="9412"/>
            </a:srgbClr>
          </a:solidFill>
          <a:ln xmlns:a="http://schemas.openxmlformats.org/drawingml/2006/main" w="9525">
            <a:solidFill>
              <a:srgbClr val="12A7A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A99E8D-E9CA-41EB-86B8-D5C26F172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143250"/>
            <a:ext cx="1371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2A7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2A7A0"/>
                </a:solidFill>
                <a:latin typeface="Microsoft YaHei"/>
                <a:ea typeface="Microsoft YaHei"/>
                <a:cs typeface="Microsoft YaHei"/>
              </a:rPr>
              <a:t>主题交叉强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B25784-CF78-4BAE-A4DB-9E785DCC1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05150"/>
            <a:ext cx="2476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CE3E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DCE3EC"/>
                </a:solidFill>
                <a:latin typeface="Microsoft YaHei"/>
                <a:ea typeface="Microsoft YaHei"/>
                <a:cs typeface="Microsoft YaHei"/>
              </a:rPr>
              <a:t>同时涉及 AI、机器人、人机交互、医疗、科学发现和治理。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FDA076-9C87-4868-9776-D0437992F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829050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19">
              <a:alpha val="9412"/>
            </a:srgbClr>
          </a:solidFill>
          <a:ln xmlns:a="http://schemas.openxmlformats.org/drawingml/2006/main" w="9525">
            <a:solidFill>
              <a:srgbClr val="D89B1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F7CE88-0833-4445-865E-B3F147A51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867150"/>
            <a:ext cx="1371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D89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D89B19"/>
                </a:solidFill>
                <a:latin typeface="Microsoft YaHei"/>
                <a:ea typeface="Microsoft YaHei"/>
                <a:cs typeface="Microsoft YaHei"/>
              </a:rPr>
              <a:t>概念更新密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F69F6F-BA0B-4F32-9B88-AB528F74B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29050"/>
            <a:ext cx="2476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CE3E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DCE3EC"/>
                </a:solidFill>
                <a:latin typeface="Microsoft YaHei"/>
                <a:ea typeface="Microsoft YaHei"/>
                <a:cs typeface="Microsoft YaHei"/>
              </a:rPr>
              <a:t>agentic AI、RAG、tool use、workflow、human-in-the-loop 等概念频繁出现。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4C611A-DC7F-4A70-9D62-265F070EB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762500"/>
            <a:ext cx="4095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6DF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6DFA8"/>
                </a:solidFill>
                <a:latin typeface="Microsoft YaHei"/>
                <a:ea typeface="Microsoft YaHei"/>
                <a:cs typeface="Microsoft YaHei"/>
              </a:rPr>
              <a:t>所以项目采用“计量指标 + 知识图谱 + 综述写作”的组合，而不是只写普通主题介绍。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1B82CD-6F0D-41B9-A0CE-13C2330AF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857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A7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A746B"/>
                </a:solidFill>
                <a:latin typeface="Microsoft YaHei"/>
                <a:ea typeface="Microsoft YaHei"/>
                <a:cs typeface="Microsoft YaHei"/>
              </a:rPr>
              <a:t>Source: paper/mini_review_final.md, reports/m2_metrics_analysis_report.md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E23B2C-807B-4A40-9FB6-A8A64CD1F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51510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A746B"/>
                </a:solidFill>
                <a:latin typeface="Consolas"/>
                <a:ea typeface="Consolas"/>
                <a:cs typeface="Consolas"/>
              </a:defRPr>
            </a:pPr>
            <a:r>
              <a:rPr sz="825" b="0">
                <a:solidFill>
                  <a:srgbClr val="7A746B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72138612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043E922-5652-426F-BC94-98FB4D75A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4-marker">
            <a:extLst xmlns:a="http://schemas.openxmlformats.org/drawingml/2006/main">
              <a:ext uri="{FF2B5EF4-FFF2-40B4-BE49-F238E27FC236}">
                <a16:creationId xmlns:a16="http://schemas.microsoft.com/office/drawing/2014/main" id="{FA275EED-A14A-4AF5-867F-66177619C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05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4-label">
            <a:extLst xmlns:a="http://schemas.openxmlformats.org/drawingml/2006/main">
              <a:ext uri="{FF2B5EF4-FFF2-40B4-BE49-F238E27FC236}">
                <a16:creationId xmlns:a16="http://schemas.microsoft.com/office/drawing/2014/main" id="{15CC3465-6528-4E39-B0B7-18CADCCCD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290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46BF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1">
                <a:solidFill>
                  <a:srgbClr val="246BFE"/>
                </a:solidFill>
                <a:latin typeface="Microsoft YaHei UI"/>
                <a:ea typeface="Microsoft YaHei UI"/>
                <a:cs typeface="Microsoft YaHei UI"/>
              </a:rPr>
              <a:t>DATA STRATEGY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B5597B-6CF9-45B2-A02B-58FB102AA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9906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024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20242A"/>
                </a:solidFill>
                <a:latin typeface="Microsoft YaHei UI"/>
                <a:ea typeface="Microsoft YaHei UI"/>
                <a:cs typeface="Microsoft YaHei UI"/>
              </a:rPr>
              <a:t>检索式用 Object × Method 控制主题边界，避免样本跑偏。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9FCC37-3870-4D22-AF28-06DC74D99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24000"/>
            <a:ext cx="4953000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C99043-D0C5-406D-8808-15927E0B9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8288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6BF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46BFE"/>
                </a:solidFill>
                <a:latin typeface="Microsoft YaHei"/>
                <a:ea typeface="Microsoft YaHei"/>
                <a:cs typeface="Microsoft YaHei"/>
              </a:rPr>
              <a:t>检索逻辑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E28A43-A1C7-47D0-8BDE-4D97DEFC6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86000"/>
            <a:ext cx="3619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0242A"/>
                </a:solidFill>
                <a:latin typeface="Consolas"/>
                <a:ea typeface="Consolas"/>
                <a:cs typeface="Consolas"/>
              </a:defRPr>
            </a:pPr>
            <a:r>
              <a:rPr sz="2100" b="1">
                <a:solidFill>
                  <a:srgbClr val="20242A"/>
                </a:solidFill>
                <a:latin typeface="Consolas"/>
                <a:ea typeface="Consolas"/>
                <a:cs typeface="Consolas"/>
              </a:rPr>
              <a:t>(Object) AND (Method)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1DDD63-A6B9-4015-B6C8-3A73B3B7A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67050"/>
            <a:ext cx="857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2A7A0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12A7A0"/>
                </a:solidFill>
                <a:latin typeface="Consolas"/>
                <a:ea typeface="Consolas"/>
                <a:cs typeface="Consolas"/>
              </a:rPr>
              <a:t>Object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27C85C-6D6B-48F3-B662-1AAAC8415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067050"/>
            <a:ext cx="400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0242A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20242A"/>
                </a:solidFill>
                <a:latin typeface="Consolas"/>
                <a:ea typeface="Consolas"/>
                <a:cs typeface="Consolas"/>
              </a:rPr>
              <a:t>Large Language Model* / LLM* / Generative AI / Foundation Model* / ChatGPT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41157C-6D29-4443-AFCC-A4E2EF35B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86200"/>
            <a:ext cx="857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89B19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D89B19"/>
                </a:solidFill>
                <a:latin typeface="Consolas"/>
                <a:ea typeface="Consolas"/>
                <a:cs typeface="Consolas"/>
              </a:rPr>
              <a:t>Method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45E1A1-AF50-4488-B3E7-F62C1623C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886200"/>
            <a:ext cx="400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0242A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20242A"/>
                </a:solidFill>
                <a:latin typeface="Consolas"/>
                <a:ea typeface="Consolas"/>
                <a:cs typeface="Consolas"/>
              </a:rPr>
              <a:t>Multi-agent* / Collaboration / Coordination / Cooperation / Multi-agent system*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6D257D-EAA5-44FD-AABE-920366544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524000"/>
            <a:ext cx="4286250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474EA7-6795-49CC-8E03-30590FF2C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8288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A7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2A7A0"/>
                </a:solidFill>
                <a:latin typeface="Microsoft YaHei"/>
                <a:ea typeface="Microsoft YaHei"/>
                <a:cs typeface="Microsoft YaHei"/>
              </a:rPr>
              <a:t>筛选约束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48528F-B47C-4918-9951-5C6491379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400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2F095A-2D7A-4616-A8B5-7E221055C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43150"/>
            <a:ext cx="95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rPr>
              <a:t>数据源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E62E50-5AF1-4C11-88F0-0E1290A95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3431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6B75"/>
                </a:solidFill>
                <a:latin typeface="Microsoft YaHei"/>
                <a:ea typeface="Microsoft YaHei"/>
                <a:cs typeface="Microsoft YaHei"/>
              </a:rPr>
              <a:t>Lens.org Scholarly Works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90EFF8-3466-43EF-AA64-D5D805126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8956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A7A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914088-4218-495F-AC63-481F82273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838450"/>
            <a:ext cx="95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rPr>
              <a:t>时间范围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1C9E86-FE73-43EF-B344-86E5A83FD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8384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6B75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626B75"/>
                </a:solidFill>
                <a:latin typeface="Consolas"/>
                <a:ea typeface="Consolas"/>
                <a:cs typeface="Consolas"/>
              </a:rPr>
              <a:t>2020-2026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ECC345-380A-4ACE-8DC8-42505B997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3909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233623-016B-43AF-941F-2C80C74A1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333750"/>
            <a:ext cx="95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rPr>
              <a:t>文献类型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F0AAF7-6E1F-46CC-9F89-3E6A64119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3337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6B75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626B75"/>
                </a:solidFill>
                <a:latin typeface="Consolas"/>
                <a:ea typeface="Consolas"/>
                <a:cs typeface="Consolas"/>
              </a:rPr>
              <a:t>Article / Review / Conference Paper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438043-7A99-4D17-AEA2-381E1142D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886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6B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9324F6-54B7-4DE9-A3CE-2253E1A9E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829050"/>
            <a:ext cx="95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rPr>
              <a:t>语言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C2C0FF1-4B38-4AF1-B06F-BFADF9852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8290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6B75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626B75"/>
                </a:solidFill>
                <a:latin typeface="Consolas"/>
                <a:ea typeface="Consolas"/>
                <a:cs typeface="Consolas"/>
              </a:rPr>
              <a:t>English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C578E6A-7726-4E05-9ACF-6B7B6DD60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3815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5AC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7277D48-987F-4058-AC41-1110515C4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324350"/>
            <a:ext cx="95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rPr>
              <a:t>去重规则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2BDEA9B-A526-4AC7-AC83-D26174D67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3243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6B75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626B75"/>
                </a:solidFill>
                <a:latin typeface="Consolas"/>
                <a:ea typeface="Consolas"/>
                <a:cs typeface="Consolas"/>
              </a:rPr>
              <a:t>DOI 去重 + Title 去重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4B33C42-4B3F-4D09-AB24-664B7C62A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638800"/>
            <a:ext cx="9525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rPr>
              <a:t>答辩时强调：检索式不是越宽越好。Object 保证研究对象是大模型/生成式 AI，Method 保证进入样本的是多智能体、协作、协调、合作机制相关研究。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39C871E-8DA4-42D2-B24F-40770D026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857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A7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A746B"/>
                </a:solidFill>
                <a:latin typeface="Microsoft YaHei"/>
                <a:ea typeface="Microsoft YaHei"/>
                <a:cs typeface="Microsoft YaHei"/>
              </a:rPr>
              <a:t>Source: config/query.yaml, reports/m1_data_quality_report.md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A35C821-F015-40DF-9E70-4FD664324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51510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A746B"/>
                </a:solidFill>
                <a:latin typeface="Consolas"/>
                <a:ea typeface="Consolas"/>
                <a:cs typeface="Consolas"/>
              </a:defRPr>
            </a:pPr>
            <a:r>
              <a:rPr sz="825" b="0">
                <a:solidFill>
                  <a:srgbClr val="7A746B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59450904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1F3DEBC-24E1-44E8-BD94-205E3AC18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5-marker">
            <a:extLst xmlns:a="http://schemas.openxmlformats.org/drawingml/2006/main">
              <a:ext uri="{FF2B5EF4-FFF2-40B4-BE49-F238E27FC236}">
                <a16:creationId xmlns:a16="http://schemas.microsoft.com/office/drawing/2014/main" id="{E4A1CE5C-AD39-40A2-820D-BF293AF0B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05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5-label">
            <a:extLst xmlns:a="http://schemas.openxmlformats.org/drawingml/2006/main">
              <a:ext uri="{FF2B5EF4-FFF2-40B4-BE49-F238E27FC236}">
                <a16:creationId xmlns:a16="http://schemas.microsoft.com/office/drawing/2014/main" id="{03A64135-EE8B-4D05-ABCD-89918E7E9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290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46BF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1">
                <a:solidFill>
                  <a:srgbClr val="246BFE"/>
                </a:solidFill>
                <a:latin typeface="Microsoft YaHei UI"/>
                <a:ea typeface="Microsoft YaHei UI"/>
                <a:cs typeface="Microsoft YaHei UI"/>
              </a:rPr>
              <a:t>REPRODUCIBILITY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1484BD-7913-4C6A-AA90-BB51F50EA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9906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024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20242A"/>
                </a:solidFill>
                <a:latin typeface="Microsoft YaHei UI"/>
                <a:ea typeface="Microsoft YaHei UI"/>
                <a:cs typeface="Microsoft YaHei UI"/>
              </a:rPr>
              <a:t>项目的核心不是单张图，而是一条可复现证据链。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930A47-133E-4682-929F-6F611D2D0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0"/>
            <a:ext cx="16764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25D28C-EACC-469B-B7CF-D0C68A3F4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66950"/>
            <a:ext cx="476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46BFE"/>
                </a:solidFill>
                <a:latin typeface="Consolas"/>
                <a:ea typeface="Consolas"/>
                <a:cs typeface="Consolas"/>
              </a:defRPr>
            </a:pPr>
            <a:r>
              <a:rPr sz="1650" b="1">
                <a:solidFill>
                  <a:srgbClr val="246BFE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5446F6-890E-4F9B-BA32-CB65A0201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4795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rPr>
              <a:t>检索配置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7AD0F7-C67B-435B-B457-48A333312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9085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6B75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626B75"/>
                </a:solidFill>
                <a:latin typeface="Consolas"/>
                <a:ea typeface="Consolas"/>
                <a:cs typeface="Consolas"/>
              </a:rPr>
              <a:t>config/query.yaml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4F6B35-0B65-46D1-B90F-115BEE6A6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762250"/>
            <a:ext cx="38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2C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666DAE-BA27-4A8D-A12C-29114D592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724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2C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799299-9B7D-4E0A-BFAD-34D3C52DC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095500"/>
            <a:ext cx="16764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6A176E-AEFD-413D-98DF-F67B5D44B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266950"/>
            <a:ext cx="476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A7A0"/>
                </a:solidFill>
                <a:latin typeface="Consolas"/>
                <a:ea typeface="Consolas"/>
                <a:cs typeface="Consolas"/>
              </a:defRPr>
            </a:pPr>
            <a:r>
              <a:rPr sz="1650" b="1">
                <a:solidFill>
                  <a:srgbClr val="12A7A0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7A8A5B-75FC-42DB-B708-6AE141369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64795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rPr>
              <a:t>原始数据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41C1E0-705A-4786-ADF8-88299554C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99085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26B75"/>
                </a:solidFill>
                <a:latin typeface="Microsoft YaHei"/>
                <a:ea typeface="Microsoft YaHei"/>
                <a:cs typeface="Microsoft YaHei"/>
              </a:rPr>
              <a:t>542 records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2222FE-910A-47BF-86B6-96D4BCAA4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762250"/>
            <a:ext cx="38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2C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DC6F56-4053-4125-B316-183DF5044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724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2C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E8BA01-BF99-4C29-8903-42DE0082A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095500"/>
            <a:ext cx="16764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D34085-C0E4-4260-BBED-FF7575FB1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266950"/>
            <a:ext cx="476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89B19"/>
                </a:solidFill>
                <a:latin typeface="Consolas"/>
                <a:ea typeface="Consolas"/>
                <a:cs typeface="Consolas"/>
              </a:defRPr>
            </a:pPr>
            <a:r>
              <a:rPr sz="1650" b="1">
                <a:solidFill>
                  <a:srgbClr val="D89B19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B2AAAA-C85F-4781-822D-9B5C4953A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64795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rPr>
              <a:t>清洗去重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5C1668-C47C-4F52-9527-456D3FECC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99085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6B75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626B75"/>
                </a:solidFill>
                <a:latin typeface="Consolas"/>
                <a:ea typeface="Consolas"/>
                <a:cs typeface="Consolas"/>
              </a:rPr>
              <a:t>DOI + title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A69DA1-6FED-432C-8FEC-A5008E1A1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762250"/>
            <a:ext cx="38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2C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9016E1-C7A0-4418-8591-242C2CBDF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724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2C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8D1B01-3024-4771-B63C-5C0A07045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095500"/>
            <a:ext cx="16764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246BF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D2E6C8D-7DC5-42C0-AEE8-FCEB5FDC0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66950"/>
            <a:ext cx="476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36B5C"/>
                </a:solidFill>
                <a:latin typeface="Consolas"/>
                <a:ea typeface="Consolas"/>
                <a:cs typeface="Consolas"/>
              </a:defRPr>
            </a:pPr>
            <a:r>
              <a:rPr sz="1650" b="1">
                <a:solidFill>
                  <a:srgbClr val="E36B5C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2FE4D0F-E04F-4468-ABFA-DA619A4EF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4795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rPr>
              <a:t>有效样本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B133366-5F60-4A4C-97F9-968AC8AC2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9085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26B75"/>
                </a:solidFill>
                <a:latin typeface="Microsoft YaHei"/>
                <a:ea typeface="Microsoft YaHei"/>
                <a:cs typeface="Microsoft YaHei"/>
              </a:rPr>
              <a:t>522 papers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60A6D6B-D396-49FF-8181-844B78213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62250"/>
            <a:ext cx="38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2C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A7A6842-FAD3-4510-8134-631EC9875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724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2C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C308DA6-25DC-497F-9FB7-4B2610DEC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95500"/>
            <a:ext cx="16764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1165CC6-96BA-4FCB-ACC5-E4FDD8A2E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66950"/>
            <a:ext cx="476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25AC1"/>
                </a:solidFill>
                <a:latin typeface="Consolas"/>
                <a:ea typeface="Consolas"/>
                <a:cs typeface="Consolas"/>
              </a:defRPr>
            </a:pPr>
            <a:r>
              <a:rPr sz="1650" b="1">
                <a:solidFill>
                  <a:srgbClr val="725AC1"/>
                </a:solidFill>
                <a:latin typeface="Consolas"/>
                <a:ea typeface="Consolas"/>
                <a:cs typeface="Consolas"/>
              </a:rPr>
              <a:t>05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50EC165-CEF0-4DE5-AE24-AA63DBDBE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64795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rPr>
              <a:t>计量图谱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B083F71-58DA-4F52-817F-9BC3A79D4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99085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6B75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626B75"/>
                </a:solidFill>
                <a:latin typeface="Consolas"/>
                <a:ea typeface="Consolas"/>
                <a:cs typeface="Consolas"/>
              </a:rPr>
              <a:t>M2 figures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22911DA-A9B6-4556-8FF3-0716F1DBE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762250"/>
            <a:ext cx="38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2C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6EC5338-7114-4B49-B672-FCBD905ED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724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2C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14551DB-81EC-4CAA-B329-C8A111675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095500"/>
            <a:ext cx="16764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2913C0C-7365-4FED-88AC-F4F15E48B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266950"/>
            <a:ext cx="476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C946B"/>
                </a:solidFill>
                <a:latin typeface="Consolas"/>
                <a:ea typeface="Consolas"/>
                <a:cs typeface="Consolas"/>
              </a:defRPr>
            </a:pPr>
            <a:r>
              <a:rPr sz="1650" b="1">
                <a:solidFill>
                  <a:srgbClr val="2C946B"/>
                </a:solidFill>
                <a:latin typeface="Consolas"/>
                <a:ea typeface="Consolas"/>
                <a:cs typeface="Consolas"/>
              </a:rPr>
              <a:t>06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89DD7CD-6517-43C9-979F-EA8E3A391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64795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rPr>
              <a:t>综述答辩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758523C-BBE6-4A1A-A87F-680B61172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99085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6B75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626B75"/>
                </a:solidFill>
                <a:latin typeface="Consolas"/>
                <a:ea typeface="Consolas"/>
                <a:cs typeface="Consolas"/>
              </a:rPr>
              <a:t>paper + PPT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BDD5287-6ABB-4680-BBEC-35A9FDDC5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481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7D600FC-E937-48A0-8CEE-6067B4D06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48200"/>
            <a:ext cx="114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6BF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46BFE"/>
                </a:solidFill>
                <a:latin typeface="Microsoft YaHei"/>
                <a:ea typeface="Microsoft YaHei"/>
                <a:cs typeface="Microsoft YaHei"/>
              </a:rPr>
              <a:t>复现入口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760FEA5-A968-4469-B5C5-ED9EA6B82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514850"/>
            <a:ext cx="32194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4"/>
            </a:solidFill>
            <a:prstDash val="solid"/>
          </a:ln>
        </p:spPr>
        <p:txBody>
          <a:bodyPr xmlns:a="http://schemas.openxmlformats.org/drawingml/2006/main" lIns="152400" tIns="95250" rIns="152400" bIns="952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0242A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20242A"/>
                </a:solidFill>
                <a:latin typeface="Consolas"/>
                <a:ea typeface="Consolas"/>
                <a:cs typeface="Consolas"/>
              </a:rPr>
              <a:t>pip install -r requirements.txt</a:t>
            </a:r>
          </a:p>
          <a:p xmlns:a="http://schemas.openxmlformats.org/drawingml/2006/main">
            <a:pPr algn="l">
              <a:defRPr sz="1350" b="0">
                <a:solidFill>
                  <a:srgbClr val="20242A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20242A"/>
                </a:solidFill>
                <a:latin typeface="Consolas"/>
                <a:ea typeface="Consolas"/>
                <a:cs typeface="Consolas"/>
              </a:rPr>
              <a:t>python run_pipeline.py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7654727-A860-4F57-AF2F-CF14EE73C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48200"/>
            <a:ext cx="114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A7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2A7A0"/>
                </a:solidFill>
                <a:latin typeface="Microsoft YaHei"/>
                <a:ea typeface="Microsoft YaHei"/>
                <a:cs typeface="Microsoft YaHei"/>
              </a:rPr>
              <a:t>输出绑定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9A5BF6F-9979-4A1D-88B1-D64246514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552950"/>
            <a:ext cx="31623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rPr>
              <a:t>数据、脚本、图、报告和综述在仓库内保持相互引用，答辩中的每个结论都能回到一个文件或一个图表。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91AA195-016C-4BD2-8DEE-4543B418B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857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A7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A746B"/>
                </a:solidFill>
                <a:latin typeface="Microsoft YaHei"/>
                <a:ea typeface="Microsoft YaHei"/>
                <a:cs typeface="Microsoft YaHei"/>
              </a:rPr>
              <a:t>Files: config/query.yaml, data/processed/cleaned_data.csv, run_pipeline.py, reports/, paper/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E827B71-8484-41F3-88E3-4178DDCB2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51510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A746B"/>
                </a:solidFill>
                <a:latin typeface="Consolas"/>
                <a:ea typeface="Consolas"/>
                <a:cs typeface="Consolas"/>
              </a:defRPr>
            </a:pPr>
            <a:r>
              <a:rPr sz="825" b="0">
                <a:solidFill>
                  <a:srgbClr val="7A746B"/>
                </a:solidFill>
                <a:latin typeface="Consolas"/>
                <a:ea typeface="Consolas"/>
                <a:cs typeface="Consola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21907452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51486A9-52B7-44C4-B36A-D725798E0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6-marker">
            <a:extLst xmlns:a="http://schemas.openxmlformats.org/drawingml/2006/main">
              <a:ext uri="{FF2B5EF4-FFF2-40B4-BE49-F238E27FC236}">
                <a16:creationId xmlns:a16="http://schemas.microsoft.com/office/drawing/2014/main" id="{5963F2E9-7846-4DCB-8F23-C3D2FDB14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05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6-label">
            <a:extLst xmlns:a="http://schemas.openxmlformats.org/drawingml/2006/main">
              <a:ext uri="{FF2B5EF4-FFF2-40B4-BE49-F238E27FC236}">
                <a16:creationId xmlns:a16="http://schemas.microsoft.com/office/drawing/2014/main" id="{203853D6-21FC-4380-BF39-80A0DEA9D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290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46BF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1">
                <a:solidFill>
                  <a:srgbClr val="246BFE"/>
                </a:solidFill>
                <a:latin typeface="Microsoft YaHei UI"/>
                <a:ea typeface="Microsoft YaHei UI"/>
                <a:cs typeface="Microsoft YaHei UI"/>
              </a:rPr>
              <a:t>M1 QUALITY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600C66-8BDD-4174-93B7-899A8C64A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9906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024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20242A"/>
                </a:solidFill>
                <a:latin typeface="Microsoft YaHei UI"/>
                <a:ea typeface="Microsoft YaHei UI"/>
                <a:cs typeface="Microsoft YaHei UI"/>
              </a:rPr>
              <a:t>数据质量足以支撑后续网络和引文分析。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C1EA68-DAF3-4C39-9FC0-1F0D5334F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6BF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46BFE"/>
                </a:solidFill>
                <a:latin typeface="Microsoft YaHei"/>
                <a:ea typeface="Microsoft YaHei"/>
                <a:cs typeface="Microsoft YaHei"/>
              </a:rPr>
              <a:t>PRISMA 式筛选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28C85B-83CC-412E-98C3-ABD8824F6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81200"/>
            <a:ext cx="4191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429392-32AA-495E-8460-78833FBF0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09550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46BFE"/>
                </a:solidFill>
                <a:latin typeface="Consolas"/>
                <a:ea typeface="Consolas"/>
                <a:cs typeface="Consolas"/>
              </a:defRPr>
            </a:pPr>
            <a:r>
              <a:rPr sz="825" b="1">
                <a:solidFill>
                  <a:srgbClr val="246BFE"/>
                </a:solidFill>
                <a:latin typeface="Consolas"/>
                <a:ea typeface="Consolas"/>
                <a:cs typeface="Consolas"/>
              </a:rPr>
              <a:t>Identification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77DF99-372A-4C92-A822-1D518C01D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05050"/>
            <a:ext cx="3067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rPr>
              <a:t>Lens.org 原始记录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719E88-48F2-49A1-901B-C027FF8B8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190750"/>
            <a:ext cx="590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rPr>
              <a:t>542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A97EF6-B180-430E-B98E-235CFBD2E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2971800"/>
            <a:ext cx="35623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CC0D11-06C3-4A9B-AA61-8D0154249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08610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89B19"/>
                </a:solidFill>
                <a:latin typeface="Consolas"/>
                <a:ea typeface="Consolas"/>
                <a:cs typeface="Consolas"/>
              </a:defRPr>
            </a:pPr>
            <a:r>
              <a:rPr sz="825" b="1">
                <a:solidFill>
                  <a:srgbClr val="D89B19"/>
                </a:solidFill>
                <a:latin typeface="Consolas"/>
                <a:ea typeface="Consolas"/>
                <a:cs typeface="Consolas"/>
              </a:rPr>
              <a:t>Deduplication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30B8D5-F623-49F1-A708-193123CA4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295650"/>
            <a:ext cx="2438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rPr>
              <a:t>DOI 与 Title 双重去重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A5CC01-6599-4A3B-A797-37946913F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3181350"/>
            <a:ext cx="590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E36B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E36B5C"/>
                </a:solidFill>
                <a:latin typeface="Microsoft YaHei"/>
                <a:ea typeface="Microsoft YaHei"/>
                <a:cs typeface="Microsoft YaHei"/>
              </a:rPr>
              <a:t>-20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374B76-E07F-4B69-9D4D-4AE5A4C03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962400"/>
            <a:ext cx="3143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246BF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96B995-4FBD-4ADF-8F5D-61D9AF69F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407670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2A7A0"/>
                </a:solidFill>
                <a:latin typeface="Consolas"/>
                <a:ea typeface="Consolas"/>
                <a:cs typeface="Consolas"/>
              </a:defRPr>
            </a:pPr>
            <a:r>
              <a:rPr sz="825" b="1">
                <a:solidFill>
                  <a:srgbClr val="12A7A0"/>
                </a:solidFill>
                <a:latin typeface="Consolas"/>
                <a:ea typeface="Consolas"/>
                <a:cs typeface="Consolas"/>
              </a:rPr>
              <a:t>Included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535E06-002E-462C-B923-E08DCAD99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4286250"/>
            <a:ext cx="2019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rPr>
              <a:t>纳入计量分析样本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158EEA-A282-486E-A526-75CEAD1AC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4171950"/>
            <a:ext cx="590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rPr>
              <a:t>522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DAD916-E59F-4E27-BB13-AEFEAC17F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2400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A7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2A7A0"/>
                </a:solidFill>
                <a:latin typeface="Microsoft YaHei"/>
                <a:ea typeface="Microsoft YaHei"/>
                <a:cs typeface="Microsoft YaHei"/>
              </a:rPr>
              <a:t>字段覆盖率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846DD0-ECC9-4F98-A261-5647FA756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76450"/>
            <a:ext cx="1504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rPr>
              <a:t>Title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F42584-C171-4D48-8016-46812E7CC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114550"/>
            <a:ext cx="31432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F5EB25-14F1-4C29-8D10-274A7E311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114550"/>
            <a:ext cx="31432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071FF6-E895-4BFD-A8FC-F0C463A74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066925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26B75"/>
                </a:solidFill>
                <a:latin typeface="Microsoft YaHei"/>
                <a:ea typeface="Microsoft YaHei"/>
                <a:cs typeface="Microsoft YaHei"/>
              </a:rPr>
              <a:t>100.00%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454930-F8A3-485D-A546-360955A92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52700"/>
            <a:ext cx="1504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rPr>
              <a:t>Year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12B706-7167-4BD7-8258-23CA8A869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590800"/>
            <a:ext cx="31432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ABA71EE-A0D9-4CD2-9D37-0E548406C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590800"/>
            <a:ext cx="31432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A7A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8F0C638-D3ED-4124-8391-87800BF87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543175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26B75"/>
                </a:solidFill>
                <a:latin typeface="Microsoft YaHei"/>
                <a:ea typeface="Microsoft YaHei"/>
                <a:cs typeface="Microsoft YaHei"/>
              </a:rPr>
              <a:t>100.00%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B00AAE5-765C-45DF-A40D-790AA2DD3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28950"/>
            <a:ext cx="1504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rPr>
              <a:t>Abstract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4228617-DA89-4326-BAA6-FF7905AA5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067050"/>
            <a:ext cx="31432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4E760FD-BD4D-4F46-84EB-91C246B91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067050"/>
            <a:ext cx="3089186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EA5387-06E0-4D24-A5D3-5BF07A06F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019425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26B75"/>
                </a:solidFill>
                <a:latin typeface="Microsoft YaHei"/>
                <a:ea typeface="Microsoft YaHei"/>
                <a:cs typeface="Microsoft YaHei"/>
              </a:rPr>
              <a:t>98.28%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E014CF8-D0D0-495B-93B5-6F31CAFF1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05200"/>
            <a:ext cx="1504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rPr>
              <a:t>References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F9E4935-B0F6-4B9C-962E-0BE7FE172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543300"/>
            <a:ext cx="31432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EB95A35-A82D-446D-B6FA-EB2ED3232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543300"/>
            <a:ext cx="2577151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6B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0582BA0-9800-413C-BE5A-4FA53FC54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495675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26B75"/>
                </a:solidFill>
                <a:latin typeface="Microsoft YaHei"/>
                <a:ea typeface="Microsoft YaHei"/>
                <a:cs typeface="Microsoft YaHei"/>
              </a:rPr>
              <a:t>81.99%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F8BF8F9-486E-4138-A17C-ED3498F39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400550"/>
            <a:ext cx="44767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38A0302-ACA3-46F8-8157-FFCFC2625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5910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36B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E36B5C"/>
                </a:solidFill>
                <a:latin typeface="Microsoft YaHei"/>
                <a:ea typeface="Microsoft YaHei"/>
                <a:cs typeface="Microsoft YaHei"/>
              </a:rPr>
              <a:t>质量结论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A70C2AB-0258-4706-BAB2-CC43AE0EE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876800"/>
            <a:ext cx="400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rPr>
              <a:t>Title 和 Year 全覆盖保证时序与标题主题分析可靠；References 覆盖率达到 81.99%，可以开展引用网络和共被引网络，但解释时必须说明字段缺失边界。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E2B9186-9F2F-4A3B-9A42-A5A5B7DD0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857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A7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A746B"/>
                </a:solidFill>
                <a:latin typeface="Microsoft YaHei"/>
                <a:ea typeface="Microsoft YaHei"/>
                <a:cs typeface="Microsoft YaHei"/>
              </a:rPr>
              <a:t>Source: reports/m1_data_quality_report.md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C4D860D-1AF0-491F-BF85-60AB0FAF5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51510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A746B"/>
                </a:solidFill>
                <a:latin typeface="Consolas"/>
                <a:ea typeface="Consolas"/>
                <a:cs typeface="Consolas"/>
              </a:defRPr>
            </a:pPr>
            <a:r>
              <a:rPr sz="825" b="0">
                <a:solidFill>
                  <a:srgbClr val="7A746B"/>
                </a:solidFill>
                <a:latin typeface="Consolas"/>
                <a:ea typeface="Consolas"/>
                <a:cs typeface="Consola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70625471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47E9F16-41DC-4663-8877-D8EBC058A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7-marker">
            <a:extLst xmlns:a="http://schemas.openxmlformats.org/drawingml/2006/main">
              <a:ext uri="{FF2B5EF4-FFF2-40B4-BE49-F238E27FC236}">
                <a16:creationId xmlns:a16="http://schemas.microsoft.com/office/drawing/2014/main" id="{D0E4D852-3866-4FE7-80C5-D97708FAD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05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7-label">
            <a:extLst xmlns:a="http://schemas.openxmlformats.org/drawingml/2006/main">
              <a:ext uri="{FF2B5EF4-FFF2-40B4-BE49-F238E27FC236}">
                <a16:creationId xmlns:a16="http://schemas.microsoft.com/office/drawing/2014/main" id="{E3674D1A-1FB0-4F1D-919C-4D5E67DD2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290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46BF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1">
                <a:solidFill>
                  <a:srgbClr val="246BFE"/>
                </a:solidFill>
                <a:latin typeface="Microsoft YaHei UI"/>
                <a:ea typeface="Microsoft YaHei UI"/>
                <a:cs typeface="Microsoft YaHei UI"/>
              </a:rPr>
              <a:t>M2 METRICS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DCED68-8D25-447D-A72D-351F97F38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9906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024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20242A"/>
                </a:solidFill>
                <a:latin typeface="Microsoft YaHei UI"/>
                <a:ea typeface="Microsoft YaHei UI"/>
                <a:cs typeface="Microsoft YaHei UI"/>
              </a:rPr>
              <a:t>2024-2025 年是 LLM 多智能体研究的爆发窗口。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826A37-BE07-43C1-9219-852E37572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19700"/>
            <a:ext cx="685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A84768-E3A3-4161-BD54-EE511098E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81600"/>
            <a:ext cx="590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0C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65BA4C-CDFB-420B-B5AE-36FF7989D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14900"/>
            <a:ext cx="742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0242A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20242A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4AA473-5BCF-47AA-8370-0E3169C78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53050"/>
            <a:ext cx="742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26B75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626B75"/>
                </a:solidFill>
                <a:latin typeface="Consolas"/>
                <a:ea typeface="Consolas"/>
                <a:cs typeface="Consolas"/>
              </a:rPr>
              <a:t>2020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DDF644-20EA-46C9-A1AF-2885132A4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181600"/>
            <a:ext cx="590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0C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AE6F60-5A23-4CF8-ABA1-2901A0EB0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914900"/>
            <a:ext cx="742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0242A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20242A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F6BA39-CE25-412B-86E8-9A456F614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353050"/>
            <a:ext cx="742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26B75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626B75"/>
                </a:solidFill>
                <a:latin typeface="Consolas"/>
                <a:ea typeface="Consolas"/>
                <a:cs typeface="Consolas"/>
              </a:rPr>
              <a:t>2021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D9DC84-8E9C-423C-BD34-40898F23C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169860"/>
            <a:ext cx="590550" cy="49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0C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A372AA-38A5-4664-B4D3-37D96269C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903160"/>
            <a:ext cx="742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0242A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20242A"/>
                </a:solidFill>
                <a:latin typeface="Consolas"/>
                <a:ea typeface="Consolas"/>
                <a:cs typeface="Consolas"/>
              </a:rPr>
              <a:t>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F0F1FC-E78C-4694-965D-FEC2E45BE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353050"/>
            <a:ext cx="742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26B75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626B75"/>
                </a:solidFill>
                <a:latin typeface="Consolas"/>
                <a:ea typeface="Consolas"/>
                <a:cs typeface="Consolas"/>
              </a:rPr>
              <a:t>2022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A73772-2246-43EC-B89B-D50291343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5061873"/>
            <a:ext cx="590550" cy="15782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0C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063BE0-61A2-479D-AFA5-D6E96C67B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795173"/>
            <a:ext cx="742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0242A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20242A"/>
                </a:solidFill>
                <a:latin typeface="Consolas"/>
                <a:ea typeface="Consolas"/>
                <a:cs typeface="Consolas"/>
              </a:rPr>
              <a:t>19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2659C1-C4F8-42C2-80F9-35C999682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353050"/>
            <a:ext cx="742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26B75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626B75"/>
                </a:solidFill>
                <a:latin typeface="Consolas"/>
                <a:ea typeface="Consolas"/>
                <a:cs typeface="Consolas"/>
              </a:rPr>
              <a:t>2023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B712A9-A713-4A5D-A953-31B6CD4FF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546858"/>
            <a:ext cx="590550" cy="6728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A7A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B9CEC0-314A-4895-86E1-D38BB2027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280158"/>
            <a:ext cx="742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0242A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20242A"/>
                </a:solidFill>
                <a:latin typeface="Consolas"/>
                <a:ea typeface="Consolas"/>
                <a:cs typeface="Consolas"/>
              </a:rPr>
              <a:t>81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FA15CA-A945-4A46-AC05-720DD53D9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5353050"/>
            <a:ext cx="742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26B75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626B75"/>
                </a:solidFill>
                <a:latin typeface="Consolas"/>
                <a:ea typeface="Consolas"/>
                <a:cs typeface="Consolas"/>
              </a:rPr>
              <a:t>2024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2AE50B-6EDF-46D6-88C8-C1DFF5873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362200"/>
            <a:ext cx="5905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42504B-2103-4F1F-BEDE-E9D0188EB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095500"/>
            <a:ext cx="742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0242A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20242A"/>
                </a:solidFill>
                <a:latin typeface="Consolas"/>
                <a:ea typeface="Consolas"/>
                <a:cs typeface="Consolas"/>
              </a:rPr>
              <a:t>344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C455C0-8C6F-4D42-A353-06237727A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5353050"/>
            <a:ext cx="742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26B75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626B75"/>
                </a:solidFill>
                <a:latin typeface="Consolas"/>
                <a:ea typeface="Consolas"/>
                <a:cs typeface="Consolas"/>
              </a:rPr>
              <a:t>2025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2D2B6B-F9AC-40ED-88AE-216F90ACA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646539"/>
            <a:ext cx="590550" cy="57316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0A057DD-1297-41EE-A4B6-5C742B59E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379839"/>
            <a:ext cx="742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0242A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20242A"/>
                </a:solidFill>
                <a:latin typeface="Consolas"/>
                <a:ea typeface="Consolas"/>
                <a:cs typeface="Consolas"/>
              </a:rPr>
              <a:t>69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E09D74E-5D99-47F5-BCF7-80FD7E8FC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353050"/>
            <a:ext cx="742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26B75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626B75"/>
                </a:solidFill>
                <a:latin typeface="Consolas"/>
                <a:ea typeface="Consolas"/>
                <a:cs typeface="Consolas"/>
              </a:rPr>
              <a:t>2026*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6C72158-8677-49E5-AC64-B545FA9D6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2400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26B75"/>
                </a:solidFill>
                <a:latin typeface="Microsoft YaHei"/>
                <a:ea typeface="Microsoft YaHei"/>
                <a:cs typeface="Microsoft YaHei"/>
              </a:rPr>
              <a:t>年度发文量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2B26D70-5508-4461-8AF5-5BCCA4D1A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5391150"/>
            <a:ext cx="3238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2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26B75"/>
                </a:solidFill>
                <a:latin typeface="Microsoft YaHei"/>
                <a:ea typeface="Microsoft YaHei"/>
                <a:cs typeface="Microsoft YaHei"/>
              </a:rPr>
              <a:t>2026 为采集时点数据，不能与完整年份直接比较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C13DE88-8DC1-435B-8F1F-4CE800F11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71650"/>
            <a:ext cx="25146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8A2EBF7-8653-4A41-B898-4A0EA35B4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71650"/>
            <a:ext cx="47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9EDD5DA-6DFF-4B58-A087-3547F41E3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866900"/>
            <a:ext cx="2247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024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100" b="1">
                <a:solidFill>
                  <a:srgbClr val="20242A"/>
                </a:solidFill>
                <a:latin typeface="Microsoft YaHei UI"/>
                <a:ea typeface="Microsoft YaHei UI"/>
                <a:cs typeface="Microsoft YaHei UI"/>
              </a:rPr>
              <a:t>181.29%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EA395EB-22EB-4DE3-B340-92894B3F8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190750"/>
            <a:ext cx="2247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rPr>
              <a:t>平均年增长率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9817F6A-565F-4788-B416-DBCCFA297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371725"/>
            <a:ext cx="2247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B75"/>
                </a:solidFill>
                <a:latin typeface="Microsoft YaHei"/>
                <a:ea typeface="Microsoft YaHei"/>
                <a:cs typeface="Microsoft YaHei"/>
              </a:rPr>
              <a:t>高速成长期特征明显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951E0EF-67E2-4853-824D-7801F3A92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62250"/>
            <a:ext cx="25146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DA83E65-E5AE-4629-A4F4-8CDD6555A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62250"/>
            <a:ext cx="47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A7A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16A59B2-B022-4A47-A134-32968B7BC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857500"/>
            <a:ext cx="2247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024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100" b="1">
                <a:solidFill>
                  <a:srgbClr val="20242A"/>
                </a:solidFill>
                <a:latin typeface="Microsoft YaHei UI"/>
                <a:ea typeface="Microsoft YaHei UI"/>
                <a:cs typeface="Microsoft YaHei UI"/>
              </a:rPr>
              <a:t>4,265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309F2FD-F782-4549-9185-DC2EB0B76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181350"/>
            <a:ext cx="2247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rPr>
              <a:t>总被引次数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21FC4A1-B72D-4E0E-8A73-C09226D72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362325"/>
            <a:ext cx="2247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B75"/>
                </a:solidFill>
                <a:latin typeface="Microsoft YaHei"/>
                <a:ea typeface="Microsoft YaHei"/>
                <a:cs typeface="Microsoft YaHei"/>
              </a:rPr>
              <a:t>领域整体关注度较高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6824034-DC6B-4C66-881D-9066DB11F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52850"/>
            <a:ext cx="25146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4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BB44A35-6223-4333-8EDA-2BB5A167C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52850"/>
            <a:ext cx="47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F4420D4-3F2F-47F9-A2BA-B62080DB4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848100"/>
            <a:ext cx="2247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024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100" b="1">
                <a:solidFill>
                  <a:srgbClr val="20242A"/>
                </a:solidFill>
                <a:latin typeface="Microsoft YaHei UI"/>
                <a:ea typeface="Microsoft YaHei UI"/>
                <a:cs typeface="Microsoft YaHei UI"/>
              </a:rPr>
              <a:t>h = 31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635B240-3DB6-4113-AE7A-BC1399F56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171950"/>
            <a:ext cx="2247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rPr>
              <a:t>h 指数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BCF7160-7D70-4C8A-91D2-87528ED57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352925"/>
            <a:ext cx="2247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B75"/>
                </a:solidFill>
                <a:latin typeface="Microsoft YaHei"/>
                <a:ea typeface="Microsoft YaHei"/>
                <a:cs typeface="Microsoft YaHei"/>
              </a:rPr>
              <a:t>已有稳定高影响论文基础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BC4D07B-6FA0-45E2-9D5C-02C3FBEE7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95300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36B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E36B5C"/>
                </a:solidFill>
                <a:latin typeface="Microsoft YaHei"/>
                <a:ea typeface="Microsoft YaHei"/>
                <a:cs typeface="Microsoft YaHei"/>
              </a:rPr>
              <a:t>答辩讲法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80FF2F2-2307-4620-9302-BD935D677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219700"/>
            <a:ext cx="27241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rPr>
              <a:t>这里不要只说“增长很快”，要强调它意味着：综述必须采用计量方法先建立全局图谱，否则很容易被 2024-2025 的论文洪流带偏。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3823593-85A4-46C0-8B42-735748BE2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857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A7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A746B"/>
                </a:solidFill>
                <a:latin typeface="Microsoft YaHei"/>
                <a:ea typeface="Microsoft YaHei"/>
                <a:cs typeface="Microsoft YaHei"/>
              </a:rPr>
              <a:t>Source: outputs/metrics_summary.txt and reports/m2_metrics_analysis_report.md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EB78DC6-6017-44C0-9E75-CB46EA050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51510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A746B"/>
                </a:solidFill>
                <a:latin typeface="Consolas"/>
                <a:ea typeface="Consolas"/>
                <a:cs typeface="Consolas"/>
              </a:defRPr>
            </a:pPr>
            <a:r>
              <a:rPr sz="825" b="0">
                <a:solidFill>
                  <a:srgbClr val="7A746B"/>
                </a:solidFill>
                <a:latin typeface="Consolas"/>
                <a:ea typeface="Consolas"/>
                <a:cs typeface="Consola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72788813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E6DD942-3CE8-42DF-A2AA-DCD393291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8-marker">
            <a:extLst xmlns:a="http://schemas.openxmlformats.org/drawingml/2006/main">
              <a:ext uri="{FF2B5EF4-FFF2-40B4-BE49-F238E27FC236}">
                <a16:creationId xmlns:a16="http://schemas.microsoft.com/office/drawing/2014/main" id="{62BFE33A-AD12-48EB-8799-AAB74CCC8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05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8-label">
            <a:extLst xmlns:a="http://schemas.openxmlformats.org/drawingml/2006/main">
              <a:ext uri="{FF2B5EF4-FFF2-40B4-BE49-F238E27FC236}">
                <a16:creationId xmlns:a16="http://schemas.microsoft.com/office/drawing/2014/main" id="{97D4F0FC-CAAC-4084-BFD9-674DA5631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290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46BF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1">
                <a:solidFill>
                  <a:srgbClr val="246BFE"/>
                </a:solidFill>
                <a:latin typeface="Microsoft YaHei UI"/>
                <a:ea typeface="Microsoft YaHei UI"/>
                <a:cs typeface="Microsoft YaHei UI"/>
              </a:rPr>
              <a:t>M2 DISTRIBUTION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C1285F-BF44-4CCB-8A8E-F1CAD8DD8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9906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024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20242A"/>
                </a:solidFill>
                <a:latin typeface="Microsoft YaHei UI"/>
                <a:ea typeface="Microsoft YaHei UI"/>
                <a:cs typeface="Microsoft YaHei UI"/>
              </a:rPr>
              <a:t>高增长背后仍是一个分散、开放、跨学科的研究场。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F8814C-AE67-4C99-A359-F99DD36E6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23241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DB0283-C4D6-4803-BB62-23F1FA83B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2324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FD89F5-FB19-44F9-A0F9-F7575DAD2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4785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024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250" b="1">
                <a:solidFill>
                  <a:srgbClr val="20242A"/>
                </a:solidFill>
                <a:latin typeface="Microsoft YaHei UI"/>
                <a:ea typeface="Microsoft YaHei UI"/>
                <a:cs typeface="Microsoft YaHei UI"/>
              </a:rPr>
              <a:t>73.4%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7C3A54-0C3F-4EAF-B552-A1A519676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66950"/>
            <a:ext cx="133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rPr>
              <a:t>期刊论文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07E90D-B549-46C2-B0C9-E219961C2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146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26B75"/>
                </a:solidFill>
                <a:latin typeface="Microsoft YaHei"/>
                <a:ea typeface="Microsoft YaHei"/>
                <a:cs typeface="Microsoft YaHei"/>
              </a:rPr>
              <a:t>journal article: 383 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C0654E-E9B4-4C11-BA65-AD4A5115F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600200"/>
            <a:ext cx="23241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ADFCB3-0ACA-48F2-BD81-2275FE1EB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600200"/>
            <a:ext cx="2324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A7A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8145CD-F437-4DBC-9824-CA2A4E5CA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84785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024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250" b="1">
                <a:solidFill>
                  <a:srgbClr val="20242A"/>
                </a:solidFill>
                <a:latin typeface="Microsoft YaHei UI"/>
                <a:ea typeface="Microsoft YaHei UI"/>
                <a:cs typeface="Microsoft YaHei UI"/>
              </a:rPr>
              <a:t>26.6%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702881-73EB-48EE-8EEE-262F42F99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266950"/>
            <a:ext cx="133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rPr>
              <a:t>会议论文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5C020F-699C-4601-AEB5-4A3061E1D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5146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26B75"/>
                </a:solidFill>
                <a:latin typeface="Microsoft YaHei"/>
                <a:ea typeface="Microsoft YaHei"/>
                <a:cs typeface="Microsoft YaHei"/>
              </a:rPr>
              <a:t>conference proceedings: 139 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B68412-CACD-4570-AEBE-0846D87EF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600200"/>
            <a:ext cx="23241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0618B1-D7DB-48AA-B9F6-9813DF22E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600200"/>
            <a:ext cx="2324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BE34A9-F5A2-4950-B69D-756CF20A5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84785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024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250" b="1">
                <a:solidFill>
                  <a:srgbClr val="20242A"/>
                </a:solidFill>
                <a:latin typeface="Microsoft YaHei UI"/>
                <a:ea typeface="Microsoft YaHei UI"/>
                <a:cs typeface="Microsoft YaHei UI"/>
              </a:rPr>
              <a:t>73.18%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ECFF86-98D8-4348-9CA8-ABD629FF6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266950"/>
            <a:ext cx="133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rPr>
              <a:t>开放获取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28206D-0281-477D-A5AE-50CF219F0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5146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26B75"/>
                </a:solidFill>
                <a:latin typeface="Microsoft YaHei"/>
                <a:ea typeface="Microsoft YaHei"/>
                <a:cs typeface="Microsoft YaHei"/>
              </a:rPr>
              <a:t>知识传播壁垒较低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5349D4-6207-4349-944D-97E9BAA53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600200"/>
            <a:ext cx="23241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FD713C-32F2-48DB-8C1C-5A58AE62D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600200"/>
            <a:ext cx="2324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6B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2A5B4C-A1FF-4949-B4DF-B8F0CF094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84785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024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250" b="1">
                <a:solidFill>
                  <a:srgbClr val="20242A"/>
                </a:solidFill>
                <a:latin typeface="Microsoft YaHei UI"/>
                <a:ea typeface="Microsoft YaHei UI"/>
                <a:cs typeface="Microsoft YaHei UI"/>
              </a:rPr>
              <a:t>5.07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779111B-5C5B-44FC-87AB-0B60AB2D2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266950"/>
            <a:ext cx="133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rPr>
              <a:t>篇均作者数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5D16512-56E9-4212-8CBF-0A664886D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5146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26B75"/>
                </a:solidFill>
                <a:latin typeface="Microsoft YaHei"/>
                <a:ea typeface="Microsoft YaHei"/>
                <a:cs typeface="Microsoft YaHei"/>
              </a:rPr>
              <a:t>跨角色协作但核心作者未集中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AC69FDC-07C5-44E6-B9F3-A4533009D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95650"/>
            <a:ext cx="49530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8741AAC-BC6A-4491-B844-DECD7D74E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623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6BF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46BFE"/>
                </a:solidFill>
                <a:latin typeface="Microsoft YaHei"/>
                <a:ea typeface="Microsoft YaHei"/>
                <a:cs typeface="Microsoft YaHei"/>
              </a:rPr>
              <a:t>来源期刊/会议说明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0C33FB6-D75D-46C4-B89B-7149E9BFE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00500"/>
            <a:ext cx="4305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rPr>
              <a:t>AAMAS：多智能体系统核心会议，说明主题有 MAS 传统基础。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FE7B2F4-31E2-42A6-B350-1902D73B1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24350"/>
            <a:ext cx="4305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rPr>
              <a:t>Frontiers in Robotics and AI / Artificial Intelligence：体现机器人与 AI 交叉。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7DA4D8F-F2D7-4F03-B74F-0F5F49B85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48200"/>
            <a:ext cx="4305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rPr>
              <a:t>Scientific Reports、Sensors、NPJ Digital Medicine：说明应用场景正在外溢。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BCAE721-F0C6-4B00-94A8-E536EB33C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295650"/>
            <a:ext cx="42862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C24"/>
          </a:solidFill>
          <a:ln xmlns:a="http://schemas.openxmlformats.org/drawingml/2006/main" w="9525">
            <a:solidFill>
              <a:srgbClr val="171C2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A963834-10C5-4C19-880D-7449F55BD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56235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作者合作网络的含义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92EA101-4ACD-4122-8CAC-FA3F17B31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000500"/>
            <a:ext cx="3524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CE3E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DCE3EC"/>
                </a:solidFill>
                <a:latin typeface="Microsoft YaHei"/>
                <a:ea typeface="Microsoft YaHei"/>
                <a:cs typeface="Microsoft YaHei"/>
              </a:rPr>
              <a:t>过滤后合作网络仅保留 51 个节点、48 条边，说明重复合作团队规模较小，尚未形成连接多个子领域的稳定核心作者群。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06D1DDD-4521-481C-AC33-BDD30519F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705350"/>
            <a:ext cx="3524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6DF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6DFA8"/>
                </a:solidFill>
                <a:latin typeface="Microsoft YaHei"/>
                <a:ea typeface="Microsoft YaHei"/>
                <a:cs typeface="Microsoft YaHei"/>
              </a:rPr>
              <a:t>答辩结论：这是一个快速扩张但范式尚未完全收敛的领域。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775A772-42F4-42B0-8558-1F248C9D1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857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A7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A746B"/>
                </a:solidFill>
                <a:latin typeface="Microsoft YaHei"/>
                <a:ea typeface="Microsoft YaHei"/>
                <a:cs typeface="Microsoft YaHei"/>
              </a:rPr>
              <a:t>Source: reports/m2_metrics_analysis_report.md, outputs/sensitivity_analysis_report.txt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D23FFEA-C224-49B7-9D56-78D1AD2F9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51510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A746B"/>
                </a:solidFill>
                <a:latin typeface="Consolas"/>
                <a:ea typeface="Consolas"/>
                <a:cs typeface="Consolas"/>
              </a:defRPr>
            </a:pPr>
            <a:r>
              <a:rPr sz="825" b="0">
                <a:solidFill>
                  <a:srgbClr val="7A746B"/>
                </a:solidFill>
                <a:latin typeface="Consolas"/>
                <a:ea typeface="Consolas"/>
                <a:cs typeface="Consola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39963705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826D346-BD29-4079-91FD-DEFF7A70D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9-marker">
            <a:extLst xmlns:a="http://schemas.openxmlformats.org/drawingml/2006/main">
              <a:ext uri="{FF2B5EF4-FFF2-40B4-BE49-F238E27FC236}">
                <a16:creationId xmlns:a16="http://schemas.microsoft.com/office/drawing/2014/main" id="{9233F210-D01D-4F40-BE54-6B7128698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05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9-label">
            <a:extLst xmlns:a="http://schemas.openxmlformats.org/drawingml/2006/main">
              <a:ext uri="{FF2B5EF4-FFF2-40B4-BE49-F238E27FC236}">
                <a16:creationId xmlns:a16="http://schemas.microsoft.com/office/drawing/2014/main" id="{BBC5EFA7-EA98-48E9-ACAB-A448AB1F5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290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46BF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1">
                <a:solidFill>
                  <a:srgbClr val="246BFE"/>
                </a:solidFill>
                <a:latin typeface="Microsoft YaHei UI"/>
                <a:ea typeface="Microsoft YaHei UI"/>
                <a:cs typeface="Microsoft YaHei UI"/>
              </a:rPr>
              <a:t>THEME MAP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13B839-6179-42B4-B012-65BCBCACF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9906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024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20242A"/>
                </a:solidFill>
                <a:latin typeface="Microsoft YaHei UI"/>
                <a:ea typeface="Microsoft YaHei UI"/>
                <a:cs typeface="Microsoft YaHei UI"/>
              </a:rPr>
              <a:t>关键词图谱把研究主题压缩成四层结构。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163DDE-1A24-4BC5-9F27-C0529BD3E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428750"/>
            <a:ext cx="63817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4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c5b80df54847c9"/>
          <a:stretch xmlns:a="http://schemas.openxmlformats.org/drawingml/2006/main"/>
        </p:blipFill>
        <p:spPr>
          <a:xfrm xmlns:a="http://schemas.openxmlformats.org/drawingml/2006/main">
            <a:off x="5285014" y="1524000"/>
            <a:ext cx="5717721" cy="36385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358C3A-515B-482B-B073-03408E854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5200650"/>
            <a:ext cx="6115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26B75"/>
                </a:solidFill>
                <a:latin typeface="Microsoft YaHei"/>
                <a:ea typeface="Microsoft YaHei"/>
                <a:cs typeface="Microsoft YaHei"/>
              </a:rPr>
              <a:t>图谱不是装饰：它提供综述章节的主题骨架。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6D43A9-D6F2-49DF-8E68-448595F0D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3524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371CFC-7F59-4704-803E-8EC007385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666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BD2B6C-ACF4-4AC6-AD7C-3BEE31A19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3355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rPr>
              <a:t>技术底座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570869-C222-4AF7-93AA-1429D829E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00250"/>
            <a:ext cx="2990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6B75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626B75"/>
                </a:solidFill>
                <a:latin typeface="Consolas"/>
                <a:ea typeface="Consolas"/>
                <a:cs typeface="Consolas"/>
              </a:rPr>
              <a:t>LLM / AI / machine learning / NLP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624063-B613-44C5-9AD4-212F9FFAA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14600"/>
            <a:ext cx="3524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30916F-066E-423D-97A4-F77EA792A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14600"/>
            <a:ext cx="666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A7A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951672-00EC-459D-8E17-0404C523E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289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rPr>
              <a:t>协作架构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5F499F-18D6-4A7E-9279-A46DE1780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95600"/>
            <a:ext cx="2990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6B75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626B75"/>
                </a:solidFill>
                <a:latin typeface="Consolas"/>
                <a:ea typeface="Consolas"/>
                <a:cs typeface="Consolas"/>
              </a:rPr>
              <a:t>agentic AI / multi-agent systems / AI agents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EE5240-0948-45E7-8E52-9B5D2A706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09950"/>
            <a:ext cx="3524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43E6EF-EBB9-4B00-B3CE-329905F48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09950"/>
            <a:ext cx="666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596770-E89D-4DB2-9087-2C96F731F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2425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rPr>
              <a:t>能力增强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871690-FB8A-4503-A0A1-EEFE2E1F5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90950"/>
            <a:ext cx="2990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6B75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626B75"/>
                </a:solidFill>
                <a:latin typeface="Consolas"/>
                <a:ea typeface="Consolas"/>
                <a:cs typeface="Consolas"/>
              </a:rPr>
              <a:t>RAG / reinforcement learning / planning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6EBEBA-85C4-4787-830E-8C8A95B19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05300"/>
            <a:ext cx="3524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E3D178-52B9-4F77-997D-A7CF39D48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05300"/>
            <a:ext cx="666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6B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DF2858-B8C8-45BC-81B8-2D5E12453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196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rPr>
              <a:t>治理应用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9C1E36-D985-4C5D-92A6-FEA57BF41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86300"/>
            <a:ext cx="2990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6B75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626B75"/>
                </a:solidFill>
                <a:latin typeface="Consolas"/>
                <a:ea typeface="Consolas"/>
                <a:cs typeface="Consolas"/>
              </a:rPr>
              <a:t>ethics / HRI / digital health / robot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5727FC-FBCE-49D7-82EA-E2157646A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29250"/>
            <a:ext cx="914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25A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25AC1"/>
                </a:solidFill>
                <a:latin typeface="Microsoft YaHei"/>
                <a:ea typeface="Microsoft YaHei"/>
                <a:cs typeface="Microsoft YaHei"/>
              </a:rPr>
              <a:t>逻辑解释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8890DFF-33F5-4D07-BB80-CD1B32CF4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381625"/>
            <a:ext cx="8191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rPr>
              <a:t>先用关键词共现识别“研究在谈什么”，再把这些主题层次转化为综述的技术叙事，而不是先写一个泛泛目录再去找图填空。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9E6B3CB-6A26-42FD-9FB5-1BF0E7024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857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A7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A746B"/>
                </a:solidFill>
                <a:latin typeface="Microsoft YaHei"/>
                <a:ea typeface="Microsoft YaHei"/>
                <a:cs typeface="Microsoft YaHei"/>
              </a:rPr>
              <a:t>Source: outputs/review_figures/fig3_thematic_architecture.png and outputs/keyword_statistics.txt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630AC3-6AE6-4CA8-8456-69F5186D9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51510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A746B"/>
                </a:solidFill>
                <a:latin typeface="Consolas"/>
                <a:ea typeface="Consolas"/>
                <a:cs typeface="Consolas"/>
              </a:defRPr>
            </a:pPr>
            <a:r>
              <a:rPr sz="825" b="0">
                <a:solidFill>
                  <a:srgbClr val="7A746B"/>
                </a:solidFill>
                <a:latin typeface="Consolas"/>
                <a:ea typeface="Consolas"/>
                <a:cs typeface="Consola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3108388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07E88AE-81E5-47A8-B2D4-4DF666D02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0-marker">
            <a:extLst xmlns:a="http://schemas.openxmlformats.org/drawingml/2006/main">
              <a:ext uri="{FF2B5EF4-FFF2-40B4-BE49-F238E27FC236}">
                <a16:creationId xmlns:a16="http://schemas.microsoft.com/office/drawing/2014/main" id="{F1643108-CFD5-4E41-9602-8FB3B6DE2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05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0-label">
            <a:extLst xmlns:a="http://schemas.openxmlformats.org/drawingml/2006/main">
              <a:ext uri="{FF2B5EF4-FFF2-40B4-BE49-F238E27FC236}">
                <a16:creationId xmlns:a16="http://schemas.microsoft.com/office/drawing/2014/main" id="{31519008-57C2-4E88-B92D-A6B4EA7F8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290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46BF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1">
                <a:solidFill>
                  <a:srgbClr val="246BFE"/>
                </a:solidFill>
                <a:latin typeface="Microsoft YaHei UI"/>
                <a:ea typeface="Microsoft YaHei UI"/>
                <a:cs typeface="Microsoft YaHei UI"/>
              </a:rPr>
              <a:t>CITATION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3CED26-B4BA-4163-9E7B-3CD7763A9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9906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024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325" b="1">
                <a:solidFill>
                  <a:srgbClr val="20242A"/>
                </a:solidFill>
                <a:latin typeface="Microsoft YaHei UI"/>
                <a:ea typeface="Microsoft YaHei UI"/>
                <a:cs typeface="Microsoft YaHei UI"/>
              </a:rPr>
              <a:t>高被引影响力回答“谁重要”，共被引网络回答“知识基础如何聚集”。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A98FAE-21D6-4853-929E-CB2AD27AE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0"/>
            <a:ext cx="5191125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4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92f03211ce4d48"/>
          <a:stretch xmlns:a="http://schemas.openxmlformats.org/drawingml/2006/main"/>
        </p:blipFill>
        <p:spPr>
          <a:xfrm xmlns:a="http://schemas.openxmlformats.org/drawingml/2006/main">
            <a:off x="919163" y="1619250"/>
            <a:ext cx="4457700" cy="29718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ECBAE3-FDB0-494A-9676-6DB90A7F9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49244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26B75"/>
                </a:solidFill>
                <a:latin typeface="Microsoft YaHei"/>
                <a:ea typeface="Microsoft YaHei"/>
                <a:cs typeface="Microsoft YaHei"/>
              </a:rPr>
              <a:t>高被引影响力图谱：识别 milestone 候选论文。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05E309-E8BF-4758-8031-717A18937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524000"/>
            <a:ext cx="5191125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4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d6ee84dfb34f45"/>
          <a:stretch xmlns:a="http://schemas.openxmlformats.org/drawingml/2006/main"/>
        </p:blipFill>
        <p:spPr>
          <a:xfrm xmlns:a="http://schemas.openxmlformats.org/drawingml/2006/main">
            <a:off x="6718527" y="1619250"/>
            <a:ext cx="4669971" cy="29718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6AE211-EA0C-424E-8E9F-47290CDAB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629150"/>
            <a:ext cx="49244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26B75"/>
                </a:solidFill>
                <a:latin typeface="Microsoft YaHei"/>
                <a:ea typeface="Microsoft YaHei"/>
                <a:cs typeface="Microsoft YaHei"/>
              </a:rPr>
              <a:t>文献共被引网络：识别被共同依赖的知识群落。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2D0115-D798-4D4A-BFA5-45D81CB51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38750"/>
            <a:ext cx="4381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018089-FA3C-4BC9-A3D1-E97649A8D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81625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46BF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46BFE"/>
                </a:solidFill>
                <a:latin typeface="Microsoft YaHei"/>
                <a:ea typeface="Microsoft YaHei"/>
                <a:cs typeface="Microsoft YaHei"/>
              </a:rPr>
              <a:t>答辩解释 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55C0FB-DA71-4F5A-BD61-10790605F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3625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rPr>
              <a:t>高被引图先回答哪些论文具有影响力，作为综述选题锚点。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DD4E0F-F54C-4BF5-AECC-96DB5DEB5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5238750"/>
            <a:ext cx="4381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0B78B4-D75E-44AE-87C4-78A264759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381625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2A7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2A7A0"/>
                </a:solidFill>
                <a:latin typeface="Microsoft YaHei"/>
                <a:ea typeface="Microsoft YaHei"/>
                <a:cs typeface="Microsoft YaHei"/>
              </a:rPr>
              <a:t>答辩解释 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BF6B6F-A081-4E8C-9C4D-A87513D91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3625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rPr>
              <a:t>共被引图再说明这些论文背后有哪些共同知识基础和主题簇。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4EBB5E-9007-4A73-A098-953AEFDFD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857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A7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A746B"/>
                </a:solidFill>
                <a:latin typeface="Microsoft YaHei"/>
                <a:ea typeface="Microsoft YaHei"/>
                <a:cs typeface="Microsoft YaHei"/>
              </a:rPr>
              <a:t>Source: outputs/figures/citation_network.png and outputs/review_figures/fig6_reference_cocitation_network.png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B537F1-3051-464E-9701-A50420585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51510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A746B"/>
                </a:solidFill>
                <a:latin typeface="Consolas"/>
                <a:ea typeface="Consolas"/>
                <a:cs typeface="Consolas"/>
              </a:defRPr>
            </a:pPr>
            <a:r>
              <a:rPr sz="825" b="0">
                <a:solidFill>
                  <a:srgbClr val="7A746B"/>
                </a:solidFill>
                <a:latin typeface="Consolas"/>
                <a:ea typeface="Consolas"/>
                <a:cs typeface="Consola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146883117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CDF447D-4274-42DB-BDC8-3E81AC288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1-marker">
            <a:extLst xmlns:a="http://schemas.openxmlformats.org/drawingml/2006/main">
              <a:ext uri="{FF2B5EF4-FFF2-40B4-BE49-F238E27FC236}">
                <a16:creationId xmlns:a16="http://schemas.microsoft.com/office/drawing/2014/main" id="{D3023009-AA8F-4C90-B8BE-5A9FA127E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05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1-label">
            <a:extLst xmlns:a="http://schemas.openxmlformats.org/drawingml/2006/main">
              <a:ext uri="{FF2B5EF4-FFF2-40B4-BE49-F238E27FC236}">
                <a16:creationId xmlns:a16="http://schemas.microsoft.com/office/drawing/2014/main" id="{FB349325-C93B-44A2-AF8D-0921D675E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290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46BF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1">
                <a:solidFill>
                  <a:srgbClr val="246BFE"/>
                </a:solidFill>
                <a:latin typeface="Microsoft YaHei UI"/>
                <a:ea typeface="Microsoft YaHei UI"/>
                <a:cs typeface="Microsoft YaHei UI"/>
              </a:rPr>
              <a:t>REVIEW SYNTHESIS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5074D3-EFDD-4D13-B5C9-75CD0F183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9906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024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20242A"/>
                </a:solidFill>
                <a:latin typeface="Microsoft YaHei UI"/>
                <a:ea typeface="Microsoft YaHei UI"/>
                <a:cs typeface="Microsoft YaHei UI"/>
              </a:rPr>
              <a:t>综述结构来自计量证据，而不是套用通用模板。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C03CB6-210E-41A0-B023-1646B90B9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47800"/>
            <a:ext cx="6096000" cy="398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4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215104a4754fc4"/>
          <a:stretch xmlns:a="http://schemas.openxmlformats.org/drawingml/2006/main"/>
        </p:blipFill>
        <p:spPr>
          <a:xfrm xmlns:a="http://schemas.openxmlformats.org/drawingml/2006/main">
            <a:off x="945696" y="1543050"/>
            <a:ext cx="5538107" cy="35242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444ACF-75F5-4400-95DC-348EAEE81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05400"/>
            <a:ext cx="5829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26B75"/>
                </a:solidFill>
                <a:latin typeface="Microsoft YaHei"/>
                <a:ea typeface="Microsoft YaHei"/>
                <a:cs typeface="Microsoft YaHei"/>
              </a:rPr>
              <a:t>高被引 milestone 候选矩阵：把“重要论文”转成“技术叙事线”。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815471-48C1-4E07-A782-3EFE87920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600200"/>
            <a:ext cx="3695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D98E44-52CD-4659-8D8A-2CD83579C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600200"/>
            <a:ext cx="666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B0B43E-04B4-41C3-B471-501E7F7D6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7145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rPr>
              <a:t>多智能体任务规划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01D2D6-D66B-4C37-B33E-B3DF58E4D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000250"/>
            <a:ext cx="3143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26B75"/>
                </a:solidFill>
                <a:latin typeface="Microsoft YaHei"/>
                <a:ea typeface="Microsoft YaHei"/>
                <a:cs typeface="Microsoft YaHei"/>
              </a:rPr>
              <a:t>自然语言目标 -&gt; 子任务拆解 -&gt; 多角色协作执行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59B565-5D48-4B00-8E9E-F6B3BDD5B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514600"/>
            <a:ext cx="3695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F829AE-969D-48BA-A9A9-3698DAA5A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514600"/>
            <a:ext cx="666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A7A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8B303F-AE05-4E7C-882B-3C9F4D078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6289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rPr>
              <a:t>科学发现与自驱动实验室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724943-8F6F-406E-83D1-E0BD5272C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914650"/>
            <a:ext cx="3143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26B75"/>
                </a:solidFill>
                <a:latin typeface="Microsoft YaHei"/>
                <a:ea typeface="Microsoft YaHei"/>
                <a:cs typeface="Microsoft YaHei"/>
              </a:rPr>
              <a:t>文献检索、假设生成、实验设计与结果分析闭环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F69286-AD53-4D3B-9683-7DD6CA403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429000"/>
            <a:ext cx="3695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D463AE-939E-4368-9982-38EE686BC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429000"/>
            <a:ext cx="666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D94581-AC54-48F5-A1C0-EDA8B8BA7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5433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rPr>
              <a:t>人机协作与人类监督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A8780C-ED14-4476-BD7F-8168BFF90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829050"/>
            <a:ext cx="3143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26B75"/>
                </a:solidFill>
                <a:latin typeface="Microsoft YaHei"/>
                <a:ea typeface="Microsoft YaHei"/>
                <a:cs typeface="Microsoft YaHei"/>
              </a:rPr>
              <a:t>从 AI-AI 协作扩展为人、模型、工具、环境协作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904BFF-1BFF-4DC1-8DB6-9690FF8D5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343400"/>
            <a:ext cx="3695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F2B389-F39D-4A29-86DE-4D1D60AD2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343400"/>
            <a:ext cx="666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6B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A6ACCB-DA4B-492E-BD6D-5333F2F7D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4577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rPr>
              <a:t>医疗、机器人等垂直应用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2D6688-BF25-4427-AFD5-C2E6D61DF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743450"/>
            <a:ext cx="3143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26B75"/>
                </a:solidFill>
                <a:latin typeface="Microsoft YaHei"/>
                <a:ea typeface="Microsoft YaHei"/>
                <a:cs typeface="Microsoft YaHei"/>
              </a:rPr>
              <a:t>高约束场景要求证据、审计、安全退出机制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248D16-5862-465C-B44E-A7416D205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39115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25A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25AC1"/>
                </a:solidFill>
                <a:latin typeface="Microsoft YaHei"/>
                <a:ea typeface="Microsoft YaHei"/>
                <a:cs typeface="Microsoft YaHei"/>
              </a:rPr>
              <a:t>这页的作用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0BF1B94-ABD3-43C8-9358-3EE478F5B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343525"/>
            <a:ext cx="2857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rPr>
              <a:t>答辩时可以说：我们不是把所有文献平均铺开，而是用高被引候选论文和主题图谱共同决定综述的四条主线。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F98A75D-EBC2-4E75-8C0E-B22E0E967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857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A7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A746B"/>
                </a:solidFill>
                <a:latin typeface="Microsoft YaHei"/>
                <a:ea typeface="Microsoft YaHei"/>
                <a:cs typeface="Microsoft YaHei"/>
              </a:rPr>
              <a:t>Source: paper/mini_review_final.md and outputs/milestone_paper_candidates.md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A0C47FB-DCEA-4969-903F-EACB9F745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51510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A746B"/>
                </a:solidFill>
                <a:latin typeface="Consolas"/>
                <a:ea typeface="Consolas"/>
                <a:cs typeface="Consolas"/>
              </a:defRPr>
            </a:pPr>
            <a:r>
              <a:rPr sz="825" b="0">
                <a:solidFill>
                  <a:srgbClr val="7A746B"/>
                </a:solidFill>
                <a:latin typeface="Consolas"/>
                <a:ea typeface="Consolas"/>
                <a:cs typeface="Consola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901093736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4A729BC-8555-4A56-9A43-2A5E79005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2-marker">
            <a:extLst xmlns:a="http://schemas.openxmlformats.org/drawingml/2006/main">
              <a:ext uri="{FF2B5EF4-FFF2-40B4-BE49-F238E27FC236}">
                <a16:creationId xmlns:a16="http://schemas.microsoft.com/office/drawing/2014/main" id="{6E24D48D-16BE-4242-9628-E9F23773F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05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2-label">
            <a:extLst xmlns:a="http://schemas.openxmlformats.org/drawingml/2006/main">
              <a:ext uri="{FF2B5EF4-FFF2-40B4-BE49-F238E27FC236}">
                <a16:creationId xmlns:a16="http://schemas.microsoft.com/office/drawing/2014/main" id="{20DAF3AC-A9AF-4D54-8DC5-18BF25F12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290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46BF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1">
                <a:solidFill>
                  <a:srgbClr val="246BFE"/>
                </a:solidFill>
                <a:latin typeface="Microsoft YaHei UI"/>
                <a:ea typeface="Microsoft YaHei UI"/>
                <a:cs typeface="Microsoft YaHei UI"/>
              </a:rPr>
              <a:t>WEEK 13 AGENT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8F76AA-FB6E-4135-880B-D7030E09E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9906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024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20242A"/>
                </a:solidFill>
                <a:latin typeface="Microsoft YaHei UI"/>
                <a:ea typeface="Microsoft YaHei UI"/>
                <a:cs typeface="Microsoft YaHei UI"/>
              </a:rPr>
              <a:t>Week 13 的改进点是把“结论-证据-解释”绑定起来。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28CA19-A3E7-4674-BB3B-07B1BB738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695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46BF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865C68-088F-40D3-B937-C17983DDD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2405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6BFE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246BFE"/>
                </a:solidFill>
                <a:latin typeface="Consolas"/>
                <a:ea typeface="Consolas"/>
                <a:cs typeface="Consolas"/>
              </a:rPr>
              <a:t>Claim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E10C0E-CAF6-4897-A38B-8D2117DB8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6695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rPr>
              <a:t>提出段落主张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C2BB5B-7E31-48CB-901A-39504626D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20980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2C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A24FF0-E634-4964-86AE-F776351E5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1717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2C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F58E05-42F4-4814-B400-DE0854B55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752600"/>
            <a:ext cx="1695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8F7"/>
          </a:solidFill>
          <a:ln xmlns:a="http://schemas.openxmlformats.org/drawingml/2006/main" w="9525">
            <a:solidFill>
              <a:srgbClr val="12A7A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460E60-D096-48C0-9E39-E0C202868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92405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A7A0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12A7A0"/>
                </a:solidFill>
                <a:latin typeface="Consolas"/>
                <a:ea typeface="Consolas"/>
                <a:cs typeface="Consolas"/>
              </a:rPr>
              <a:t>Evidence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09BE3B-3AD6-4240-8E89-E9186C3D0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26695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rPr>
              <a:t>定位图表与数据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FB96CC-918A-41C5-BA97-85503CA1D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0980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2C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2DB216-43E6-4375-B9E7-8716269E9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1717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2C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A24D54-551E-4C38-8D69-0EFCAAE2C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752600"/>
            <a:ext cx="1695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25AC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705230-48D1-4ABD-8665-9D03B83CB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92405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25AC1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725AC1"/>
                </a:solidFill>
                <a:latin typeface="Consolas"/>
                <a:ea typeface="Consolas"/>
                <a:cs typeface="Consolas"/>
              </a:rPr>
              <a:t>Tool trace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225F51-9761-4C73-88F2-194AFEBE0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26695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rPr>
              <a:t>绑定脚本与文件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3FE0DD-3246-45EF-BE80-B8AF4AE80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20980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2C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5CC4CA-E818-4719-B31D-A5392B9FB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1717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2C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B6E037-3E6A-4B8E-9F08-20EA30987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752600"/>
            <a:ext cx="1695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DF"/>
          </a:solidFill>
          <a:ln xmlns:a="http://schemas.openxmlformats.org/drawingml/2006/main" w="9525">
            <a:solidFill>
              <a:srgbClr val="D89B1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A27AFA-1F1F-43D6-89F7-03E5ED5AE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92405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89B19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D89B19"/>
                </a:solidFill>
                <a:latin typeface="Consolas"/>
                <a:ea typeface="Consolas"/>
                <a:cs typeface="Consolas"/>
              </a:rPr>
              <a:t>Reasoning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BEFE24-6678-423D-B868-C74C47463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26695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rPr>
              <a:t>改写解释逻辑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4A6511-E0F9-4B68-9746-F2157DC34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20980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2C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FD4FB80-1C64-4E59-9FBF-A5350DE21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1717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2C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AD2ABB-ED26-4781-A25A-28D48F324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752600"/>
            <a:ext cx="1695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6B5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D1F4E54-6BC9-45E0-8BA2-16E2217C8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92405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36B5C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E36B5C"/>
                </a:solidFill>
                <a:latin typeface="Consolas"/>
                <a:ea typeface="Consolas"/>
                <a:cs typeface="Consolas"/>
              </a:rPr>
              <a:t>Review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ED4B874-64FB-4047-A06B-71BC73A4F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26695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rPr>
              <a:t>检查图文一致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DA318D7-5D51-48D4-8B07-89781084C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76600"/>
            <a:ext cx="6858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C24"/>
          </a:solidFill>
          <a:ln xmlns:a="http://schemas.openxmlformats.org/drawingml/2006/main" w="9525">
            <a:solidFill>
              <a:srgbClr val="D8D1C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3F465EF-2B7E-416D-B555-D72A456D5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43275"/>
            <a:ext cx="159258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主张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AB44913-1543-4C13-AC4A-A3A819FCE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4630" y="3343275"/>
            <a:ext cx="268986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证据对象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1A06DBA-F88F-4284-B18B-165648C01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4990" y="3343275"/>
            <a:ext cx="200406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解释动作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DEA9FD8-0467-4B50-B298-BCF4C8E05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33800"/>
            <a:ext cx="6858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BFA1D8E-155A-4C8D-9D96-177B792D4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00475"/>
            <a:ext cx="159258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rPr>
              <a:t>领域爆发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34EF049-7855-408B-9CC7-5E75EB733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4630" y="3800475"/>
            <a:ext cx="268986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rPr>
              <a:t>年度发文量 2020-2026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9737967-109A-4DC7-8982-E0770C034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4990" y="3800475"/>
            <a:ext cx="200406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rPr>
              <a:t>说明 2024-2025 拐点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FF0C870-6FF6-4978-AC7B-E48D63F51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91000"/>
            <a:ext cx="6858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8D1C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2412513-0D09-4CF1-9D5A-D0EB96329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57675"/>
            <a:ext cx="159258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rPr>
              <a:t>主题分层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1C148D0-BA00-4B24-A71B-D79A24CCD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4630" y="4257675"/>
            <a:ext cx="268986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rPr>
              <a:t>关键词共现与主题架构图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D3E0F64-35D0-44C2-B02B-B95E55CD1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4990" y="4257675"/>
            <a:ext cx="200406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rPr>
              <a:t>把图转为综述章节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17EAE8A-687F-4587-959C-5C30454A1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48200"/>
            <a:ext cx="6858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4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FFA2B7D-6AC5-450F-9D5E-4372E047F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714875"/>
            <a:ext cx="159258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rPr>
              <a:t>知识基础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F973E14-CA75-408D-B6C2-EB3EEF08E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4630" y="4714875"/>
            <a:ext cx="268986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rPr>
              <a:t>引用网络 + 共被引网络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5FD5C08-9F1C-48C5-A3E0-9B9E3F55C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4990" y="4714875"/>
            <a:ext cx="200406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rPr>
              <a:t>区分影响力与共同依赖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7B94A03-14A0-4162-93C4-F6D6FBD78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05400"/>
            <a:ext cx="6858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8D1C4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1A68E52-2A49-4982-B996-9E0D9DA23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172075"/>
            <a:ext cx="159258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rPr>
              <a:t>未来挑战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6393969-005F-4089-B6F6-B96EA4612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4630" y="5172075"/>
            <a:ext cx="268986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rPr>
              <a:t>挑战议程图与文献解释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5E043CC-DE5F-4CB8-A89B-3AD365598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4990" y="5172075"/>
            <a:ext cx="200406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rPr>
              <a:t>回到评价、审计、安全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B667805-F400-4147-84CE-C352C8F48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276600"/>
            <a:ext cx="285750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C24"/>
          </a:solidFill>
          <a:ln xmlns:a="http://schemas.openxmlformats.org/drawingml/2006/main" w="9525">
            <a:solidFill>
              <a:srgbClr val="171C24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6FE400D-FE19-4728-A63B-35F5B4064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543300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不是“让 AI 写完论文”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B7D154A-9504-4A22-BD9A-B67B0B987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000500"/>
            <a:ext cx="2247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CE3E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DCE3EC"/>
                </a:solidFill>
                <a:latin typeface="Microsoft YaHei"/>
                <a:ea typeface="Microsoft YaHei"/>
                <a:cs typeface="Microsoft YaHei"/>
              </a:rPr>
              <a:t>这里的 agent 角色更像证据审稿人：每个段落必须回答三件事。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1CDD43E-4C6F-499C-BA0E-0F1FE24C9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686300"/>
            <a:ext cx="228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6DF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F6DFA8"/>
                </a:solidFill>
                <a:latin typeface="Microsoft YaHei"/>
                <a:ea typeface="Microsoft YaHei"/>
                <a:cs typeface="Microsoft YaHei"/>
              </a:rPr>
              <a:t>1. 我说了什么？</a:t>
            </a:r>
          </a:p>
          <a:p xmlns:a="http://schemas.openxmlformats.org/drawingml/2006/main">
            <a:pPr algn="l">
              <a:defRPr sz="1125" b="0">
                <a:solidFill>
                  <a:srgbClr val="F6DF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F6DFA8"/>
                </a:solidFill>
                <a:latin typeface="Microsoft YaHei"/>
                <a:ea typeface="Microsoft YaHei"/>
                <a:cs typeface="Microsoft YaHei"/>
              </a:rPr>
              <a:t>2. 哪张图或哪个指标支持？</a:t>
            </a:r>
          </a:p>
          <a:p xmlns:a="http://schemas.openxmlformats.org/drawingml/2006/main">
            <a:pPr algn="l">
              <a:defRPr sz="1125" b="0">
                <a:solidFill>
                  <a:srgbClr val="F6DF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F6DFA8"/>
                </a:solidFill>
                <a:latin typeface="Microsoft YaHei"/>
                <a:ea typeface="Microsoft YaHei"/>
                <a:cs typeface="Microsoft YaHei"/>
              </a:rPr>
              <a:t>3. 这张图为什么能支持？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86160D8-79A3-48F8-B43A-36FFA6605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857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A7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A746B"/>
                </a:solidFill>
                <a:latin typeface="Microsoft YaHei"/>
                <a:ea typeface="Microsoft YaHei"/>
                <a:cs typeface="Microsoft YaHei"/>
              </a:rPr>
              <a:t>Week 13 requirement: agent workflow, tool calls/evidence binding, claim-evidence-reasoning revision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672F666-C44E-4B8C-84D7-8DC353D4B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51510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A746B"/>
                </a:solidFill>
                <a:latin typeface="Consolas"/>
                <a:ea typeface="Consolas"/>
                <a:cs typeface="Consolas"/>
              </a:defRPr>
            </a:pPr>
            <a:r>
              <a:rPr sz="825" b="0">
                <a:solidFill>
                  <a:srgbClr val="7A746B"/>
                </a:solidFill>
                <a:latin typeface="Consolas"/>
                <a:ea typeface="Consolas"/>
                <a:cs typeface="Consola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102545640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B671932-E1DD-45F6-B513-B6F1468B7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C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3-marker">
            <a:extLst xmlns:a="http://schemas.openxmlformats.org/drawingml/2006/main">
              <a:ext uri="{FF2B5EF4-FFF2-40B4-BE49-F238E27FC236}">
                <a16:creationId xmlns:a16="http://schemas.microsoft.com/office/drawing/2014/main" id="{F4B01AD9-1EFF-41A5-B7A9-413A649F7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05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3-label">
            <a:extLst xmlns:a="http://schemas.openxmlformats.org/drawingml/2006/main">
              <a:ext uri="{FF2B5EF4-FFF2-40B4-BE49-F238E27FC236}">
                <a16:creationId xmlns:a16="http://schemas.microsoft.com/office/drawing/2014/main" id="{4C64BB20-2018-473A-B279-B2A98BAA2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290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89B1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1">
                <a:solidFill>
                  <a:srgbClr val="D89B19"/>
                </a:solidFill>
                <a:latin typeface="Microsoft YaHei UI"/>
                <a:ea typeface="Microsoft YaHei UI"/>
                <a:cs typeface="Microsoft YaHei UI"/>
              </a:rPr>
              <a:t>DELIVERABLES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1162FC-F88E-4EFC-BA54-B66C08638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9906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4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最终提交物已经形成一个可答辩、可复现、可继续发布的 GitHub 项目。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A37360-E8B7-45E6-B903-3C3E94FE1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31432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934"/>
          </a:solidFill>
          <a:ln xmlns:a="http://schemas.openxmlformats.org/drawingml/2006/main" w="9525">
            <a:solidFill>
              <a:srgbClr val="3C465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09F3BE-F0AB-4187-8CF4-AF5936704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3143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6B8345-130A-40B3-BB51-8D1C2289C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38350"/>
            <a:ext cx="2286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数据与代码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B3AFE3-D99B-4F03-8D8A-1A5756A55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4795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CE3EC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DCE3EC"/>
                </a:solidFill>
                <a:latin typeface="Consolas"/>
                <a:ea typeface="Consolas"/>
                <a:cs typeface="Consolas"/>
              </a:rPr>
              <a:t>data/processed/cleaned_data.csv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77F2DA-4C4D-4332-838E-2045C0548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3365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DAABDC-3C27-4878-B98E-50DC8B0E9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4800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CE3EC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DCE3EC"/>
                </a:solidFill>
                <a:latin typeface="Consolas"/>
                <a:ea typeface="Consolas"/>
                <a:cs typeface="Consolas"/>
              </a:rPr>
              <a:t>run_pipeline.py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865204-EB63-41B2-8CEE-21547CE4E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3370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0AEEC9-07E2-4F09-BA9D-91B636D8B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4805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CE3EC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DCE3EC"/>
                </a:solidFill>
                <a:latin typeface="Consolas"/>
                <a:ea typeface="Consolas"/>
                <a:cs typeface="Consolas"/>
              </a:rPr>
              <a:t>src/*.py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4DB4BC-E01E-4740-8313-54F7441DF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3375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7AB879-9DE1-4EED-80E3-565477D06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4810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CE3EC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DCE3EC"/>
                </a:solidFill>
                <a:latin typeface="Consolas"/>
                <a:ea typeface="Consolas"/>
                <a:cs typeface="Consolas"/>
              </a:rPr>
              <a:t>requirements.txt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28EDF3-3760-47B3-8131-1A9CA8068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3380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D90958-B821-42D8-BA78-DE822BEFB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695450"/>
            <a:ext cx="31432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934"/>
          </a:solidFill>
          <a:ln xmlns:a="http://schemas.openxmlformats.org/drawingml/2006/main" w="9525">
            <a:solidFill>
              <a:srgbClr val="3C465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1304F6-DE35-4161-BF6A-DDCC58A4B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695450"/>
            <a:ext cx="3143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A7A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A3FD69-029F-469F-9166-E75DED39E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038350"/>
            <a:ext cx="2286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报告与图谱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B6D3CD-E336-4BD6-9524-CD4F96EFA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64795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CE3EC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DCE3EC"/>
                </a:solidFill>
                <a:latin typeface="Consolas"/>
                <a:ea typeface="Consolas"/>
                <a:cs typeface="Consolas"/>
              </a:rPr>
              <a:t>reports/m1_data_quality_report.md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6BD217-DE47-497E-AC70-4FC3C1E92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53365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A7A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83DFE2-E5A5-4849-9142-E8565CDF7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04800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CE3EC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DCE3EC"/>
                </a:solidFill>
                <a:latin typeface="Consolas"/>
                <a:ea typeface="Consolas"/>
                <a:cs typeface="Consolas"/>
              </a:rPr>
              <a:t>reports/m2_metrics_analysis_report.md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419763-04B4-4A5B-8DB6-F3B59BC56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93370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A7A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F88891-33E5-40E1-9C89-7F929DCAB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44805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CE3EC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DCE3EC"/>
                </a:solidFill>
                <a:latin typeface="Consolas"/>
                <a:ea typeface="Consolas"/>
                <a:cs typeface="Consolas"/>
              </a:rPr>
              <a:t>outputs/figures/*.png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AD4BB9-2507-4102-9E5D-E12AFC27D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33375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A7A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A9F910-BA4F-41CF-9F81-76D5E545C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84810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CE3EC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DCE3EC"/>
                </a:solidFill>
                <a:latin typeface="Consolas"/>
                <a:ea typeface="Consolas"/>
                <a:cs typeface="Consolas"/>
              </a:rPr>
              <a:t>outputs/review_figures/*.png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DBF9B7C-4A4F-47A6-8CF0-CA0DE36B6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73380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A7A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B3AFEC2-DC07-4B69-AFD1-50FD1149A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95450"/>
            <a:ext cx="31432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934"/>
          </a:solidFill>
          <a:ln xmlns:a="http://schemas.openxmlformats.org/drawingml/2006/main" w="9525">
            <a:solidFill>
              <a:srgbClr val="3C465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F65B6CA-22BC-486A-95B6-2A950C9CA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95450"/>
            <a:ext cx="3143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6F3A5D8-3406-4361-991C-2263FC758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038350"/>
            <a:ext cx="2286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综述与发布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9F8B0B7-9768-4E2B-B516-88B62C511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64795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CE3EC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DCE3EC"/>
                </a:solidFill>
                <a:latin typeface="Consolas"/>
                <a:ea typeface="Consolas"/>
                <a:cs typeface="Consolas"/>
              </a:rPr>
              <a:t>paper/mini_review_final.md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3CB50A8-2E65-41C6-AFF5-6B1B28C4C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53365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622ABEA-3D4C-48B3-B15D-2DE72BDF1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04800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CE3EC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DCE3EC"/>
                </a:solidFill>
                <a:latin typeface="Consolas"/>
                <a:ea typeface="Consolas"/>
                <a:cs typeface="Consolas"/>
              </a:rPr>
              <a:t>reports/m3_final_report.md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E940938-24AB-476D-BFA0-497936D26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93370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328322B-F2D2-43C7-99E1-F0F88C367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44805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CE3EC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DCE3EC"/>
                </a:solidFill>
                <a:latin typeface="Consolas"/>
                <a:ea typeface="Consolas"/>
                <a:cs typeface="Consolas"/>
              </a:rPr>
              <a:t>RELEASE_NOTES.md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A5C6880-7EBF-49E1-900F-DC2CBD80B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33375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6237227-D52F-4310-AC4E-638E6BE48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84810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CE3EC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DCE3EC"/>
                </a:solidFill>
                <a:latin typeface="Consolas"/>
                <a:ea typeface="Consolas"/>
                <a:cs typeface="Consolas"/>
              </a:rPr>
              <a:t>defense PPTX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2A1921B-7AE4-462E-9785-E9F68FA7D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73380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E5B983A-5E00-4319-9E36-3DD5A6608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24400"/>
            <a:ext cx="3143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631"/>
          </a:solidFill>
          <a:ln xmlns:a="http://schemas.openxmlformats.org/drawingml/2006/main" w="9525">
            <a:solidFill>
              <a:srgbClr val="3C4654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C65CEA6-346A-4CC7-9F6B-CF0FD737C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958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36B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E36B5C"/>
                </a:solidFill>
                <a:latin typeface="Microsoft YaHei"/>
                <a:ea typeface="Microsoft YaHei"/>
                <a:cs typeface="Microsoft YaHei"/>
              </a:rPr>
              <a:t>仍需说明的边界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0844012-3E69-4A20-AAE5-5D22F966B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0"/>
            <a:ext cx="257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CE3E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DCE3EC"/>
                </a:solidFill>
                <a:latin typeface="Microsoft YaHei"/>
                <a:ea typeface="Microsoft YaHei"/>
                <a:cs typeface="Microsoft YaHei"/>
              </a:rPr>
              <a:t>2026 数据不完整；References 字段仍有缺失；Lens.org 元数据会影响国家/机构识别。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0CA5DBE-1C40-4841-9BBE-2505D03FE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724400"/>
            <a:ext cx="3143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631"/>
          </a:solidFill>
          <a:ln xmlns:a="http://schemas.openxmlformats.org/drawingml/2006/main" w="9525">
            <a:solidFill>
              <a:srgbClr val="3C4654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DD2CFD9-2C03-4868-B0C4-8442FB9D7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8958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89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D89B19"/>
                </a:solidFill>
                <a:latin typeface="Microsoft YaHei"/>
                <a:ea typeface="Microsoft YaHei"/>
                <a:cs typeface="Microsoft YaHei"/>
              </a:rPr>
              <a:t>答辩中的核心贡献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B8A6398-29FC-43BE-BD6D-DAF6CAFF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5143500"/>
            <a:ext cx="257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CE3E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DCE3EC"/>
                </a:solidFill>
                <a:latin typeface="Microsoft YaHei"/>
                <a:ea typeface="Microsoft YaHei"/>
                <a:cs typeface="Microsoft YaHei"/>
              </a:rPr>
              <a:t>把快速增长的 LLM 多智能体研究解释为有数据、有图谱、有技术主线的可复现课程项目。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72741BA-4728-413B-8E23-5096C40D8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724400"/>
            <a:ext cx="3143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631"/>
          </a:solidFill>
          <a:ln xmlns:a="http://schemas.openxmlformats.org/drawingml/2006/main" w="9525">
            <a:solidFill>
              <a:srgbClr val="3C4654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C368E75-8A74-4C8F-8CE1-4B98FC965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8958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2A7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2A7A0"/>
                </a:solidFill>
                <a:latin typeface="Microsoft YaHei"/>
                <a:ea typeface="Microsoft YaHei"/>
                <a:cs typeface="Microsoft YaHei"/>
              </a:rPr>
              <a:t>下一步可完善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AC0FF51-FCD6-4FDF-AF82-0E0227C35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143500"/>
            <a:ext cx="257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CE3E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DCE3EC"/>
                </a:solidFill>
                <a:latin typeface="Microsoft YaHei"/>
                <a:ea typeface="Microsoft YaHei"/>
                <a:cs typeface="Microsoft YaHei"/>
              </a:rPr>
              <a:t>补充更严格的 burst / centrality 分析，并把人工筛选的 milestone 证据表做成 appendix。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6734C8A-37DC-441D-AE68-18BA469AE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5753100"/>
            <a:ext cx="914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2550" b="1">
                <a:solidFill>
                  <a:srgbClr val="D89B1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D89B19"/>
                </a:solidFill>
                <a:latin typeface="Microsoft YaHei UI"/>
                <a:ea typeface="Microsoft YaHei UI"/>
                <a:cs typeface="Microsoft YaHei UI"/>
              </a:rPr>
              <a:t>Q&amp;A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4F214E8-1299-4492-B3B9-752A8925C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857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A7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A746B"/>
                </a:solidFill>
                <a:latin typeface="Microsoft YaHei"/>
                <a:ea typeface="Microsoft YaHei"/>
                <a:cs typeface="Microsoft YaHei"/>
              </a:rPr>
              <a:t>Final artifact: Week 13 expanded defense deck and GitHub project package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BF6B70C-5C79-4210-AC57-E8BBFB532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51510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A746B"/>
                </a:solidFill>
                <a:latin typeface="Consolas"/>
                <a:ea typeface="Consolas"/>
                <a:cs typeface="Consolas"/>
              </a:defRPr>
            </a:pPr>
            <a:r>
              <a:rPr sz="825" b="0">
                <a:solidFill>
                  <a:srgbClr val="7A746B"/>
                </a:solidFill>
                <a:latin typeface="Consolas"/>
                <a:ea typeface="Consolas"/>
                <a:cs typeface="Consola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6503374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2026-06-03T13:05:57.5380000Z</dcterms:created>
  <dcterms:modified xsi:type="dcterms:W3CDTF">2026-06-03T13:05:57.5380000Z</dcterms:modified>
</coreProperties>
</file>