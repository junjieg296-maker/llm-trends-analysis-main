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c0f90282d46e5" /><Relationship Type="http://schemas.openxmlformats.org/officeDocument/2006/relationships/extended-properties" Target="/docProps/app.xml" Id="R3420825f23ba452c" /><Relationship Type="http://schemas.openxmlformats.org/officeDocument/2006/relationships/officeDocument" Target="/ppt/presentation.xml" Id="R6e2265a31bc34a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ebeb1b0445401d"/>
  </p:sldMasterIdLst>
  <p:notesMasterIdLst>
    <p:notesMasterId xmlns:r="http://schemas.openxmlformats.org/officeDocument/2006/relationships" r:id="R30b7f4362c654762"/>
  </p:notesMasterIdLst>
  <p:sldIdLst>
    <p:sldId xmlns:r="http://schemas.openxmlformats.org/officeDocument/2006/relationships" id="256" r:id="R47109da764434919"/>
    <p:sldId xmlns:r="http://schemas.openxmlformats.org/officeDocument/2006/relationships" id="257" r:id="R596ef9d20aab4e44"/>
    <p:sldId xmlns:r="http://schemas.openxmlformats.org/officeDocument/2006/relationships" id="258" r:id="R0476804ecc774b5c"/>
    <p:sldId xmlns:r="http://schemas.openxmlformats.org/officeDocument/2006/relationships" id="259" r:id="R8c4cd253b62b48ed"/>
    <p:sldId xmlns:r="http://schemas.openxmlformats.org/officeDocument/2006/relationships" id="260" r:id="Ra0b9f6c847be4f60"/>
    <p:sldId xmlns:r="http://schemas.openxmlformats.org/officeDocument/2006/relationships" id="261" r:id="Rc5f2998bda904007"/>
    <p:sldId xmlns:r="http://schemas.openxmlformats.org/officeDocument/2006/relationships" id="262" r:id="R3f8c35ea504b4562"/>
    <p:sldId xmlns:r="http://schemas.openxmlformats.org/officeDocument/2006/relationships" id="263" r:id="R8a2de155c9d34783"/>
    <p:sldId xmlns:r="http://schemas.openxmlformats.org/officeDocument/2006/relationships" id="264" r:id="R37353f42bc7946cd"/>
    <p:sldId xmlns:r="http://schemas.openxmlformats.org/officeDocument/2006/relationships" id="265" r:id="R75a360e7ba2f44a1"/>
    <p:sldId xmlns:r="http://schemas.openxmlformats.org/officeDocument/2006/relationships" id="266" r:id="R12f572a9fb044a8f"/>
    <p:sldId xmlns:r="http://schemas.openxmlformats.org/officeDocument/2006/relationships" id="267" r:id="R1f87b4b64eac419a"/>
    <p:sldId xmlns:r="http://schemas.openxmlformats.org/officeDocument/2006/relationships" id="268" r:id="R327ab8c60d024993"/>
    <p:sldId xmlns:r="http://schemas.openxmlformats.org/officeDocument/2006/relationships" id="269" r:id="R7fbe4573d09041e6"/>
  </p:sldIdLst>
  <p:sldSz cx="1219136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ccaf8cdbc24c2b" /><Relationship Type="http://schemas.openxmlformats.org/officeDocument/2006/relationships/slideMaster" Target="/ppt/slideMasters/slideMaster1.xml" Id="Rf3ebeb1b0445401d" /><Relationship Type="http://schemas.openxmlformats.org/officeDocument/2006/relationships/notesMaster" Target="/ppt/notesMasters/notesMaster1.xml" Id="R30b7f4362c654762" /><Relationship Type="http://schemas.openxmlformats.org/officeDocument/2006/relationships/presProps" Target="/ppt/presProps.xml" Id="Rc6e3404c4c5843b9" /><Relationship Type="http://schemas.openxmlformats.org/officeDocument/2006/relationships/tableStyles" Target="/ppt/tableStyles.xml" Id="R8f83cfac9fc34529" /><Relationship Type="http://schemas.openxmlformats.org/officeDocument/2006/relationships/slide" Target="/ppt/slides/slide1.xml" Id="R47109da764434919" /><Relationship Type="http://schemas.openxmlformats.org/officeDocument/2006/relationships/slide" Target="/ppt/slides/slide2.xml" Id="R596ef9d20aab4e44" /><Relationship Type="http://schemas.openxmlformats.org/officeDocument/2006/relationships/slide" Target="/ppt/slides/slide3.xml" Id="R0476804ecc774b5c" /><Relationship Type="http://schemas.openxmlformats.org/officeDocument/2006/relationships/slide" Target="/ppt/slides/slide4.xml" Id="R8c4cd253b62b48ed" /><Relationship Type="http://schemas.openxmlformats.org/officeDocument/2006/relationships/slide" Target="/ppt/slides/slide5.xml" Id="Ra0b9f6c847be4f60" /><Relationship Type="http://schemas.openxmlformats.org/officeDocument/2006/relationships/slide" Target="/ppt/slides/slide6.xml" Id="Rc5f2998bda904007" /><Relationship Type="http://schemas.openxmlformats.org/officeDocument/2006/relationships/slide" Target="/ppt/slides/slide7.xml" Id="R3f8c35ea504b4562" /><Relationship Type="http://schemas.openxmlformats.org/officeDocument/2006/relationships/slide" Target="/ppt/slides/slide8.xml" Id="R8a2de155c9d34783" /><Relationship Type="http://schemas.openxmlformats.org/officeDocument/2006/relationships/slide" Target="/ppt/slides/slide9.xml" Id="R37353f42bc7946cd" /><Relationship Type="http://schemas.openxmlformats.org/officeDocument/2006/relationships/slide" Target="/ppt/slides/slide10.xml" Id="R75a360e7ba2f44a1" /><Relationship Type="http://schemas.openxmlformats.org/officeDocument/2006/relationships/slide" Target="/ppt/slides/slide11.xml" Id="R12f572a9fb044a8f" /><Relationship Type="http://schemas.openxmlformats.org/officeDocument/2006/relationships/slide" Target="/ppt/slides/slide12.xml" Id="R1f87b4b64eac419a" /><Relationship Type="http://schemas.openxmlformats.org/officeDocument/2006/relationships/slide" Target="/ppt/slides/slide13.xml" Id="R327ab8c60d024993" /><Relationship Type="http://schemas.openxmlformats.org/officeDocument/2006/relationships/slide" Target="/ppt/slides/slide14.xml" Id="R7fbe4573d09041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3c28ea7aa54c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43978f9df04ea5" /><Relationship Type="http://schemas.openxmlformats.org/officeDocument/2006/relationships/notesMaster" Target="/ppt/notesMasters/notesMaster1.xml" Id="R86a977179d9542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6cb88be65f47ef" /><Relationship Type="http://schemas.openxmlformats.org/officeDocument/2006/relationships/notesMaster" Target="/ppt/notesMasters/notesMaster1.xml" Id="R4cc01d872cf442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72cc271a724edd" /><Relationship Type="http://schemas.openxmlformats.org/officeDocument/2006/relationships/notesMaster" Target="/ppt/notesMasters/notesMaster1.xml" Id="Rced90815bf3f4d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73e9bbbd074521" /><Relationship Type="http://schemas.openxmlformats.org/officeDocument/2006/relationships/notesMaster" Target="/ppt/notesMasters/notesMaster1.xml" Id="Rfd5bd039743b4c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1392f2b56347f0" /><Relationship Type="http://schemas.openxmlformats.org/officeDocument/2006/relationships/notesMaster" Target="/ppt/notesMasters/notesMaster1.xml" Id="R7e9c4b86106641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29d36e3fa04513" /><Relationship Type="http://schemas.openxmlformats.org/officeDocument/2006/relationships/notesMaster" Target="/ppt/notesMasters/notesMaster1.xml" Id="R519142e53c5546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052a09c57d4b30" /><Relationship Type="http://schemas.openxmlformats.org/officeDocument/2006/relationships/notesMaster" Target="/ppt/notesMasters/notesMaster1.xml" Id="R073a3a7dd57f48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17fad86c314a06" /><Relationship Type="http://schemas.openxmlformats.org/officeDocument/2006/relationships/notesMaster" Target="/ppt/notesMasters/notesMaster1.xml" Id="Rf728603562d843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88d1be625244f1" /><Relationship Type="http://schemas.openxmlformats.org/officeDocument/2006/relationships/notesMaster" Target="/ppt/notesMasters/notesMaster1.xml" Id="R87e0786b3bf142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21669943cc4cd7" /><Relationship Type="http://schemas.openxmlformats.org/officeDocument/2006/relationships/notesMaster" Target="/ppt/notesMasters/notesMaster1.xml" Id="Ra68f47d4205d43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85b06ff9ba43ea" /><Relationship Type="http://schemas.openxmlformats.org/officeDocument/2006/relationships/notesMaster" Target="/ppt/notesMasters/notesMaster1.xml" Id="R7de62d2f6f9a40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7e59e87e964b2f" /><Relationship Type="http://schemas.openxmlformats.org/officeDocument/2006/relationships/notesMaster" Target="/ppt/notesMasters/notesMaster1.xml" Id="Rb92cdab8260d45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5f6b597ac34382" /><Relationship Type="http://schemas.openxmlformats.org/officeDocument/2006/relationships/notesMaster" Target="/ppt/notesMasters/notesMaster1.xml" Id="R7c8792f1c3e946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4a9c9393004512" /><Relationship Type="http://schemas.openxmlformats.org/officeDocument/2006/relationships/notesMaster" Target="/ppt/notesMasters/notesMaster1.xml" Id="R6568aa2bc9164f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a07bb817844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5dbb6c2b246c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0c81fdfd5641a8" /><Relationship Type="http://schemas.openxmlformats.org/officeDocument/2006/relationships/slideLayout" Target="/ppt/slideLayouts/slideLayout1.xml" Id="Rf78c7508c5f040e8" /><Relationship Type="http://schemas.openxmlformats.org/officeDocument/2006/relationships/slideLayout" Target="/ppt/slideLayouts/slideLayout2.xml" Id="Rd312b8484a374fc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8c7508c5f040e8"/>
    <p:sldLayoutId xmlns:r="http://schemas.openxmlformats.org/officeDocument/2006/relationships" id="2147483650" r:id="Rd312b8484a374fc8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3baaaaa2d14794" /><Relationship Type="http://schemas.openxmlformats.org/officeDocument/2006/relationships/notesSlide" Target="/ppt/notesSlides/notesSlide1.xml" Id="Rc8ebeeb48796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d215f89ccf47db" /><Relationship Type="http://schemas.openxmlformats.org/officeDocument/2006/relationships/notesSlide" Target="/ppt/notesSlides/notesSlide2.xml" Id="R1a52aa41131344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ba997ecef64dbe" /><Relationship Type="http://schemas.openxmlformats.org/officeDocument/2006/relationships/notesSlide" Target="/ppt/notesSlides/notesSlide3.xml" Id="R236c0945e2a84b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9b9ae2c7947c8" /><Relationship Type="http://schemas.openxmlformats.org/officeDocument/2006/relationships/notesSlide" Target="/ppt/notesSlides/notesSlide4.xml" Id="R22b09cd9ccf846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c73f80ab354514" /><Relationship Type="http://schemas.openxmlformats.org/officeDocument/2006/relationships/image" Target="/ppt/media/image.png" Id="R21ffbc1b582942ef" /><Relationship Type="http://schemas.openxmlformats.org/officeDocument/2006/relationships/notesSlide" Target="/ppt/notesSlides/notesSlide5.xml" Id="Re90cf02f9dc741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6f53a3ddb84f60" /><Relationship Type="http://schemas.openxmlformats.org/officeDocument/2006/relationships/notesSlide" Target="/ppt/notesSlides/notesSlide6.xml" Id="R56be74b847124a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45cbc310e462a" /><Relationship Type="http://schemas.openxmlformats.org/officeDocument/2006/relationships/image" Target="/ppt/media/image2.png" Id="Ra47b8572bb934e93" /><Relationship Type="http://schemas.openxmlformats.org/officeDocument/2006/relationships/notesSlide" Target="/ppt/notesSlides/notesSlide7.xml" Id="R4f086a605ada44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e882b7d0d4c08" /><Relationship Type="http://schemas.openxmlformats.org/officeDocument/2006/relationships/image" Target="/ppt/media/image3.png" Id="Rf293c6a5f97743b7" /><Relationship Type="http://schemas.openxmlformats.org/officeDocument/2006/relationships/notesSlide" Target="/ppt/notesSlides/notesSlide8.xml" Id="R092f1fb421124c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e66cd1fdc4ac4" /><Relationship Type="http://schemas.openxmlformats.org/officeDocument/2006/relationships/image" Target="/ppt/media/image4.png" Id="R2278be9064304ca5" /><Relationship Type="http://schemas.openxmlformats.org/officeDocument/2006/relationships/notesSlide" Target="/ppt/notesSlides/notesSlide9.xml" Id="Re36ab41701f44f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47c5b7c30f41e1" /><Relationship Type="http://schemas.openxmlformats.org/officeDocument/2006/relationships/image" Target="/ppt/media/image5.png" Id="R6d744c2d85f143e9" /><Relationship Type="http://schemas.openxmlformats.org/officeDocument/2006/relationships/notesSlide" Target="/ppt/notesSlides/notesSlide10.xml" Id="Rff08a765a03c42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a9423faf5446a5" /><Relationship Type="http://schemas.openxmlformats.org/officeDocument/2006/relationships/image" Target="/ppt/media/image6.png" Id="R0ebcc9b54a4f4241" /><Relationship Type="http://schemas.openxmlformats.org/officeDocument/2006/relationships/notesSlide" Target="/ppt/notesSlides/notesSlide11.xml" Id="R171f6e321b7a4a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a07936555b444b" /><Relationship Type="http://schemas.openxmlformats.org/officeDocument/2006/relationships/image" Target="/ppt/media/image7.png" Id="Re014b58cb81e4cb2" /><Relationship Type="http://schemas.openxmlformats.org/officeDocument/2006/relationships/notesSlide" Target="/ppt/notesSlides/notesSlide12.xml" Id="R1e6d86955b754f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199f34215345cd" /><Relationship Type="http://schemas.openxmlformats.org/officeDocument/2006/relationships/notesSlide" Target="/ppt/notesSlides/notesSlide13.xml" Id="R6192186c6b4249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a1d0a3db2e483a" /><Relationship Type="http://schemas.openxmlformats.org/officeDocument/2006/relationships/notesSlide" Target="/ppt/notesSlides/notesSlide14.xml" Id="Rfd9342b9bc9645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4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6BA1C4-F8F7-4E1D-9ABF-3CCF3A78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01AC78-54CE-4C6D-A523-E666BF54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93776"/>
            <a:ext cx="9144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7E1769B-B193-42F8-99C2-DB309EC0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914400"/>
            <a:ext cx="5943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9D6DF"/>
                </a:solidFill>
                <a:latin typeface="Noto Sans CJK SC"/>
                <a:ea typeface="Noto Sans CJK SC"/>
                <a:cs typeface="Noto Sans CJK SC"/>
              </a:rPr>
              <a:t>基于文献计量学的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651818B-9D44-41AA-9827-1822E679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353312"/>
            <a:ext cx="68122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LLM 多智能体协作</a:t>
            </a:r>
          </a:p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研究趋势分析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8EBBF-9C20-4319-95DD-E56EC4B3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852928"/>
            <a:ext cx="7132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8C7D2"/>
                </a:solidFill>
                <a:latin typeface="Noto Sans CJK SC"/>
                <a:ea typeface="Noto Sans CJK SC"/>
                <a:cs typeface="Noto Sans CJK SC"/>
              </a:rPr>
              <a:t>Bibliometric Analysis of LLM Multi-Agent Collaboration Research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7A55193-0D0F-4EBC-8157-76F22F0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46704"/>
            <a:ext cx="6903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4F1E8"/>
                </a:solidFill>
                <a:latin typeface="Noto Sans CJK SC"/>
                <a:ea typeface="Noto Sans CJK SC"/>
                <a:cs typeface="Noto Sans CJK SC"/>
              </a:rPr>
              <a:t>一条可复现、可解释、可答辩的证据链：数据 → 图谱 → 综述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62AE439-3027-4063-9E32-0F74337A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51560"/>
            <a:ext cx="2999232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F79BF74-011C-44EC-A29B-19C9954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25880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6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Lens.org 2020–2026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3DE21C1-07D3-4926-A8CA-F0453368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6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542 条原始记录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F59FB6E-5CCD-46E0-9280-348BC233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31720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522 篇有效文献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921FDF-49B6-44CD-B91A-9742B869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4640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6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 个研究问题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1DBB98D-B479-49AB-80F4-FBEB36A2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7560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6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 图 1 表核心展示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AF1500C-FA63-46FD-B891-8821718E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58384"/>
            <a:ext cx="7863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DE5EA"/>
                </a:solidFill>
                <a:latin typeface="Noto Sans CJK SC"/>
                <a:ea typeface="Noto Sans CJK SC"/>
                <a:cs typeface="Noto Sans CJK SC"/>
              </a:rPr>
              <a:t>汇报人：高俊杰  赵世铎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DDE5EA"/>
                </a:solidFill>
                <a:latin typeface="Noto Sans CJK SC"/>
                <a:ea typeface="Noto Sans CJK SC"/>
                <a:cs typeface="Noto Sans CJK SC"/>
              </a:rPr>
              <a:t>课程：文献计量学、前沿趋势追踪与项目制学习框架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E13357-8184-4F7A-BB22-D7C9A789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6327648"/>
            <a:ext cx="731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AFC0CB"/>
                </a:solidFill>
                <a:latin typeface="Noto Sans CJK SC"/>
                <a:ea typeface="Noto Sans CJK SC"/>
                <a:cs typeface="Noto Sans CJK SC"/>
              </a:rPr>
              <a:t>01/14</a:t>
            </a:r>
          </a:p>
        </p:txBody>
      </p:sp>
    </p:spTree>
    <p:extLst>
      <p:ext uri="{BB962C8B-B14F-4D97-AF65-F5344CB8AC3E}">
        <p14:creationId xmlns:p14="http://schemas.microsoft.com/office/powerpoint/2010/main" val="1419588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26ADC2-A0B0-42B4-95B1-52586621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81C8B72-5F5C-4087-AF09-83F1F376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E8E69F3-7081-4CF6-85E5-359F84FF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880B3C-826A-4F1C-AB00-55135DB8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答辩路线图：从问题到证据链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56E8F5-9B72-44C4-BAEE-0C405FA1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围绕课程要求建立“问题—数据—图表—结论—复现”的完整答辩主线。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5E17D8-EBA5-440C-AC1F-1977F00C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BB8ECD-A53C-4A8F-A46A-3A64ABD9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212848"/>
            <a:ext cx="10012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9D2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467E0B4-613A-4B0E-9E00-5D7F2DBD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700784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2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0F19B8-45F8-412D-8761-31DD356D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875E08D-0212-41D2-B050-84BAE8D2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73936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979DA33-FDDC-4D66-B2D5-35A3BA96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645920"/>
            <a:ext cx="841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288EEEC-5503-4687-A0C5-1DD92757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947672"/>
            <a:ext cx="658368" cy="27432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2700">
            <a:solidFill>
              <a:srgbClr val="E9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9B0022-1883-4D80-BC4A-EFD3E40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5303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P1–P3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336155F-05DE-4E7D-8960-E640ECC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31720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背景、目标、RQ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A4496A-2779-4994-B7B6-D2D26DA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1481328"/>
            <a:ext cx="1700784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2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4388E0A-B36C-401F-A6FE-AE5A26B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8B27A85-B810-4225-8348-817C2F18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1773936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B80E937-6009-4EC3-BE10-3796820B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1645920"/>
            <a:ext cx="841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数据与方法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C04AAE0-B531-4B41-B201-3F700545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1947672"/>
            <a:ext cx="658368" cy="27432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2700">
            <a:solidFill>
              <a:srgbClr val="E9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8CFB32D-77A0-4F60-B185-94D777DA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11680"/>
            <a:ext cx="5303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1B9AAA"/>
                </a:solidFill>
                <a:latin typeface="Noto Sans CJK SC"/>
                <a:ea typeface="Noto Sans CJK SC"/>
                <a:cs typeface="Noto Sans CJK SC"/>
              </a:rPr>
              <a:t>P4–P5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B7C0783-1A94-4BD0-BEB6-B8B69862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2331720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Lens.org、去重、流水线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0841FE-6B3E-41C1-BAB1-CA14BDB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81328"/>
            <a:ext cx="1700784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2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9D5CE5F-5206-45AB-A3E9-A2D551D0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FE2527B-0ABC-4CEA-9C8A-F053CAD7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773936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D0E3BD7-C8A1-40E6-9A9A-61EB6F0A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645920"/>
            <a:ext cx="841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证据地图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F3044C0-E9D1-4BA6-9C8E-1B89153C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947672"/>
            <a:ext cx="658368" cy="27432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2700">
            <a:solidFill>
              <a:srgbClr val="E9F1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E86EF42-4E0D-4C62-9BC4-639911D8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011680"/>
            <a:ext cx="5303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P6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8EEF6C-1EEB-4A9A-958D-B7733F2B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31720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Table 1：RQ 与图表对应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62A6B32-86F0-4271-AA5F-AC12817F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1481328"/>
            <a:ext cx="1700784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2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8C02FC2-C7A1-4A23-BF24-09F00564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211"/>
          </a:solidFill>
          <a:ln xmlns:a="http://schemas.openxmlformats.org/drawingml/2006/main" w="12700">
            <a:solidFill>
              <a:srgbClr val="C892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1BBAE15-0784-48C9-9B49-81B2D4CB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773936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73D6FB8-4DE9-468C-9F34-0BFE7AA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1645920"/>
            <a:ext cx="841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图表证据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4B4E28F-E714-456A-A7B9-8AE8AA5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1947672"/>
            <a:ext cx="658368" cy="27432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2700">
            <a:solidFill>
              <a:srgbClr val="FFF3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21088B4-9ABA-4D8E-BC1E-DC7EA4C9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2011680"/>
            <a:ext cx="5303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P7–P11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3D9384-A9FF-4579-ADC1-0174D390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331720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发文、合作、关键词、共被引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BE5F54D-B046-4691-BAEC-EA7D7A7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1481328"/>
            <a:ext cx="1700784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D2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C5C04EC-6580-4169-BA56-756E11F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82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1C2A"/>
          </a:solidFill>
          <a:ln xmlns:a="http://schemas.openxmlformats.org/drawingml/2006/main" w="12700">
            <a:solidFill>
              <a:srgbClr val="A61C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9662DDB-A12E-435A-B0FF-72D1568B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1773936"/>
            <a:ext cx="3657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8402BCA-6E91-4AF9-AD8C-627C796D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1645920"/>
            <a:ext cx="8412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收束答辩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7F204A-5177-4852-BE01-544C1E8F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1947672"/>
            <a:ext cx="658368" cy="27432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BEAE9"/>
          </a:solidFill>
          <a:ln xmlns:a="http://schemas.openxmlformats.org/drawingml/2006/main" w="12700">
            <a:solidFill>
              <a:srgbClr val="FBEA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80E3DE57-2E14-451E-9CB0-8D9D0D0E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11680"/>
            <a:ext cx="5303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A61C2A"/>
                </a:solidFill>
                <a:latin typeface="Noto Sans CJK SC"/>
                <a:ea typeface="Noto Sans CJK SC"/>
                <a:cs typeface="Noto Sans CJK SC"/>
              </a:rPr>
              <a:t>P12–P14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45176FBF-DF3A-4406-BAE5-AAED382F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2331720"/>
            <a:ext cx="13350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挑战、局限、复现与分工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AE23D03-977B-46EC-9D65-7BA14525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7413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16D689E-B56C-4C5E-B0D4-3969081B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3756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课程要求如何落到本项目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7C3E9ABB-15DB-4BE9-B851-14FAE346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67328"/>
            <a:ext cx="141823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F7B79911-DF35-46E8-980E-1063ACED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40480"/>
            <a:ext cx="130850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课程要求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B40B89FB-52DD-4248-9B6B-5308D347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602" y="3767328"/>
            <a:ext cx="122483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6CE01AB-71AB-4DCB-80F9-46515818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466" y="3840480"/>
            <a:ext cx="111511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PPT 对应页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FE303F64-79BE-4481-8D4E-E0B7DBC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441" y="3767328"/>
            <a:ext cx="38034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D3F9E236-F389-44A9-BB45-A0371A1E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05" y="3840480"/>
            <a:ext cx="36937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本项目中的证据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27DFF01A-D357-483E-A776-EB6AD5BD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51376"/>
            <a:ext cx="141823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CC58113-94D0-4FAE-BB0D-9A940D02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15384"/>
            <a:ext cx="130850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研究背景 / RQ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ED51C5C-643B-4895-A97F-B8FCAAA2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602" y="4151376"/>
            <a:ext cx="122483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DFF998D2-787E-43E4-A579-82E9B3F3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466" y="4215384"/>
            <a:ext cx="111511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P1–P3</a:t>
            </a:r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82C33A4C-0328-4B73-A113-D3C606B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441" y="4151376"/>
            <a:ext cx="38034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2AFAFDD9-6948-40EF-AC01-FF240564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05" y="4215384"/>
            <a:ext cx="369371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LLM 多智能体协作成为快速增长主题；5 个 RQ 对应 5 类计量证据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8E243B6-5DBC-4C9B-995E-07798AFD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35424"/>
            <a:ext cx="141823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E5C65417-EB34-4B13-81ED-DDBF7108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99432"/>
            <a:ext cx="130850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数据与方法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29FA24D2-C7C4-4778-B311-245D80FA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602" y="4535424"/>
            <a:ext cx="122483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6DCE9DA7-1D9F-4D25-BC5F-836D161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466" y="4599432"/>
            <a:ext cx="111511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P4–P5</a:t>
            </a:r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80B155BB-392D-4161-AD31-12B0ED62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441" y="4535424"/>
            <a:ext cx="38034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866CAEE1-D883-4E40-9B5A-DE86B017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05" y="4599432"/>
            <a:ext cx="369371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542 条原始记录 → 522 篇有效文献；DOI/Title 去重；run_pipeline.py 复现</a:t>
            </a:r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3DDFA7D9-E544-4B0F-879C-9E4337D7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19472"/>
            <a:ext cx="141823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5DE91AB8-996D-46DE-BD8D-8652D4B8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83480"/>
            <a:ext cx="130850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3 图 1 表展示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A1141C7A-1E02-4FB4-95CA-65D85C26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602" y="4919472"/>
            <a:ext cx="122483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81577B9F-26D2-4E28-B8FD-576666CB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466" y="4983480"/>
            <a:ext cx="111511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P6 / P7 / P9 / P11</a:t>
            </a:r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5B6DAEE3-B446-4555-9694-F3D65889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441" y="4919472"/>
            <a:ext cx="38034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D47A6E1C-C7AF-4A41-AD50-119E36FE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05" y="4983480"/>
            <a:ext cx="369371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Table 1 放在方法之后；年度趋势、关键词结构、共被引网络支撑结论</a:t>
            </a:r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D506B664-2DC6-4449-A209-23BED322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03520"/>
            <a:ext cx="141823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AA3A49B8-A5FC-418E-AE6D-C6B12E24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367528"/>
            <a:ext cx="130850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贡献与局限</a:t>
            </a:r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EF168867-C28D-4D17-A5F9-71FF2C1B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602" y="5303520"/>
            <a:ext cx="122483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D3B1B86D-506B-4D36-9C6F-33C8E9C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466" y="5367528"/>
            <a:ext cx="111511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P12–P14</a:t>
            </a:r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1CDCC603-92DA-4FEE-ADD3-112F4057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441" y="5303520"/>
            <a:ext cx="3803447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AB45A07F-AB59-4335-B7CB-3520B233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305" y="5367528"/>
            <a:ext cx="369371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说明增长、主体分散、技术结构与挑战，同时交代数据库与时间窗口边界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A1628625-1D55-478E-A432-3BE261F4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37413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9A2255B1-7699-4470-A0F6-1C0B2546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3337560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项目设计的核心优势</a:t>
            </a:r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45C29BA7-F328-4314-B8B6-D4A5B69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776472"/>
            <a:ext cx="3858768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0160">
            <a:solidFill>
              <a:srgbClr val="C7DA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8BC3A9DB-07DC-4209-87C5-AC24F66D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922776"/>
            <a:ext cx="7315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证据链</a:t>
            </a:r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EC98E86C-C436-4A8D-BFC3-74F6B947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77056"/>
            <a:ext cx="25786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每个结论都能回到数据、脚本或图表，而不是主观判断。</a:t>
            </a:r>
          </a:p>
        </p:txBody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7DDD1250-FA47-41E8-BB2C-E83398AC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416552"/>
            <a:ext cx="3858768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0160">
            <a:solidFill>
              <a:srgbClr val="BDE5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6EC3A5A0-6CB7-4372-87D2-2DB2B000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562856"/>
            <a:ext cx="7315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可复现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C80421A6-CF24-47B8-9FAE-242F3766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517136"/>
            <a:ext cx="25786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GitHub 中保留 config / data / src / outputs / reports / paper。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F4F4148A-469E-4873-8618-7CCE5CDA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056632"/>
            <a:ext cx="3858768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0160">
            <a:solidFill>
              <a:srgbClr val="E8C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DC2D2214-D44C-4FEE-8049-97CF81FB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5202936"/>
            <a:ext cx="7315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有边界</a:t>
            </a:r>
          </a:p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949059DC-5E56-4894-A711-2221BD59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5157216"/>
            <a:ext cx="25786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讲清楚 2026 非完整年份、Lens 数据库覆盖和图谱解释限制。</a:t>
            </a:r>
          </a:p>
        </p:txBody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F7E01E78-524A-46FA-A1DC-263BB868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15584"/>
            <a:ext cx="1060704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0160">
            <a:solidFill>
              <a:srgbClr val="E8C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Text 86">
            <a:extLst xmlns:a="http://schemas.openxmlformats.org/drawingml/2006/main">
              <a:ext uri="{FF2B5EF4-FFF2-40B4-BE49-F238E27FC236}">
                <a16:creationId xmlns:a16="http://schemas.microsoft.com/office/drawing/2014/main" id="{BB37BEF3-8231-47B7-B0A9-00A3A7D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980176"/>
            <a:ext cx="1024128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答辩主线：研究问题 → 数据方法 → 图表证据 → 贡献局限 → 复现分工。</a:t>
            </a:r>
          </a:p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32D29121-4FA9-4572-B316-C66D7B52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F8B3F670-4964-4A77-B59E-50B8F58E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1924172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73BDFC-E259-4106-8841-5E9A9462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53CB9C-7090-47BA-BC29-7EAA1E7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19746A-06A6-4A60-B179-B81DC7C9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5EBFA62-A79B-4584-8FFC-3AB9A3C1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研究背景与项目定位：为什么值得做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CE5665E-1AB2-42B2-A9F1-3274B451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从选题动机、研究缺口与项目目标出发，说明本项目为什么需要采用文献计量方法。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8D72F85-B799-466B-99C6-D7D635F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3E758DB-607E-44F7-B1DA-DB3BE15A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3E62A8-725A-4C56-8F9B-3A87CB0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316736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研究背景：从单模型到多智能体协作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25C1709-E683-4AB9-AFBA-9B54178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55648"/>
            <a:ext cx="534924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8C3BAC-DF13-4BB5-A26C-E289A71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29968"/>
            <a:ext cx="4828032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9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LLM 研究不再只关注单次问答能力，而开始转向工具调用、任务分解、角色协同和自动化工作流。
</a:t>
            </a:r>
            <a:r>
              <a:rPr sz="109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Multi-agent collaboration 把模型、工具、环境和人类监督连接起来，天然具有跨学科特征。
</a:t>
            </a:r>
            <a:r>
              <a:rPr sz="109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文献增长很快，但主题边界、核心作者、知识基础和未来挑战仍需要用数据梳理。
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0B1D70D-6D5A-4E98-959D-E9635FF0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353312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7A3A4B-6EF3-4B21-815E-904D2682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316736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课程任务：不是“做图”，而是回答问题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C7CE8C6-0D53-4BE3-9407-43DE8099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55648"/>
            <a:ext cx="4709160" cy="1847088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86E9D7-DCC8-4E6A-AA22-C43DE360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029968"/>
            <a:ext cx="4187952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RQ 要能被指标、图表或代表文献回答。
</a:t>
            </a:r>
            <a:r>
              <a:rPr sz="11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每张图都必须说明支持什么结论、不能推出什么。
</a:t>
            </a:r>
            <a:r>
              <a:rPr sz="11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最终需要形成可复现、可解释、可答辩的项目闭环。
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C6ECAB6-56AE-46FD-A665-B17CADB7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78224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11"/>
          </a:solidFill>
          <a:ln xmlns:a="http://schemas.openxmlformats.org/drawingml/2006/main" w="12700">
            <a:solidFill>
              <a:srgbClr val="C892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DB1482-F7B9-4D20-85A1-F686391A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41648"/>
            <a:ext cx="3017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本项目的核心做法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B37659C-7161-439E-9502-555A40C7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2212848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0160">
            <a:solidFill>
              <a:srgbClr val="C7DA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E493893-96F8-4009-8028-C3977C48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63440"/>
            <a:ext cx="1865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Lens 检索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11779A9-6299-43D3-AF7D-831875F0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956048"/>
            <a:ext cx="18653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542 条原始记录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73B7D17-3F60-49E0-A335-FCD39FF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4498848"/>
            <a:ext cx="2212848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0160">
            <a:solidFill>
              <a:srgbClr val="BDE5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9450E3-0D46-4E6A-A7DB-952F285B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663440"/>
            <a:ext cx="1865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数据清洗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3EC7362-9A6B-4737-94AC-44DCC853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956048"/>
            <a:ext cx="18653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DOI / Title 去重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4BFA1CF-CF26-4651-9603-FC924008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498848"/>
            <a:ext cx="2212848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0160">
            <a:solidFill>
              <a:srgbClr val="E8C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3AD8480-B243-4C7E-83D3-831643F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663440"/>
            <a:ext cx="1865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计量图谱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0C6F5D3-0E7E-4937-8B36-69187F2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956048"/>
            <a:ext cx="18653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趋势、合作、关键词、引用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22E8BAE-A806-4220-87F6-C6843B51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4498848"/>
            <a:ext cx="2212848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EAE9"/>
          </a:solidFill>
          <a:ln xmlns:a="http://schemas.openxmlformats.org/drawingml/2006/main" w="10160">
            <a:solidFill>
              <a:srgbClr val="E1B4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04C7FD7-C503-4A2E-ACE4-B6CE9EC3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663440"/>
            <a:ext cx="1865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A61C2A"/>
                </a:solidFill>
                <a:latin typeface="Noto Sans CJK SC"/>
                <a:ea typeface="Noto Sans CJK SC"/>
                <a:cs typeface="Noto Sans CJK SC"/>
              </a:rPr>
              <a:t>综述转化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A856130-0AED-4D3B-840B-47DAEC35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956048"/>
            <a:ext cx="18653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mini review 与答辩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9D1E245-7930-426F-AF66-D9E5A94B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5486400"/>
            <a:ext cx="7680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C9D2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C6D18B7-59E4-455F-B8DE-422A89F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06440"/>
            <a:ext cx="10652760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0160">
            <a:solidFill>
              <a:srgbClr val="C7DA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9E95929-32D6-4AC7-81B8-3A349D61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971032"/>
            <a:ext cx="102870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项目定位：用文献计量证据建立领域发展脉络，并将图谱结果转化为 mini review 的技术叙事线。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9576E72-EF70-4938-949D-A61DD82B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599BDDA-AE20-4F8E-AD1C-1987A60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1015483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865FCCE-546A-4509-865F-A8ABDB73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7E0E54-D0AA-4D93-98F7-7DF3E352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138477-8AEE-4507-94C2-B7B08B31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034EF4-00D9-4D2F-8704-70DD076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数据来源与质量控制：样本怎么来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7AD5524-E74F-425F-A275-0BD93F29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检索口径与字段质量决定后续发文趋势、合作网络和共被引分析的可信度。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75A0744-FA86-4BB2-A908-29F26A76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D11DD5-3978-45CE-B2F2-81B319C0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155448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9D78C98-8630-40B8-9B6A-D1CBE3D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6D8DE6-15BD-4880-9D9B-3FD333A0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081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542 条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CBE04D8-6BAD-4224-A57C-21EAC41E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28216"/>
            <a:ext cx="12984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Lens.org 初始检索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A6FEBA8-2B6D-4AFA-9D60-04F13DA5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298448"/>
            <a:ext cx="155448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FC82059-847C-4D23-AD06-8DB617BB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29844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C2A"/>
          </a:solidFill>
          <a:ln xmlns:a="http://schemas.openxmlformats.org/drawingml/2006/main" w="12700">
            <a:solidFill>
              <a:srgbClr val="A61C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41CC6A-0837-44F1-A300-57B4C6F4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14081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A61C2A"/>
                </a:solidFill>
                <a:latin typeface="Noto Sans CJK SC"/>
                <a:ea typeface="Noto Sans CJK SC"/>
                <a:cs typeface="Noto Sans CJK SC"/>
              </a:rPr>
              <a:t>-20 条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75931E4-F420-45D2-AE32-CBD9D257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1728216"/>
            <a:ext cx="12984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DOI / Title 去重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955B31A-E039-4984-9F8B-11E10A37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1298448"/>
            <a:ext cx="155448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C8A6DA4-B7B9-4F6B-B527-80E7EE4A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129844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2A6731F-8A7A-4598-A985-F007F584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4081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522 篇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043EEAA-9A2F-4C44-BF83-DC6725E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728216"/>
            <a:ext cx="12984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有效样本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D8040DF-E693-4724-A8B0-F1238425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298448"/>
            <a:ext cx="155448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3A0696D-6F0D-4282-9D0C-BEC7790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29844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11"/>
          </a:solidFill>
          <a:ln xmlns:a="http://schemas.openxmlformats.org/drawingml/2006/main" w="12700">
            <a:solidFill>
              <a:srgbClr val="C892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043EA32-F417-45D3-8FDC-427B6A81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4081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3.69%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92AFD36-C5D8-4C09-AB00-10AB7038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728216"/>
            <a:ext cx="12984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去重率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4C999DE-816A-4736-ACCE-C199D87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416" y="1298448"/>
            <a:ext cx="155448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FF74A0A-8463-4344-BF38-12A94F1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416" y="129844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83A58C8-C58C-4A75-BEA7-12811554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4081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9AAA"/>
                </a:solidFill>
                <a:latin typeface="Noto Sans CJK SC"/>
                <a:ea typeface="Noto Sans CJK SC"/>
                <a:cs typeface="Noto Sans CJK SC"/>
              </a:rPr>
              <a:t>73.18%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2E5E6F1-CC53-4368-A6B6-7180463B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728216"/>
            <a:ext cx="129844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开放获取比例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F068F03-0C04-4AD5-8768-257298FA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298448"/>
            <a:ext cx="1572768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AD7E1E4-895E-42AF-B261-AECFFE03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29844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6DB0028-2B6C-41A1-BBF7-1CCC2EC2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408176"/>
            <a:ext cx="1316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2020–2026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5386E7C-E61C-4F6E-A82B-53F41A5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728216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时间范围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A58CB78-2D09-4062-9A67-0EC1229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78608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A4AF275-2324-4BAA-9781-3A12D7F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42032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检索逻辑：Object × Method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3145E86-624F-49DD-9BAA-99884D93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71800"/>
            <a:ext cx="5257800" cy="1115568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67DA05D-CEFD-42DD-8E60-9B651A6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18688"/>
            <a:ext cx="786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Object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9E91EA4-EF35-45C8-823B-67E28B85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200400"/>
            <a:ext cx="39502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Large Language Model*, LLM*, Generative AI, Foundation Model*, ChatGPT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246329D5-9922-4BF3-A162-9CF0265B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0168"/>
            <a:ext cx="4617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F7C1F3D-606A-43C6-8C06-D4CEAF67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1608"/>
            <a:ext cx="7863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Method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D3CCA76-B824-42AB-8293-5500C3DE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03320"/>
            <a:ext cx="39502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Multi-agent*, Collaboration, Coordination, Cooperation, Multi-agent system*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D22E752-A647-461E-B98E-2FA11559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78608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73F15A4-A7B5-4488-B369-FBDFA164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2542032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核心字段覆盖率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DB863BBA-54F1-46BB-AF59-C6A4C408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71800"/>
            <a:ext cx="129296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7AEFE3F-B95B-40E0-A133-4B69DA3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3044952"/>
            <a:ext cx="1183234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字段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132F7FB-C838-4A18-838B-D41FF63E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482" y="2971800"/>
            <a:ext cx="1108253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3D6CE9F8-5B2D-4BB4-BE7A-950517F8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346" y="3044952"/>
            <a:ext cx="998525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覆盖率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0DF9A89E-92BB-4710-A41B-378D5F30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734" y="2971800"/>
            <a:ext cx="2216506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AAFDEAF-14C9-42F3-B284-C3333BEC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598" y="3044952"/>
            <a:ext cx="210677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用途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17C9DCC-C9D3-410C-8AB3-DB9B87B6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291840"/>
            <a:ext cx="129296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6D4715DE-9340-4AB4-9F69-F77835F3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3355848"/>
            <a:ext cx="118323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Title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F578D7F0-CC32-432E-B5D6-F8DFC6CE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482" y="3291840"/>
            <a:ext cx="1108253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4EA41F5B-819D-4A6B-AE7E-53E926A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346" y="3355848"/>
            <a:ext cx="99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100.00%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28C3292-4C17-4049-A298-B2AC7AAA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734" y="3291840"/>
            <a:ext cx="2216506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FA835855-BD66-4A2F-9799-C9F30ECC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598" y="3355848"/>
            <a:ext cx="210677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标题词频与主题分析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AB74D513-0B0A-4BC5-94A1-6782220D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611880"/>
            <a:ext cx="129296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740B5450-5124-43F1-8B54-0985482E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3675888"/>
            <a:ext cx="118323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Year</a:t>
            </a:r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78FB76DE-B094-4925-81C5-7EBA345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482" y="3611880"/>
            <a:ext cx="1108253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1E4D9BC5-FF8A-46E7-A573-D371C589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346" y="3675888"/>
            <a:ext cx="99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100.00%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3B06A25-4F10-4B37-99CC-9679E344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734" y="3611880"/>
            <a:ext cx="2216506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0635FC34-2EE5-40AD-93FC-299E9D4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598" y="3675888"/>
            <a:ext cx="210677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年度趋势与阶段判断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8B218CC8-2388-4505-B2F6-56F9516A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31920"/>
            <a:ext cx="129296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09D07B12-ED63-44FB-AAAA-CDFAFDF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3995928"/>
            <a:ext cx="118323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Abstract</a:t>
            </a:r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010F492B-4191-4E0E-A25C-17E5FB4C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482" y="3931920"/>
            <a:ext cx="1108253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81DCE162-6387-493C-98D8-4BFD116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346" y="3995928"/>
            <a:ext cx="99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98.28%</a:t>
            </a:r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39A932A4-B556-42DE-8396-C801E6E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734" y="3931920"/>
            <a:ext cx="2216506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56AB925A-990E-468A-AF52-0CD9B5FB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598" y="3995928"/>
            <a:ext cx="210677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语义扩展与主题解释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AC58B5CF-50DA-426D-B6A5-7B665295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51960"/>
            <a:ext cx="129296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DD8C2359-25F6-46C8-9DC1-CC412F41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4315968"/>
            <a:ext cx="118323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References</a:t>
            </a:r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91AC516B-5ECB-4749-888C-CF00B585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482" y="4251960"/>
            <a:ext cx="1108253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9DE3DF61-0243-4080-90A0-F3BF2F3F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346" y="4315968"/>
            <a:ext cx="99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81.99%</a:t>
            </a:r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28357176-91D1-4CB8-9D75-55EE3E2E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734" y="4251960"/>
            <a:ext cx="2216506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C63DD08A-5848-4A92-A521-0487CAFD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598" y="4315968"/>
            <a:ext cx="210677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引用网络与共被引</a:t>
            </a:r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D7DE8D84-234A-4928-B821-7220826F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72000"/>
            <a:ext cx="129296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CA567F55-69FE-48B5-9A99-A828F86D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4636008"/>
            <a:ext cx="118323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DOI</a:t>
            </a:r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FEC22995-AD83-4813-8CB1-B21B8F20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482" y="4572000"/>
            <a:ext cx="1108253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8FD52525-B4AE-49C1-BEDF-59DB30ED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346" y="4636008"/>
            <a:ext cx="99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99.81%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E6853117-6AAA-49D0-9FE9-BC47E930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734" y="4572000"/>
            <a:ext cx="2216506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DB340CC5-C8F8-470D-B7FE-1D011415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598" y="4636008"/>
            <a:ext cx="210677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去重、溯源与 milestone 识别</a:t>
            </a:r>
          </a:p>
        </p:txBody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C2C048E8-F1C5-4E66-8CE7-9407CE44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6527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0160">
            <a:solidFill>
              <a:srgbClr val="C7DA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8079FFC6-0DC0-4715-BB48-747C6D72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605272"/>
            <a:ext cx="10287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边界说明：2026 年是采集时点数据，年份尚未结束，因此只作为阶段性观察，不与完整年份直接比较。</a:t>
            </a:r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2E901D12-FF08-4C83-99AF-218CE60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5FB0597E-1F94-46E4-90A9-348D2D47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4/14</a:t>
            </a:r>
          </a:p>
        </p:txBody>
      </p:sp>
    </p:spTree>
    <p:extLst>
      <p:ext uri="{BB962C8B-B14F-4D97-AF65-F5344CB8AC3E}">
        <p14:creationId xmlns:p14="http://schemas.microsoft.com/office/powerpoint/2010/main" val="187600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72338C2-C3A2-4EAA-B8E4-6764AB4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9EBF730-721E-420A-B828-0C576946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0B7654B-68ED-4E5C-9F5F-954BFCC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594309E-BBA9-48CD-A8B0-5F22E6EF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方法框架与复现流水线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9048929-AA61-4A8C-9703-E48C820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本项目采用“定量指标 + 知识图谱 + 综述解释”的组合方法。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0352962-1913-4315-B491-0B83EE97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7FCB277-815F-45F4-A394-45804C6E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6629400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fbc1b582942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" y="1384485"/>
            <a:ext cx="6483096" cy="4125607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6956B73-1658-4237-9027-5DB25D2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36245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D790C10-E8E6-42EE-9C35-1A07D8CE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132588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分析维度与输出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EFAEF18-C26B-4EDB-92D5-2F22EF5B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773936"/>
            <a:ext cx="3886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数据清洗：Pandas 去重后得到 522 篇有效文献。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年度趋势：发文增长、增长率、总被引、h 指数。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网络分析：关键词共现、作者合作、机构/国家、引用与共被引。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敏感性分析：阈值扫描与时间窗口比较，验证结论稳健性。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综述写作：将图谱证据转化为 mini review 的技术叙事线。
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FA2F7E7-F0B9-4641-AA9A-51D656F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931920"/>
            <a:ext cx="3858768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E0FFFEC-541A-49A1-940F-D3668A2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6052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一键复现入口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50FAFA9-A92B-4893-901A-E23BDFBB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480560"/>
            <a:ext cx="3246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A32"/>
                </a:solidFill>
                <a:latin typeface="Aptos Mono"/>
                <a:ea typeface="Aptos Mono"/>
                <a:cs typeface="Aptos Mono"/>
              </a:rPr>
              <a:t>pip install -r requirements.txt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A32"/>
                </a:solidFill>
                <a:latin typeface="Aptos Mono"/>
                <a:ea typeface="Aptos Mono"/>
                <a:cs typeface="Aptos Mono"/>
              </a:rPr>
              <a:t>python run_pipeline.py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B1452E6-8867-40C2-965F-49A56D8F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69280"/>
            <a:ext cx="10588752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0160">
            <a:solidFill>
              <a:srgbClr val="E8C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D2D02DC-8BA0-4294-9F36-DB5C21A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833872"/>
            <a:ext cx="102229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亮点：所有结论都能回到 config / data / src / outputs / reports / paper，而不是单纯口头判断。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9D258E7-6B57-42DC-B566-B3E2B487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5D39BC9-1A3B-4F00-8797-DAA8C76F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1808931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FE3ED4-0197-4DBA-BBB8-BE32477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D398C70-F994-464F-8F10-C1AC257C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B4571F3-9F4B-4F9B-B150-47EEA1C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4CD4F57-A749-4269-8123-108E3379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Table 1｜RQ—方法—图表证据对应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264073-A36B-4B2F-8C97-41EE82EA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将 5 个研究问题与对应方法、图表证据和解释边界对齐。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0AE1A91-1DB3-497B-8BBE-CA85F48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8C47D82-1C72-4480-A9FF-D80942D3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261872"/>
            <a:ext cx="791139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CDF564C-3977-45AD-8583-4242C132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335024"/>
            <a:ext cx="681411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RQ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BEA6BA-A7A4-4988-9583-C3E16D3D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1" y="1261872"/>
            <a:ext cx="3051536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B32C4D-CEB8-486A-85E5-F347CED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5" y="1335024"/>
            <a:ext cx="2941808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核心 Claim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00C28A3-540C-4E0E-86DC-63722D1F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587" y="1261872"/>
            <a:ext cx="2147377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589FFF-6A47-49E6-9E08-904A4194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451" y="1335024"/>
            <a:ext cx="2037649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分析方法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9589D66-619F-4F7E-91F2-1CF6400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964" y="1261872"/>
            <a:ext cx="3616635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D94518-8B1D-422C-8782-85173CDC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828" y="1335024"/>
            <a:ext cx="3506907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后续图表 / 数据支撑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60D383-6AFB-46A2-AAF1-8A24A0E7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598" y="1261872"/>
            <a:ext cx="1695298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853F0C-3761-4F9E-B59F-5AB82D48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462" y="1335024"/>
            <a:ext cx="158557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解释边界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225DCA2-22C8-479B-912B-89D740E9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819656"/>
            <a:ext cx="791139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25EC6C-6A62-4651-8FF7-75FF2818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883664"/>
            <a:ext cx="681411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RQ1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7BA9DB6-C6A4-4DFE-87FE-21B6DDFD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1" y="1819656"/>
            <a:ext cx="3051536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7F0FBC6-7B41-4B46-9166-97C1C458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5" y="1883664"/>
            <a:ext cx="2941808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发文量在 2024–2025 出现跃迁，领域进入快速扩张。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104228E-286C-4DB2-B4EE-7E13501B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587" y="1819656"/>
            <a:ext cx="2147377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D1B4EDD-38B0-4C71-8824-578F6B0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451" y="1883664"/>
            <a:ext cx="2037649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年度统计、增长率、影响力指标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87C9BF5-0170-49EC-8837-004B7F6B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964" y="1819656"/>
            <a:ext cx="3616635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A009DE4-3763-49B7-A0D0-1F0885EA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828" y="1883664"/>
            <a:ext cx="3506907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Fig.2；2020=1，2024=81，2025=344；AGR=181.29%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70BCEA3-2882-4760-8C86-65292826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598" y="1819656"/>
            <a:ext cx="1695298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C896D29-49E4-4B96-9F3A-4EEE601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462" y="1883664"/>
            <a:ext cx="158557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增长代表关注度上升，不等于技术成熟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2501011-8879-4739-881C-89CC8A5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377440"/>
            <a:ext cx="791139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A5EA44C-38BB-4278-B72F-F49CACB3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441448"/>
            <a:ext cx="681411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RQ2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87F9C9C-430B-477A-8C86-4E673989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1" y="2377440"/>
            <a:ext cx="3051536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CAE63B5-6B19-4771-86EA-6BA346D8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5" y="2441448"/>
            <a:ext cx="2941808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作者很多但重复合作弱，稳定核心团队尚未形成。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A98A64D-1D3C-42D4-BC5E-2FFA4893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587" y="2377440"/>
            <a:ext cx="2147377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F469EE5-BD80-42C9-8B94-68F917DB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451" y="2441448"/>
            <a:ext cx="2037649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作者合作网络、阈值过滤、机构/国家分布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B8E7305F-AD95-4A87-8B89-40918BA7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964" y="2377440"/>
            <a:ext cx="3616635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B8BA54F-4C96-4F85-BE6A-0B5C7C33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828" y="2441448"/>
            <a:ext cx="3506907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作者约 2,565；原始 2,502 节点/12,227 边；过滤后 51 节点/48 边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2E248A7-BE37-4E74-8893-55EB01CA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598" y="2377440"/>
            <a:ext cx="1695298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95B6EE3-F30D-4C54-9BCC-D560AFAC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462" y="2441448"/>
            <a:ext cx="158557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合作图不能直接评价作者/机构质量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20F0F51-09E4-41A4-A16D-6E698902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935224"/>
            <a:ext cx="791139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2D08BF3-E626-42D7-AE7F-CBE0E251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999232"/>
            <a:ext cx="681411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RQ3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9A00C8F-5415-4F9A-8C24-048660C7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1" y="2935224"/>
            <a:ext cx="3051536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D8C9528C-36F9-4E98-A086-CEA53280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5" y="2999232"/>
            <a:ext cx="2941808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热点从单模型能力转向系统协作机制。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6C7AC6-5F93-4D6A-80E9-1640740F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587" y="2935224"/>
            <a:ext cx="2147377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E8C8065-B71A-45DE-A626-08A0B9D6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451" y="2999232"/>
            <a:ext cx="2037649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关键词共现、主题归纳、四层架构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11848008-D35B-4E2F-A795-B549F0E6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964" y="2935224"/>
            <a:ext cx="3616635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CD78966-019D-4FB3-9CC1-EFFE9922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828" y="2999232"/>
            <a:ext cx="3506907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227 关键词、2,087 共现边；AI=56，LLMs=45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EF0F2376-1ABD-4F8A-9B45-015994F6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598" y="2935224"/>
            <a:ext cx="1695298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F7F3F57-1114-433B-A2DC-6DF5D942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462" y="2999232"/>
            <a:ext cx="158557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关键词反映文献关注，不等于效果验证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9523856D-9287-498C-BF02-AF1D50EF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493008"/>
            <a:ext cx="791139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FB0509B8-6097-48C5-B3EA-5E472460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3557016"/>
            <a:ext cx="681411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RQ4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3CF6391E-73C3-4423-9113-BE60E955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1" y="3493008"/>
            <a:ext cx="3051536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7425DA7D-F8AC-4E81-8BE1-9EA7183C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5" y="3557016"/>
            <a:ext cx="2941808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高被引论文共同构成 mini review 的知识骨架。</a:t>
            </a:r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B255ACB2-B49C-4BD8-9E40-A1D16939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587" y="3493008"/>
            <a:ext cx="2147377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7086A421-85AB-43EC-A373-70D55C95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451" y="3557016"/>
            <a:ext cx="2037649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高被引识别、milestone 矩阵、共被引网络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E8E5410-AC00-4BF9-846F-BD1C8BF1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964" y="3493008"/>
            <a:ext cx="3616635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01A6B276-B889-4C19-BB16-286F9E86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828" y="3557016"/>
            <a:ext cx="3506907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Top5 被引：352 / 259 / 173 / 136 / 109；Fig.4 &amp; Fig.6</a:t>
            </a:r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00341556-EEE8-4848-87F5-F1C77AA3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598" y="3493008"/>
            <a:ext cx="1695298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459EC8D1-FB64-4F48-BAAF-56174149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462" y="3557016"/>
            <a:ext cx="158557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被引高不必然表示结论更正确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0730DBE4-C81E-417E-BDC9-ED16F8D8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4050792"/>
            <a:ext cx="791139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12462D4C-C366-444E-B3B9-BE4DEE16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4114800"/>
            <a:ext cx="681411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RQ5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6D9E816E-65F1-4EE6-AF58-2399215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51" y="4050792"/>
            <a:ext cx="3051536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D3E50AFB-6BCF-49D6-A8F2-675EBCB8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15" y="4114800"/>
            <a:ext cx="2941808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评价、解释性、场景验证与安全治理是主要挑战。</a:t>
            </a:r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A088A38E-28D3-4AEC-8A35-46C20E31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587" y="4050792"/>
            <a:ext cx="2147377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043C1412-68A4-434D-8E44-7732878F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451" y="4114800"/>
            <a:ext cx="2037649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证据链归纳、Discussion 结构化总结</a:t>
            </a:r>
          </a:p>
        </p:txBody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B3439ABA-24A9-4A07-9965-EDC3AA7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964" y="4050792"/>
            <a:ext cx="3616635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54613633-3A2A-43FA-886D-967AE46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828" y="4114800"/>
            <a:ext cx="3506907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Fig.5；由增长、分散合作、多主题并行共同支撑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A57D320B-89E8-4EF3-AF4A-CDCD9E99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5598" y="4050792"/>
            <a:ext cx="1695298" cy="557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0CA12531-824A-40BD-9968-B000D4F5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462" y="4114800"/>
            <a:ext cx="1585570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5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未来方向是基于现有文献的归纳</a:t>
            </a:r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EDA14DBE-D298-445C-B0CF-4D04B1B9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30368"/>
            <a:ext cx="324612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0160">
            <a:solidFill>
              <a:srgbClr val="BDE5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BDBB077D-0A80-4689-B2EF-DA0DFAE4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49824"/>
            <a:ext cx="2788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分析范式：Claim → Evidence → Boundary</a:t>
            </a:r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8EC59F76-77D9-49EF-8642-41F26209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5230368"/>
            <a:ext cx="324612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0160">
            <a:solidFill>
              <a:srgbClr val="C7DA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F8A6E108-1D9C-4FE2-86FF-4640D121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5449824"/>
            <a:ext cx="2788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4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作用：防止“图很多但不知道回答什么问题”</a:t>
            </a:r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329F9AC7-D405-4DD1-A9C7-6C796B56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5230368"/>
            <a:ext cx="324612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0160">
            <a:solidFill>
              <a:srgbClr val="E8C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92676FE6-97F9-4AA5-9AAF-2F7E447C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449824"/>
            <a:ext cx="28163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边界：所有结论只在 Lens.org 2020–2026 样本内成立</a:t>
            </a:r>
          </a:p>
        </p:txBody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018D4198-19F9-47C7-8631-2F625FF8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89320"/>
            <a:ext cx="1065276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0160">
            <a:solidFill>
              <a:srgbClr val="E8C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08C60A26-728F-40CE-BFBB-3C0CADF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153912"/>
            <a:ext cx="1028700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结果组织：第 7–12 页按照 RQ 顺序展开，每个研究问题均由对应图表和量化指标支撑。</a:t>
            </a:r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48DA77A7-863D-46E7-86A9-86D9F534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F1F59B9C-652B-4B02-8056-93459C84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6/14</a:t>
            </a:r>
          </a:p>
        </p:txBody>
      </p:sp>
    </p:spTree>
    <p:extLst>
      <p:ext uri="{BB962C8B-B14F-4D97-AF65-F5344CB8AC3E}">
        <p14:creationId xmlns:p14="http://schemas.microsoft.com/office/powerpoint/2010/main" val="1985371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BA6FB4-FCF2-4F80-BF58-BF6734C0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8A6DBD-BEF0-4B36-BC8C-265C4226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60808E-329D-4D81-A005-9810CEC3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AC36BC5-F86F-4A43-8C0D-EF5A4827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RQ1：发文量变化与发展阶段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6AA6F1-F989-4CF4-8D4F-6CBB8C78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核心结论：2024–2025 年出现明显跃迁，领域从早期探索进入高速扩张。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6482B81-C6F2-4BE2-89CD-290336DB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3DA9214-E33D-4C3B-A17E-EDC1F458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6720840" cy="438912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b8572bb934e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" y="1401110"/>
            <a:ext cx="6574536" cy="4183796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BA61CD6-C9F6-4568-91CB-F6640B70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35024"/>
            <a:ext cx="15087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7E95D79-6BC4-4F13-8403-223E32AC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35024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1A90B13-A382-4CE1-A8B1-399C62E8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444752"/>
            <a:ext cx="1252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1 篇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D5A07ED-D59C-4291-AC3F-BA9FFFF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764792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2020 年发文量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52BDF55-DAE9-4ED6-8838-40A5CB34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335024"/>
            <a:ext cx="15087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0F9F59B-2E66-4148-8A7A-02139D39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1335024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E950FAC-F71F-40DD-938B-53726046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1444752"/>
            <a:ext cx="1252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9AAA"/>
                </a:solidFill>
                <a:latin typeface="Noto Sans CJK SC"/>
                <a:ea typeface="Noto Sans CJK SC"/>
                <a:cs typeface="Noto Sans CJK SC"/>
              </a:rPr>
              <a:t>81 篇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BECEF83-94A9-4DD4-9524-FB967654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1764792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2024 年发文量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2039D4F-4CF9-4592-A144-28D7B19D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0864"/>
            <a:ext cx="15087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9871CEC-B10D-48D9-956E-AE353DC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0864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12BC52-8DED-420C-AAF8-DBA6B91A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450592"/>
            <a:ext cx="1252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344 篇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4BEEE7F-181F-4EF9-A008-F6BCCB75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770632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2025 年发文量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E9BD123-F274-49F3-936F-2562A8FE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340864"/>
            <a:ext cx="150876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7B4CF10-564D-441F-9653-83DF77A9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340864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11"/>
          </a:solidFill>
          <a:ln xmlns:a="http://schemas.openxmlformats.org/drawingml/2006/main" w="12700">
            <a:solidFill>
              <a:srgbClr val="C892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97F6A1A7-F92C-44CA-A1B4-6A6E7987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450592"/>
            <a:ext cx="12527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325%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177F167-B228-4D6B-B1F8-AD937F1C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770632"/>
            <a:ext cx="12527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2025 同比增长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AB5163F9-6A2C-4882-B63D-2134E592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29000"/>
            <a:ext cx="32918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3F2FAA1-DD09-4F60-BA2D-A1B6D37E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657600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证据解释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4BC4EB3-DD57-4F4B-BA8D-847019E2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950208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2024 年 agentic AI、工具调用、RAG 和自动化工作流成为独立热点；2025 年发文量增至 344 篇，说明研究活动迅速扩张。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1F49100F-749A-464C-AC8D-C717C82F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06440"/>
            <a:ext cx="10378440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0160">
            <a:solidFill>
              <a:srgbClr val="C7DA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F4DE324-6A91-45FA-AC25-18A78021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971032"/>
            <a:ext cx="100126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补充指标：总被引 4,265，h 指数 31。边界：热度上升不等于应用成熟，新近论文仍需引用积累。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FFD345B-92A4-43DB-AAB8-EA62F347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62A847B4-2B10-4989-A385-1B931461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7/14</a:t>
            </a:r>
          </a:p>
        </p:txBody>
      </p:sp>
    </p:spTree>
    <p:extLst>
      <p:ext uri="{BB962C8B-B14F-4D97-AF65-F5344CB8AC3E}">
        <p14:creationId xmlns:p14="http://schemas.microsoft.com/office/powerpoint/2010/main" val="2103478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DA86EB1-253E-4512-9513-B5422CC0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42C7D78-B271-40B9-8294-A4FE92A0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5DAAD9-81DD-4DE5-9A4A-C67F89AE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37F7AE-A135-4DAE-A081-862C5A93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RQ2：核心研究主体与合作格局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7D56210-815C-4D73-B5C4-E01112BE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核心结论：研究力量高度分散，尚未形成稳定核心团队。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114BFE-081D-4B81-9120-0CFDE61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EB60A54-21AA-4544-A577-65466A8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6245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24A14FA-A92D-4187-8775-767F02BC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32588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合作网络量化证据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D8B0733-7DB7-4B32-A268-7A3BD07C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10512"/>
            <a:ext cx="1975104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11A4CE4-02DE-4449-A1A4-D075736F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10512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28BC6AC-2D6F-4968-AAEB-4303B514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0240"/>
            <a:ext cx="1719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约 2,565 人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C57E8F-75EA-4D37-8465-087DB42D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1719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作者总数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4F4AF5D-915D-4C16-8732-41B2448B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1810512"/>
            <a:ext cx="1975104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E7F6264-BE72-451F-9D84-401E43BB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1810512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D92A657-030D-4E5F-B0AC-BBF76BE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920240"/>
            <a:ext cx="1719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约 5.10 人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9142C79-F885-4826-9ED3-D549C76F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240280"/>
            <a:ext cx="1719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篇均作者数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6F501DD-385D-4DCC-8A25-5DC966E4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61488"/>
            <a:ext cx="1975104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0BB88ED-F2FE-4662-AAF0-67CBAFCB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6148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3A24D95-2807-449E-8AD1-74EF4C5F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1216"/>
            <a:ext cx="1719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9AAA"/>
                </a:solidFill>
                <a:latin typeface="Noto Sans CJK SC"/>
                <a:ea typeface="Noto Sans CJK SC"/>
                <a:cs typeface="Noto Sans CJK SC"/>
              </a:rPr>
              <a:t>2,502 节点</a:t>
            </a:r>
          </a:p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9AAA"/>
                </a:solidFill>
                <a:latin typeface="Noto Sans CJK SC"/>
                <a:ea typeface="Noto Sans CJK SC"/>
                <a:cs typeface="Noto Sans CJK SC"/>
              </a:rPr>
              <a:t>12,227 边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D13F86A-F851-4325-BE26-2AAA248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1256"/>
            <a:ext cx="1719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原始合作网络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29ACB10-DE35-4DDF-A092-2EB90C1C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2761488"/>
            <a:ext cx="1975104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E083AB2-98CD-46E2-8A2C-DC1ED846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276148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11"/>
          </a:solidFill>
          <a:ln xmlns:a="http://schemas.openxmlformats.org/drawingml/2006/main" w="12700">
            <a:solidFill>
              <a:srgbClr val="C892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216E9E8-B7EB-45B7-8EDD-3C43772C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871216"/>
            <a:ext cx="1719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51 节点</a:t>
            </a:r>
          </a:p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48 边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7EF77DB-CEBE-4991-9B2F-C608B16D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3191256"/>
            <a:ext cx="1719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过滤后网络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B2484AC-C25F-4269-A1E0-A14C4FF0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12464"/>
            <a:ext cx="1975104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991ED2B-75F8-43A2-8A46-55D38DA4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12464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C2A"/>
          </a:solidFill>
          <a:ln xmlns:a="http://schemas.openxmlformats.org/drawingml/2006/main" w="12700">
            <a:solidFill>
              <a:srgbClr val="A61C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7EE6B5C-F85E-4DD2-A095-79972EE5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2192"/>
            <a:ext cx="1719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A61C2A"/>
                </a:solidFill>
                <a:latin typeface="Noto Sans CJK SC"/>
                <a:ea typeface="Noto Sans CJK SC"/>
                <a:cs typeface="Noto Sans CJK SC"/>
              </a:rPr>
              <a:t>3 篇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0665A6F-0201-423E-8BEC-AB7C457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2232"/>
            <a:ext cx="17190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最高产作者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B4DE1A9-7BD6-4311-BE69-A1FE6FBD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50992"/>
            <a:ext cx="10625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0160">
            <a:solidFill>
              <a:srgbClr val="E8C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D0709A1-4F7C-4683-A44C-6D203BB2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806440"/>
            <a:ext cx="10259568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边界：机构 / 国家字段可能受元数据缺失或格式差异影响，更适合解释为“研究力量分布线索”，不是绝对排名。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A87D1BA-07D6-4A05-809B-F6AA32EF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2BB27E6-9BBD-4308-9089-9AB68FF2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8/14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9780AF68-61DC-4639-9C69-628B24A9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307592"/>
            <a:ext cx="6007608" cy="3931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5DB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5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3c6a5f97743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1389888"/>
            <a:ext cx="5788152" cy="3868022"/>
          </a:xfrm>
          <a:prstGeom xmlns:a="http://schemas.openxmlformats.org/drawingml/2006/main" prst="rect">
            <a:avLst/>
          </a:prstGeom>
        </p:spPr>
      </p:pic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DACAE53-90E2-4C5B-AB74-BEAC4D0F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5285232"/>
            <a:ext cx="578815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7F1"/>
          </a:solidFill>
          <a:ln xmlns:a="http://schemas.openxmlformats.org/drawingml/2006/main" w="10160">
            <a:solidFill>
              <a:srgbClr val="318B5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09728" tIns="36576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C5C38"/>
                </a:solidFill>
                <a:latin typeface="微软雅黑"/>
                <a:ea typeface="微软雅黑"/>
                <a:cs typeface="微软雅黑"/>
              </a:rPr>
              <a:t>图示解读：重复合作≥2次后仅剩多个小型组件，未形成单一主导 hub，支撑“作者多但稳定合作弱”。</a:t>
            </a:r>
          </a:p>
        </p:txBody>
      </p:sp>
    </p:spTree>
    <p:extLst>
      <p:ext uri="{BB962C8B-B14F-4D97-AF65-F5344CB8AC3E}">
        <p14:creationId xmlns:p14="http://schemas.microsoft.com/office/powerpoint/2010/main" val="1318495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1A5425-61C9-4008-A5F5-3248C395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D74FB5D-80B3-4962-98D2-69DB9906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B52DC20-5BA1-4958-9DB0-EE0FAB21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CA23AD-BD05-41DA-9B84-55805D58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RQ3：研究热点与四层技术结构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0F1EF-91D8-4931-8811-F75C47B4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核心结论：研究重心从“单模型能力”转向“系统协作机制”。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81E4C5-0134-4DC5-BD2F-E386644D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045DEE-2EE5-4D62-BCE9-1560772F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6309360" cy="4352544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8be9064304c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072" y="1495460"/>
            <a:ext cx="6163056" cy="3921945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A539943-00DF-4CA9-9B47-EEDA203F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316736"/>
            <a:ext cx="13716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095448B-83F8-426C-BCDA-61279329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316736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8419389-D233-48BC-B855-F9B4C0E2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1426464"/>
            <a:ext cx="11155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227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9404FDD-F408-45E3-8398-0C074663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1746504"/>
            <a:ext cx="11155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关键词节点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96AC188-0A2E-4523-AC6A-FE1B70BC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1316736"/>
            <a:ext cx="13716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D76CA53-736A-4FB4-B184-DCE5019B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1316736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1CB7678-625B-4382-A195-34872B4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426464"/>
            <a:ext cx="11155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9AAA"/>
                </a:solidFill>
                <a:latin typeface="Noto Sans CJK SC"/>
                <a:ea typeface="Noto Sans CJK SC"/>
                <a:cs typeface="Noto Sans CJK SC"/>
              </a:rPr>
              <a:t>2,087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A8789BB-662B-48E8-B686-69B91E51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746504"/>
            <a:ext cx="11155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共现关系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052CFC5-4D74-44E8-B6BE-B4599C1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316736"/>
            <a:ext cx="1060704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F43BFE6-873D-477C-92E5-273D8BEC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316736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11"/>
          </a:solidFill>
          <a:ln xmlns:a="http://schemas.openxmlformats.org/drawingml/2006/main" w="12700">
            <a:solidFill>
              <a:srgbClr val="C892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4CD8A43-3CC4-4696-B1F7-AE91BEBA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2" y="1426464"/>
            <a:ext cx="804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≥ 2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8AC8BE8-91CB-4C6D-8FAE-BA9208D5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2" y="1746504"/>
            <a:ext cx="80467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共现阈值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19F6A63-AE0E-4CEF-BB74-D0047DF4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395728"/>
            <a:ext cx="107442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D67B79B-611E-400B-8986-109CD2BF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468880"/>
            <a:ext cx="96469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层次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BE9A24A-7AF6-44F7-A6CE-BE80DDC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452" y="2395728"/>
            <a:ext cx="163311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A9E9846-0D19-4C9E-A042-E4DD5561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316" y="2468880"/>
            <a:ext cx="152339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代表关键词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4BB39BC-031A-4F0A-BCAA-BB359EE0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570" y="2395728"/>
            <a:ext cx="1590142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E427817-5D82-4E63-AA1F-DFDD6F72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434" y="2468880"/>
            <a:ext cx="148041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含义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88ACF94-2A25-4139-B8AD-1DEEFDAC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98064"/>
            <a:ext cx="107442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1C2E1560-451B-47AD-ACD5-47F9752D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2862072"/>
            <a:ext cx="9646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技术底座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8E3D3D58-1E84-4CC2-AF28-A9147381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452" y="2798064"/>
            <a:ext cx="163311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54C77DD-57D8-4DAE-9222-F11EAD99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316" y="2862072"/>
            <a:ext cx="152339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LLM / AI / ML / NLP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C5C89C6-7438-4466-BA07-4ED9F13B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570" y="2798064"/>
            <a:ext cx="1590142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E0CC783-40CB-4276-B9DD-2EC3A1F2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434" y="2862072"/>
            <a:ext cx="148041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依赖基础模型能力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02460EDB-F6A5-4D78-9ED1-C68A71E0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200400"/>
            <a:ext cx="107442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C9131DA-3C0A-478E-B978-0D9E0FAB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264408"/>
            <a:ext cx="9646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协作架构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4F522C7C-DE29-413E-A47F-D0388DCE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452" y="3200400"/>
            <a:ext cx="163311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21EFF54-DC1D-4038-BDB5-8DD1A39B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316" y="3264408"/>
            <a:ext cx="152339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agentic AI / MAS / AI agents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791BAA97-EC30-4985-AC67-4E4FDB0E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570" y="3200400"/>
            <a:ext cx="1590142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3B2E3769-1510-4DB8-9059-842AB8E3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434" y="3264408"/>
            <a:ext cx="148041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角色分工、任务拆解与协同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198E0802-C11E-4039-BBC5-CA27143E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602736"/>
            <a:ext cx="107442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5D32CEA-EEAA-4B08-8BCF-F5101068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666744"/>
            <a:ext cx="9646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能力增强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B3EB4A74-95E9-4E4C-80CA-1DD4F973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452" y="3602736"/>
            <a:ext cx="163311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EDF9AB19-EFB7-4BF2-A20D-CC10135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316" y="3666744"/>
            <a:ext cx="152339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RAG / RL / planning / tool use</a:t>
            </a:r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582E0CD7-3537-45A0-AA00-4B252C28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570" y="3602736"/>
            <a:ext cx="1590142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48650403-1A64-40F5-AC3A-AAE05B12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434" y="3666744"/>
            <a:ext cx="148041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检索、反馈学习与工具调用</a:t>
            </a:r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6525F4B3-FC3C-42CB-B9D9-734E9A5B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4005072"/>
            <a:ext cx="107442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7E8E2DCD-6930-4EE0-8CCB-51412FA8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4069080"/>
            <a:ext cx="9646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治理应用</a:t>
            </a:r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8BDD42E-011F-4E48-AF39-A889C2B0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452" y="4005072"/>
            <a:ext cx="1633118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8B77943C-8C74-418B-A390-2D3970B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316" y="4069080"/>
            <a:ext cx="152339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ethics / HRI / digital health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FD02EF7D-C0E8-4263-A378-ED209722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570" y="4005072"/>
            <a:ext cx="1590142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F0DA4530-E5D5-48D8-BCB2-2F2D5D1A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434" y="4069080"/>
            <a:ext cx="148041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7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高约束场景与安全治理</a:t>
            </a:r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1D64118E-7B49-4516-893C-00DC1A7B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4882896"/>
            <a:ext cx="429768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0160">
            <a:solidFill>
              <a:srgbClr val="C7DA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62E0951E-05F8-43ED-9D41-0DA10E9C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5047488"/>
            <a:ext cx="3931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高频关键词：artificial intelligence（56）、large language models（45）、large language model（24）。</a:t>
            </a:r>
          </a:p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53005D41-DA73-49F8-A938-4B0BD6BC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D1FA6CA5-9531-4FA7-B784-9CB3078B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9/14</a:t>
            </a:r>
          </a:p>
        </p:txBody>
      </p:sp>
    </p:spTree>
    <p:extLst>
      <p:ext uri="{BB962C8B-B14F-4D97-AF65-F5344CB8AC3E}">
        <p14:creationId xmlns:p14="http://schemas.microsoft.com/office/powerpoint/2010/main" val="685784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7A93A9-CF45-4E22-BECF-9C8CB7BA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44C81D5-5317-45D1-9D13-0C02D803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85B9E9-1CC7-494A-B041-03B7F148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78D95A-0FC2-4D46-AD03-5CCA32A3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RQ4：高影响论文与技术叙事线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A394A5-6566-42C4-A4DF-CF0B94D4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核心结论：高被引论文不是清单，而是 mini review 的知识骨架。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41D0AEB-22DF-47AB-8135-27F2A2EB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28D8899-3610-4BDD-A1A4-FD8A997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6035040" cy="4352544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44c2d85f143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072" y="1582743"/>
            <a:ext cx="5888736" cy="3747377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4E07777-A202-4A03-A7D1-0758F46D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36245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EF53A67-30DB-4442-96C2-A3F12587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32588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Top 5 milestone 候选论文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A8A9BE7-75D3-4526-943D-070F2E6B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92224"/>
            <a:ext cx="88879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9E3BD0D-7916-4B78-80FD-841CD6FB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865376"/>
            <a:ext cx="779069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年份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46DB1D5-5CDC-4428-8072-7EC6D747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517" y="1792224"/>
            <a:ext cx="75547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267022A-CE0C-4640-B7BD-1C4C921E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381" y="1865376"/>
            <a:ext cx="645749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被引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93435BE-8151-4C0B-A8D8-CE5E9DB7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994" y="1792224"/>
            <a:ext cx="279971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889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CA2D5D5-6119-4128-A7AF-BB1D464D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58" y="1865376"/>
            <a:ext cx="2689982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主题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2A659B4-F6C1-4D01-ADAB-1D18816D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85416"/>
            <a:ext cx="88879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4B807D0-1537-4CB7-B4E8-D84C3956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249424"/>
            <a:ext cx="77906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2024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E5D59AE-811C-435F-BA4E-8169DE32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517" y="2185416"/>
            <a:ext cx="75547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A69EDDC-2C53-4A47-BABB-90C976D9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381" y="2249424"/>
            <a:ext cx="64574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352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4A644F39-4D61-46F8-8329-40AEDBE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994" y="2185416"/>
            <a:ext cx="279971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9E6FDAE-7ADC-4411-A6D0-2B178F2A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58" y="2249424"/>
            <a:ext cx="268998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自驱动实验室、化学与材料科学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E9D460B-4D60-43C8-8E17-26C1048E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578608"/>
            <a:ext cx="88879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286E6DD-5D5C-4711-B329-8D61A31D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642616"/>
            <a:ext cx="77906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2023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29E9C9F-83FC-49D3-943C-C561F08D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517" y="2578608"/>
            <a:ext cx="75547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C42B62A-99FC-411A-9B71-6835FAF0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381" y="2642616"/>
            <a:ext cx="64574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259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63F728D-F11B-40D4-ACCB-C58B54BA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994" y="2578608"/>
            <a:ext cx="279971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EF857E4-02FC-48BE-90BE-8093CD7A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58" y="2642616"/>
            <a:ext cx="268998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无人机与多智能体系统综述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243D7D7-3651-49A8-9740-9310F00D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971800"/>
            <a:ext cx="88879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8F18847-14F1-4EA5-8D52-DCA7EC99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035808"/>
            <a:ext cx="77906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2023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0823BC0-B492-4FB5-A1F7-985CDD5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517" y="2971800"/>
            <a:ext cx="75547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CC81AAE-64C8-403A-ADC0-B79CB8A6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381" y="3035808"/>
            <a:ext cx="64574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173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FDCE7F9F-F6F7-4B23-9242-C446F80C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994" y="2971800"/>
            <a:ext cx="279971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185C1B34-E801-42A4-8745-BF2FE717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58" y="3035808"/>
            <a:ext cx="268998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人机协同创作与语言模型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89F7303-8876-4C2A-A3BA-CB11327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364992"/>
            <a:ext cx="88879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6CA4C987-5489-42F3-BD3D-5DB7749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429000"/>
            <a:ext cx="77906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2025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838280B5-963B-4985-8712-4E9A224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517" y="3364992"/>
            <a:ext cx="75547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42614D4-7405-460E-B680-428EA279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381" y="3429000"/>
            <a:ext cx="64574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136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566FCB1E-BDD3-4BB0-997A-ED494739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994" y="3364992"/>
            <a:ext cx="279971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FD069125-94CD-44FD-9877-19143D6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58" y="3429000"/>
            <a:ext cx="268998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化学领域 LLM 与 autonomous agents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85DD40D7-936B-40F5-ABFF-F6BC952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58184"/>
            <a:ext cx="88879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CD482AE9-BACA-49C2-8305-F4D6044D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822192"/>
            <a:ext cx="77906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2024</a:t>
            </a:r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3D9A6EF7-B99B-48CB-8040-43F86EA0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2517" y="3758184"/>
            <a:ext cx="755477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08B69179-D8ED-4060-81BC-DCFB090F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381" y="3822192"/>
            <a:ext cx="645749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109</a:t>
            </a:r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A3F20C2C-B4F3-4207-A21D-F9815D99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994" y="3758184"/>
            <a:ext cx="279971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31E7230F-24D4-40EE-AB2C-83FA1D05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58" y="3822192"/>
            <a:ext cx="2689982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SMART-LLM 多智能体任务规划</a:t>
            </a:r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16CF36CF-AD52-46AC-A4F4-08CA20C9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389120"/>
            <a:ext cx="4443984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94A2DB53-A3FF-492A-81DC-74F9743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608576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综述主线</a:t>
            </a:r>
          </a:p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7F98A549-A6E8-4197-9CD7-BF749D5D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919472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任务规划与自动化工作流｜科学发现与自驱动实验室｜人机协作与人类监督｜医疗、机器人等垂直行业智能体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44FF33D-DBDF-4D00-A230-A8870B50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762CAD06-700D-47E5-805C-59E8C772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10/14</a:t>
            </a:r>
          </a:p>
        </p:txBody>
      </p:sp>
    </p:spTree>
    <p:extLst>
      <p:ext uri="{BB962C8B-B14F-4D97-AF65-F5344CB8AC3E}">
        <p14:creationId xmlns:p14="http://schemas.microsoft.com/office/powerpoint/2010/main" val="14885738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961B73-8CB9-4FB9-8FE5-95B3C8BF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4A13B19-D01E-40A0-AC05-DF772BF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2B75A5A-FD72-404D-A1CF-151603D9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9B41995-76DE-42CD-9462-603CBED8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RQ4 补充：共被引网络如何支撑知识基础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0A040DC-1B41-4757-B346-0B464598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共被引网络用于解释代表性论文之间的知识关联，支撑 mini review 的知识基础。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6F57E7D-CCA2-4ADA-A18E-C9D2C62F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3F83AAF-6008-4701-852F-3E493C84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6720840" cy="4370832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cc9b54a4f42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072" y="1373678"/>
            <a:ext cx="6574536" cy="4183796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F5888B6-1248-49FB-9E21-0BCB99CD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6245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0B47CAF-597E-40F9-AC21-E5D8F898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104" y="132588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共被引网络的读图方式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2837BB-E817-4FD0-8190-4A38F2AB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1783080"/>
            <a:ext cx="370332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节点代表在本语料中同时被引用的文献，节点大小反映在语料内被引频次。
</a:t>
            </a:r>
            <a:r>
              <a:rPr sz="105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边代表两篇文献被共同引用的强度，用于识别共同知识基础。
</a:t>
            </a:r>
            <a:r>
              <a:rPr sz="105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颜色对应主题簇：机器人规划、科学发现、临床智能体、人机协作等。
</a:t>
            </a:r>
            <a:r>
              <a:rPr sz="105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这张图把“代表论文”与“主题簇”连接起来，支撑综述的技术叙事线。
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5E304F6-72BD-46BB-8C31-87D5F563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58768"/>
            <a:ext cx="3749040" cy="1024128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0BBBCC1-53C3-4526-8CCD-6F429330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78224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支撑结论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CA0D696-8C27-4836-98B3-590F8BE6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9826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代表论文并非仅按被引次数罗列，而是通过共被引关系共同构成领域知识基础。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21C3B91-25EE-45A7-ACB8-64ABBFE5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06440"/>
            <a:ext cx="10469880" cy="4114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0160">
            <a:solidFill>
              <a:srgbClr val="E8C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F33F9A6-41CC-4AD8-8C2B-61FD328C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971032"/>
            <a:ext cx="10104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边界：共被引网络说明知识关联，不等于判断论文结论一定正确，也不能直接证明某条技术路线已经成熟。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105AEF-EA19-424B-95F1-CAC302E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425789E-0197-4023-B674-4D9D395A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11/14</a:t>
            </a:r>
          </a:p>
        </p:txBody>
      </p:sp>
    </p:spTree>
    <p:extLst>
      <p:ext uri="{BB962C8B-B14F-4D97-AF65-F5344CB8AC3E}">
        <p14:creationId xmlns:p14="http://schemas.microsoft.com/office/powerpoint/2010/main" val="584995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26A55E-7074-46A0-8FE4-7C4B32E5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24DC29A-AEA8-48ED-98FA-6133E82D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AA4443-7004-45E4-A5E0-89A4A6A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D7C72C-0767-49AA-97CE-4783CDCC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RQ5：研究空白、未来挑战与项目局限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38D055-C6B2-4E1C-9319-E43AEA74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基于增长趋势、合作格局、关键词结构和代表文献进行综合归纳。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570C769-816B-4C26-A26D-B1F7227F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A9D0E07-DE82-418F-A66B-2271C0A5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5943600" cy="374904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4b58cb81e4c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999" y="1316736"/>
            <a:ext cx="5661442" cy="3602736"/>
          </a:xfrm>
          <a:prstGeom xmlns:a="http://schemas.openxmlformats.org/drawingml/2006/main" prst="rect">
            <a:avLst/>
          </a:prstGeom>
        </p:spPr>
      </p:pic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33678D3-1F36-491A-A8A5-87BF7ABA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280160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3C58EB3-21D9-43D7-88D6-3533CC8F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243584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四个未来挑战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AB929FA-367D-4EE8-9E46-D02C2DE5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700784"/>
            <a:ext cx="4297680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评价体系不统一：任务、指标、提示词和工具环境难以横向比较。
</a:t>
            </a:r>
            <a:r>
              <a:rPr sz="105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协作机制可解释性不足：任务分配、冲突解决与错误溯源仍不透明。
</a:t>
            </a:r>
            <a:r>
              <a:rPr sz="105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垂直场景验证有限：医疗、机器人、科学实验需要更强约束与审计。
</a:t>
            </a:r>
            <a:r>
              <a:rPr sz="105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安全治理复杂化：错误传播、责任模糊、工具误用风险增加。
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F4DAD02-2D2B-48BC-B4BE-C44ADC2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56432"/>
            <a:ext cx="20574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67E1EE6-7CC6-4A10-A1F0-62F3A960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67588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项目贡献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2996FC4-B301-4B32-8CAD-32431829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968496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522 篇数据集；图谱回答 RQ；计量证据转 mini review；GitHub 归档可复现。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51D5277-A6D6-47DC-B108-656CEE2D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456432"/>
            <a:ext cx="20574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CED1882-1A79-4C75-90CB-1350FB0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67588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A61C2A"/>
                </a:solidFill>
                <a:latin typeface="Noto Sans CJK SC"/>
                <a:ea typeface="Noto Sans CJK SC"/>
                <a:cs typeface="Noto Sans CJK SC"/>
              </a:rPr>
              <a:t>项目局限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D5649C6-FE73-4019-927D-A2FFB844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968496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依赖 Lens 元数据；2026 非完整年份；关键词与引用网络仍需结合人工阅读解释。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66D6AEF-8522-4CC5-AD85-12AB8049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50992"/>
            <a:ext cx="106527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1F8"/>
          </a:solidFill>
          <a:ln xmlns:a="http://schemas.openxmlformats.org/drawingml/2006/main" w="10160">
            <a:solidFill>
              <a:srgbClr val="C7DA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AB0FC5B-A95D-4DEE-9D64-E7303964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815584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结论边界：现有文献显示这些问题正在受到关注，并可能成为后续研究需要重点解决的方向。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A560859-CAA1-4427-BB43-140A8FF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0AC6E41-BAF6-4A62-9AC0-8D5FCB97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12/14</a:t>
            </a:r>
          </a:p>
        </p:txBody>
      </p:sp>
    </p:spTree>
    <p:extLst>
      <p:ext uri="{BB962C8B-B14F-4D97-AF65-F5344CB8AC3E}">
        <p14:creationId xmlns:p14="http://schemas.microsoft.com/office/powerpoint/2010/main" val="2127805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EE3CDE-2A56-4EB9-BC78-8111C11C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77BD91B-1F20-46AE-8468-2472AF35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8C07721-592F-4FD5-BC35-A8BC3040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331A24-75EE-4985-A78F-F1CD560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总结与答辩收束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F7B305-02D8-461A-8EA8-A5517A1C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围绕研究结论、项目价值、后续改进和分工亮点四个层次完成总结。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3FC6FF1-18CD-400A-BCEA-1CB7759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BB45168-7A4E-4CCC-B5D0-D20EE1BC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3337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F6A4A3-A793-415C-8715-A64D5684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9105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研究结论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35185F0-071A-4524-8E11-871D0C39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93392"/>
            <a:ext cx="26974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领域已进入高速增长阶段。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研究主体分散，稳定核心团队尚未形成。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主题从单模型能力转向系统协作机制。
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565AD41-C9C0-4034-88EA-82771D3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325880"/>
            <a:ext cx="3337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10F1BB-2160-4B77-99F3-11F5D3BD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1591056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项目价值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EF22389-9285-4161-A62B-518F0C51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1993392"/>
            <a:ext cx="26974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用 GitHub 保存数据、代码、报告、图表和综述。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用 run_pipeline.py 串联清洗、指标和图谱。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将计量图谱转化为 mini review 技术叙事线。
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119B3FD-B8D0-4597-8583-2A90B2AB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25880"/>
            <a:ext cx="297180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92129B1-EE10-41E5-BD9F-0FF9200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1591056"/>
            <a:ext cx="1371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下一步改进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0532BC8-FC4E-419D-8CD6-9B805CA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1993392"/>
            <a:ext cx="230428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补充全文阅读与主题编码。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增加跨数据库对照。
</a:t>
            </a: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• 围绕 EDA / RTL Agent 形成后续选题入口。
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90860FF-ADC7-431B-A34E-E4141962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3133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2B0A142-1008-4487-A550-9DF5123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94760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复现路径与分工亮点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32D90D1-0D24-4DB5-910A-207E82ED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24528"/>
            <a:ext cx="105613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CD1A0F1-8466-4B8A-8169-E035CC7E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80560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复现路径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469DAEA-6E8E-4C7F-8378-55FE283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498848"/>
            <a:ext cx="88879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1E2A32"/>
                </a:solidFill>
                <a:latin typeface="Aptos Mono"/>
                <a:ea typeface="Aptos Mono"/>
                <a:cs typeface="Aptos Mono"/>
              </a:rPr>
              <a:t>config/query.yaml → data/processed/cleaned_data.csv → src/*.py → outputs/figures → reports/*.md → paper/mini_review_final.md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EBFE66F-F722-4263-ABEC-53866DAD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773168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FC01672-DEE5-484A-A6A3-C9FFBB8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1947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分工亮点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11B799A-12D9-4A37-8121-F859505E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937760"/>
            <a:ext cx="8869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高俊杰：工程架构与代码统筹；赵世铎：检索策略与数据获取；团队成员覆盖清洗、图谱、综述写作，满足正式汇报参与要求。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F51367A-0644-42CC-AA4C-CDC79336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852160"/>
            <a:ext cx="6217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感谢聆听，欢迎老师和同学提问。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3E130FE-7613-4746-9C74-A1E19859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B3A59A2-7BE3-4022-B21C-4881EED9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13/14</a:t>
            </a:r>
          </a:p>
        </p:txBody>
      </p:sp>
    </p:spTree>
    <p:extLst>
      <p:ext uri="{BB962C8B-B14F-4D97-AF65-F5344CB8AC3E}">
        <p14:creationId xmlns:p14="http://schemas.microsoft.com/office/powerpoint/2010/main" val="827881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2F1FC3C-A7B3-46DE-8F3F-B7D08211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12700">
            <a:solidFill>
              <a:srgbClr val="F7F4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8180133-6C84-4D58-ADBB-AD95CB8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 w="12700">
            <a:solidFill>
              <a:srgbClr val="1234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930785-D9E7-49E1-80BA-FA39C381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10896"/>
            <a:ext cx="51206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4D"/>
          </a:solidFill>
          <a:ln xmlns:a="http://schemas.openxmlformats.org/drawingml/2006/main">
            <a:solidFill>
              <a:srgbClr val="12344D"/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3D9C492-F4FC-4BB9-932B-BF2125B3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6032"/>
            <a:ext cx="99669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5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小组分工与个人贡献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4AAE18C-75A3-48AE-A679-525FA02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749808"/>
            <a:ext cx="9829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>
                <a:solidFill>
                  <a:srgbClr val="68757F"/>
                </a:solidFill>
                <a:latin typeface="Noto Sans CJK SC"/>
                <a:ea typeface="Noto Sans CJK SC"/>
                <a:cs typeface="Noto Sans CJK SC"/>
              </a:rPr>
              <a:t>按项目流程呈现分工，说明各模块责任与最终成果对应。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ECACA66-C284-4D07-B8C4-EE449883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33272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7905E7-C0A1-4D62-ADCD-C4BF49D9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3337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80B2561-2057-4916-BFCA-4853787B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91056"/>
            <a:ext cx="20955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统筹与最终整合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A2371C-4B21-4A67-90BC-0AA036A5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81200"/>
            <a:ext cx="269748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高俊杰：组长，统筹选题、要求拆解、仓库结构与最终提交。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负责 README、课程论文、答辩 PPT、reflection 与材料归档。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重点整合数据来源、RQ、三图一表、图表解释和复现说明。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9288033-27C6-417C-A58D-4C153F37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325880"/>
            <a:ext cx="33375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3DDEB2B-6D40-4784-B044-7354E3CD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1591056"/>
            <a:ext cx="20955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数据与方法模块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18986C7-0B0A-42F2-B90B-A51FB2A1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1981200"/>
            <a:ext cx="269748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赵世铎：协助 Lens.org 检索、关键词组合与原始数据导出。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解明昊：协助 DOI / Title 去重、字段检查与 M1 质量说明。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支撑文件：query.yaml、raw/processed 数据与筛选记录。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30FCD58-E5CF-491C-869D-FA5D67C5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25880"/>
            <a:ext cx="297180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3BE11CB-DB30-4391-B204-4F787355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1591056"/>
            <a:ext cx="20955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89211"/>
                </a:solidFill>
                <a:latin typeface="Noto Sans CJK SC"/>
                <a:ea typeface="Noto Sans CJK SC"/>
                <a:cs typeface="Noto Sans CJK SC"/>
              </a:rPr>
              <a:t>图谱与综述模块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B65DE5-AF73-43AF-B9B1-A5C770C9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杨广宸：协助趋势、关键词、合作网络与共被引分析。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罗博伟：协助里程碑文献、综述主线与挑战方向整理。</a:t>
            </a:r>
          </a:p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支撑文件：figures、review_figures、里程碑文献与 M2/M3 报告。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D976A98-F5B8-4A80-9793-45EACCB2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3133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AAA"/>
          </a:solidFill>
          <a:ln xmlns:a="http://schemas.openxmlformats.org/drawingml/2006/main" w="12700">
            <a:solidFill>
              <a:srgbClr val="1B9A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B45893-8A95-43ED-A689-BC84BA59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94760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分工原则与提交材料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C0563E8-905B-409C-977A-415F1FB6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24528"/>
            <a:ext cx="105613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1243653-2170-4785-A07B-FDCC655B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80560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分工原则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296E6FD-2FFC-435E-90AE-8BDF36CD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498848"/>
            <a:ext cx="88879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1E2A32"/>
                </a:solidFill>
                <a:latin typeface="Aptos Mono"/>
                <a:ea typeface="Aptos Mono"/>
                <a:cs typeface="Aptos Mono"/>
              </a:rPr>
              <a:t>按流程拆分：检索 → 清洗 → 计量分析 → 综述写作 → GitHub 归档。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87824AF-5BF9-4B8D-AACE-8616831C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773168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AD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A4E637-43E9-402B-AE0B-0C332FEF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1947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60" b="1">
                <a:solidFill>
                  <a:srgbClr val="2E8B57"/>
                </a:solidFill>
                <a:latin typeface="Noto Sans CJK SC"/>
                <a:ea typeface="Noto Sans CJK SC"/>
                <a:cs typeface="Noto Sans CJK SC"/>
              </a:rPr>
              <a:t>成果对应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2E6897E-2F2C-458F-8AF2-E1B83DF2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4937760"/>
            <a:ext cx="8869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E2A32"/>
                </a:solidFill>
                <a:latin typeface="Noto Sans CJK SC"/>
                <a:ea typeface="Noto Sans CJK SC"/>
                <a:cs typeface="Noto Sans CJK SC"/>
              </a:rPr>
              <a:t>README、reports、paper、presentation、reflection 均保留分工说明和对应成果。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6F04455-2552-4551-9677-68D80650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852160"/>
            <a:ext cx="6217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053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2344D"/>
                </a:solidFill>
                <a:latin typeface="Noto Sans CJK SC"/>
                <a:ea typeface="Noto Sans CJK SC"/>
                <a:cs typeface="Noto Sans CJK SC"/>
              </a:rPr>
              <a:t>小组分工与个人反思已归档至 reflection/，便于个人贡献核查。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72C6E9-C263-42CC-9277-4D775A26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GitHub README / Lens.org 2020–2026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EA9EA32-9D8F-48F7-9B46-E46AE7C5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55664"/>
            <a:ext cx="640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87919A"/>
                </a:solidFill>
                <a:latin typeface="Noto Sans CJK SC"/>
                <a:ea typeface="Noto Sans CJK SC"/>
                <a:cs typeface="Noto Sans CJK SC"/>
              </a:rPr>
              <a:t>14/14</a:t>
            </a:r>
          </a:p>
        </p:txBody>
      </p:sp>
    </p:spTree>
    <p:extLst>
      <p:ext uri="{BB962C8B-B14F-4D97-AF65-F5344CB8AC3E}">
        <p14:creationId xmlns:p14="http://schemas.microsoft.com/office/powerpoint/2010/main" val="162384751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2026-06-28T03:05:27.5980000Z</dcterms:created>
  <dcterms:modified xsi:type="dcterms:W3CDTF">2026-06-28T03:05:27.5980000Z</dcterms:modified>
</coreProperties>
</file>