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493776"/>
            <a:ext cx="91440" cy="5715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86384" y="914400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D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基于文献计量学的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6384" y="1353312"/>
            <a:ext cx="6812280" cy="1280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多智能体协作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研究趋势分析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852928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7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Bibliometric Analysis of LLM Multi-Agent Collaboration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346704"/>
            <a:ext cx="6903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1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一条可复现、可解释、可答辩的证据链：数据 → 图谱 → 综述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051560"/>
            <a:ext cx="2999232" cy="548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0" y="132588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Lens.org 2020–2026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8229600" y="182880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542 条原始记录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8229600" y="233172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522 篇有效文献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8229600" y="283464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个研究问题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229600" y="333756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图 1 表核心展示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804672" y="535838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DE5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汇报人：高俊杰  赵世铎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DE5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课程：文献计量学、前沿趋势追踪与项目制学习框架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808208" y="632764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FC0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01/13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答辩路线图：从问题到证据链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围绕课程要求建立“问题—数据—图表—结论—复现”的完整答辩主线。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8992" y="2212848"/>
            <a:ext cx="10012680" cy="0"/>
          </a:xfrm>
          <a:prstGeom prst="line">
            <a:avLst/>
          </a:prstGeom>
          <a:noFill/>
          <a:ln w="25400">
            <a:solidFill>
              <a:srgbClr val="C9D2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1481328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13816" y="1682496"/>
            <a:ext cx="384048" cy="384048"/>
          </a:xfrm>
          <a:prstGeom prst="ellipse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773936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298448" y="1645920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298448" y="1947672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62456" y="2011680"/>
            <a:ext cx="53035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P1–P3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41248" y="2331720"/>
            <a:ext cx="133502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背景、目标、RQ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2889504" y="1481328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044952" y="1682496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54096" y="1773936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529584" y="1645920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数据与方法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3529584" y="1947672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93592" y="2011680"/>
            <a:ext cx="53035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B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P4–P5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072384" y="2331720"/>
            <a:ext cx="133502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Lens.org、去重、流水线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5120640" y="1481328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276088" y="1682496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85232" y="1773936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760720" y="1645920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证据地图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5760720" y="1947672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824728" y="2011680"/>
            <a:ext cx="53035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P6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5303520" y="2331720"/>
            <a:ext cx="133502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1：RQ 与图表对应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7351776" y="1481328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507224" y="1682496"/>
            <a:ext cx="384048" cy="384048"/>
          </a:xfrm>
          <a:prstGeom prst="ellipse">
            <a:avLst/>
          </a:prstGeom>
          <a:solidFill>
            <a:srgbClr val="C89211"/>
          </a:solidFill>
          <a:ln w="12700">
            <a:solidFill>
              <a:srgbClr val="C8921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516368" y="1773936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991856" y="1645920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图表证据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7991856" y="1947672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055864" y="2011680"/>
            <a:ext cx="53035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P7–P11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7534656" y="2331720"/>
            <a:ext cx="133502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发文、合作、关键词、共被引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582912" y="1481328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8D2C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738360" y="1682496"/>
            <a:ext cx="384048" cy="384048"/>
          </a:xfrm>
          <a:prstGeom prst="ellipse">
            <a:avLst/>
          </a:prstGeom>
          <a:solidFill>
            <a:srgbClr val="A61C2A"/>
          </a:solidFill>
          <a:ln w="12700">
            <a:solidFill>
              <a:srgbClr val="A61C2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747504" y="1773936"/>
            <a:ext cx="36576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0222992" y="1645920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收束答辩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10222992" y="1947672"/>
            <a:ext cx="658368" cy="274320"/>
          </a:xfrm>
          <a:prstGeom prst="roundRect">
            <a:avLst>
              <a:gd name="adj" fmla="val 46667"/>
            </a:avLst>
          </a:prstGeom>
          <a:solidFill>
            <a:srgbClr val="FBEAE9"/>
          </a:solidFill>
          <a:ln w="12700">
            <a:solidFill>
              <a:srgbClr val="FBEAE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287000" y="2011680"/>
            <a:ext cx="530352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A61C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P12–P13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9765792" y="2331720"/>
            <a:ext cx="133502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挑战、局限、复现与分工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658368" y="3374136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04672" y="333756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课程要求如何落到本项目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767328"/>
            <a:ext cx="1418234" cy="384048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13232" y="3840480"/>
            <a:ext cx="130850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课程要求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2076602" y="3767328"/>
            <a:ext cx="1224839" cy="384048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131466" y="3840480"/>
            <a:ext cx="1115111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对应页</a:t>
            </a:r>
            <a:endParaRPr lang="en-US" sz="910" dirty="0"/>
          </a:p>
        </p:txBody>
      </p:sp>
      <p:sp>
        <p:nvSpPr>
          <p:cNvPr id="50" name="Shape 48"/>
          <p:cNvSpPr/>
          <p:nvPr/>
        </p:nvSpPr>
        <p:spPr>
          <a:xfrm>
            <a:off x="3301441" y="3767328"/>
            <a:ext cx="3803447" cy="384048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356305" y="3840480"/>
            <a:ext cx="3693719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本项目中的证据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658368" y="4151376"/>
            <a:ext cx="141823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13232" y="4215384"/>
            <a:ext cx="13085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 / RQ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2076602" y="4151376"/>
            <a:ext cx="12248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131466" y="4215384"/>
            <a:ext cx="1115111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P1–P3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3301441" y="4151376"/>
            <a:ext cx="380344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356305" y="4215384"/>
            <a:ext cx="3693719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多智能体协作成为快速增长主题；5 个 RQ 对应 5 类计量证据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58368" y="4535424"/>
            <a:ext cx="1418234" cy="384048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13232" y="4599432"/>
            <a:ext cx="13085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数据与方法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076602" y="4535424"/>
            <a:ext cx="1224839" cy="384048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131466" y="4599432"/>
            <a:ext cx="1115111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P4–P5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3301441" y="4535424"/>
            <a:ext cx="3803447" cy="384048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356305" y="4599432"/>
            <a:ext cx="3693719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542 条原始记录 → 522 篇有效文献；DOI/Title 去重；run_pipeline.py 复现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658368" y="4919472"/>
            <a:ext cx="141823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13232" y="4983480"/>
            <a:ext cx="13085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图 1 表展示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2076602" y="4919472"/>
            <a:ext cx="12248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131466" y="4983480"/>
            <a:ext cx="1115111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P6 / P7 / P9 / P11</a:t>
            </a:r>
            <a:endParaRPr lang="en-US" sz="740" dirty="0"/>
          </a:p>
        </p:txBody>
      </p:sp>
      <p:sp>
        <p:nvSpPr>
          <p:cNvPr id="68" name="Shape 66"/>
          <p:cNvSpPr/>
          <p:nvPr/>
        </p:nvSpPr>
        <p:spPr>
          <a:xfrm>
            <a:off x="3301441" y="4919472"/>
            <a:ext cx="380344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356305" y="4983480"/>
            <a:ext cx="3693719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 放在方法之后；年度趋势、关键词结构、共被引网络支撑结论</a:t>
            </a:r>
            <a:endParaRPr lang="en-US" sz="740" dirty="0"/>
          </a:p>
        </p:txBody>
      </p:sp>
      <p:sp>
        <p:nvSpPr>
          <p:cNvPr id="70" name="Shape 68"/>
          <p:cNvSpPr/>
          <p:nvPr/>
        </p:nvSpPr>
        <p:spPr>
          <a:xfrm>
            <a:off x="658368" y="5303520"/>
            <a:ext cx="1418234" cy="384048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713232" y="5367528"/>
            <a:ext cx="13085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贡献与局限</a:t>
            </a: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2076602" y="5303520"/>
            <a:ext cx="1224839" cy="384048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2131466" y="5367528"/>
            <a:ext cx="1115111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P12–P13</a:t>
            </a:r>
            <a:endParaRPr lang="en-US" sz="740" dirty="0"/>
          </a:p>
        </p:txBody>
      </p:sp>
      <p:sp>
        <p:nvSpPr>
          <p:cNvPr id="74" name="Shape 72"/>
          <p:cNvSpPr/>
          <p:nvPr/>
        </p:nvSpPr>
        <p:spPr>
          <a:xfrm>
            <a:off x="3301441" y="5303520"/>
            <a:ext cx="3803447" cy="384048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356305" y="5367528"/>
            <a:ext cx="3693719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说明增长、主体分散、技术结构与挑战，同时交代数据库与时间窗口边界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7406640" y="3374136"/>
            <a:ext cx="82296" cy="2926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7552944" y="33375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项目设计的核心优势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7406640" y="3776472"/>
            <a:ext cx="3858768" cy="493776"/>
          </a:xfrm>
          <a:prstGeom prst="roundRect">
            <a:avLst>
              <a:gd name="adj" fmla="val 14815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7626096" y="392277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394192" y="3877056"/>
            <a:ext cx="257860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每个结论都能回到数据、脚本或图表，而不是主观判断。</a:t>
            </a:r>
            <a:endParaRPr lang="en-US" sz="840" dirty="0"/>
          </a:p>
        </p:txBody>
      </p:sp>
      <p:sp>
        <p:nvSpPr>
          <p:cNvPr id="81" name="Shape 79"/>
          <p:cNvSpPr/>
          <p:nvPr/>
        </p:nvSpPr>
        <p:spPr>
          <a:xfrm>
            <a:off x="7406640" y="4416552"/>
            <a:ext cx="3858768" cy="493776"/>
          </a:xfrm>
          <a:prstGeom prst="roundRect">
            <a:avLst>
              <a:gd name="adj" fmla="val 14815"/>
            </a:avLst>
          </a:prstGeom>
          <a:solidFill>
            <a:srgbClr val="EAF6EE"/>
          </a:solidFill>
          <a:ln w="10160">
            <a:solidFill>
              <a:srgbClr val="BDE5C8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7626096" y="456285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394192" y="4517136"/>
            <a:ext cx="257860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中保留 config / data / src / outputs / reports / paper。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7406640" y="5056632"/>
            <a:ext cx="3858768" cy="493776"/>
          </a:xfrm>
          <a:prstGeom prst="roundRect">
            <a:avLst>
              <a:gd name="adj" fmla="val 14815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7626096" y="520293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有边界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8394192" y="5157216"/>
            <a:ext cx="257860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讲清楚 2026 非完整年份、Lens 数据库覆盖和图谱解释限制。</a:t>
            </a:r>
            <a:endParaRPr lang="en-US" sz="840" dirty="0"/>
          </a:p>
        </p:txBody>
      </p:sp>
      <p:sp>
        <p:nvSpPr>
          <p:cNvPr id="87" name="Shape 85"/>
          <p:cNvSpPr/>
          <p:nvPr/>
        </p:nvSpPr>
        <p:spPr>
          <a:xfrm>
            <a:off x="658368" y="5815584"/>
            <a:ext cx="10607040" cy="347472"/>
          </a:xfrm>
          <a:prstGeom prst="roundRect">
            <a:avLst>
              <a:gd name="adj" fmla="val 21053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841248" y="5980176"/>
            <a:ext cx="1024128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答辩主线：研究问题 → 数据方法 → 图表证据 → 贡献局限 → 复现分工。</a:t>
            </a:r>
            <a:endParaRPr lang="en-US" sz="1020" dirty="0"/>
          </a:p>
        </p:txBody>
      </p:sp>
      <p:sp>
        <p:nvSpPr>
          <p:cNvPr id="89" name="Text 87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90" name="Text 88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研究背景与项目定位：为什么值得做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从选题动机、研究缺口与项目目标出发，说明本项目为什么需要采用文献计量方法。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8368" y="1353312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1316736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研究背景：从单模型到多智能体协作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534924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029968"/>
            <a:ext cx="4828032" cy="10789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LLM 研究不再只关注单次问答能力，而开始转向工具调用、任务分解、角色协同和自动化工作流。
</a:t>
            </a:r>
            <a:r>
              <a:rPr lang="en-US" sz="109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Multi-agent collaboration 把模型、工具、环境和人类监督连接起来，天然具有跨学科特征。
</a:t>
            </a:r>
            <a:r>
              <a:rPr lang="en-US" sz="109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文献增长很快，但主题边界、核心作者、知识基础和未来挑战仍需要用数据梳理。
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6419088" y="1353312"/>
            <a:ext cx="82296" cy="2926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65392" y="1316736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课程任务：不是“做图”，而是回答问题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19088" y="1755648"/>
            <a:ext cx="47091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0" y="2029968"/>
            <a:ext cx="4187952" cy="95097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RQ 要能被指标、图表或代表文献回答。
</a:t>
            </a:r>
            <a:r>
              <a:rPr lang="en-US" sz="11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每张图都必须说明支持什么结论、不能推出什么。
</a:t>
            </a:r>
            <a:r>
              <a:rPr lang="en-US" sz="11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最终需要形成可复现、可解释、可答辩的项目闭环。
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8368" y="4078224"/>
            <a:ext cx="82296" cy="292608"/>
          </a:xfrm>
          <a:prstGeom prst="rect">
            <a:avLst/>
          </a:prstGeom>
          <a:solidFill>
            <a:srgbClr val="C89211"/>
          </a:solidFill>
          <a:ln w="12700">
            <a:solidFill>
              <a:srgbClr val="C8921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" y="404164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本项目的核心做法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498848"/>
            <a:ext cx="2212848" cy="841248"/>
          </a:xfrm>
          <a:prstGeom prst="roundRect">
            <a:avLst>
              <a:gd name="adj" fmla="val 8696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1832" y="4663440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Lens 检索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941832" y="4956048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542 条原始记录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538728" y="4498848"/>
            <a:ext cx="2212848" cy="841248"/>
          </a:xfrm>
          <a:prstGeom prst="roundRect">
            <a:avLst>
              <a:gd name="adj" fmla="val 8696"/>
            </a:avLst>
          </a:prstGeom>
          <a:solidFill>
            <a:srgbClr val="EAF6EE"/>
          </a:solidFill>
          <a:ln w="10160">
            <a:solidFill>
              <a:srgbClr val="BDE5C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03320" y="4663440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数据清洗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3703320" y="4956048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 / Title 去重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300216" y="4498848"/>
            <a:ext cx="2212848" cy="841248"/>
          </a:xfrm>
          <a:prstGeom prst="roundRect">
            <a:avLst>
              <a:gd name="adj" fmla="val 8696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64808" y="4663440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计量图谱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6464808" y="4956048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趋势、合作、关键词、引用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061704" y="4498848"/>
            <a:ext cx="2212848" cy="841248"/>
          </a:xfrm>
          <a:prstGeom prst="roundRect">
            <a:avLst>
              <a:gd name="adj" fmla="val 8696"/>
            </a:avLst>
          </a:prstGeom>
          <a:solidFill>
            <a:srgbClr val="FBEAE9"/>
          </a:solidFill>
          <a:ln w="10160">
            <a:solidFill>
              <a:srgbClr val="E1B4B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226296" y="4663440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A61C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综述转化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9226296" y="4956048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mini review 与答辩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1591056" y="5486400"/>
            <a:ext cx="7680960" cy="0"/>
          </a:xfrm>
          <a:prstGeom prst="line">
            <a:avLst/>
          </a:prstGeom>
          <a:noFill/>
          <a:ln w="17780">
            <a:solidFill>
              <a:srgbClr val="C9D2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8368" y="5806440"/>
            <a:ext cx="10652760" cy="411480"/>
          </a:xfrm>
          <a:prstGeom prst="roundRect">
            <a:avLst>
              <a:gd name="adj" fmla="val 17778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" y="5971032"/>
            <a:ext cx="1028700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项目定位：用文献计量证据建立领域发展脉络，并将图谱结果转化为 mini review 的技术叙事线。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数据来源与质量控制：样本怎么来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检索口径与字段质量决定后续发文趋势、合作网络和共被引分析的可信度。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8368" y="1298448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1298448"/>
            <a:ext cx="73152" cy="73152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140817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542 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7282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Lens.org 初始检索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2468880" y="1298448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468880" y="1298448"/>
            <a:ext cx="73152" cy="731520"/>
          </a:xfrm>
          <a:prstGeom prst="rect">
            <a:avLst/>
          </a:prstGeom>
          <a:solidFill>
            <a:srgbClr val="A61C2A"/>
          </a:solidFill>
          <a:ln w="12700">
            <a:solidFill>
              <a:srgbClr val="A61C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33472" y="140817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A61C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-20 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33472" y="17282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 / Title 去重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4279392" y="1298448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79392" y="1298448"/>
            <a:ext cx="73152" cy="731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43984" y="140817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522 篇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43984" y="17282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有效样本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6089904" y="1298448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89904" y="1298448"/>
            <a:ext cx="73152" cy="731520"/>
          </a:xfrm>
          <a:prstGeom prst="rect">
            <a:avLst/>
          </a:prstGeom>
          <a:solidFill>
            <a:srgbClr val="C89211"/>
          </a:solidFill>
          <a:ln w="12700">
            <a:solidFill>
              <a:srgbClr val="C8921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54496" y="140817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3.69%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54496" y="17282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去重率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7900416" y="1298448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900416" y="1298448"/>
            <a:ext cx="73152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65008" y="1408176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73.18%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65008" y="17282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开放获取比例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9710928" y="1298448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710928" y="1298448"/>
            <a:ext cx="73152" cy="73152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875520" y="1408176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2020–2026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75520" y="1728216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时间范围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58368" y="2578608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04672" y="254203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检索逻辑：Object × Method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297180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68680" y="3218688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37360" y="3200400"/>
            <a:ext cx="39502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Large Language Model*, LLM*, Generative AI, Foundation Model*, ChatGPT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68680" y="3630168"/>
            <a:ext cx="46177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68680" y="3721608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37360" y="3703320"/>
            <a:ext cx="39502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Multi-agent*, Collaboration, Coordination, Cooperation, Multi-agent system*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446520" y="2578608"/>
            <a:ext cx="82296" cy="2926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592824" y="254203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核心字段覆盖率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46520" y="2971800"/>
            <a:ext cx="1292962" cy="320040"/>
          </a:xfrm>
          <a:prstGeom prst="rect">
            <a:avLst/>
          </a:prstGeom>
          <a:solidFill>
            <a:srgbClr val="1B9AAA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501384" y="3044952"/>
            <a:ext cx="1183234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7739482" y="2971800"/>
            <a:ext cx="1108253" cy="320040"/>
          </a:xfrm>
          <a:prstGeom prst="rect">
            <a:avLst/>
          </a:prstGeom>
          <a:solidFill>
            <a:srgbClr val="1B9AAA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794346" y="3044952"/>
            <a:ext cx="998525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覆盖率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8847734" y="2971800"/>
            <a:ext cx="2216506" cy="320040"/>
          </a:xfrm>
          <a:prstGeom prst="rect">
            <a:avLst/>
          </a:prstGeom>
          <a:solidFill>
            <a:srgbClr val="1B9AAA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902598" y="3044952"/>
            <a:ext cx="2106778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用途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6446520" y="3291840"/>
            <a:ext cx="129296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501384" y="3355848"/>
            <a:ext cx="118323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Title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739482" y="3291840"/>
            <a:ext cx="1108253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794346" y="3355848"/>
            <a:ext cx="99852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100.00%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847734" y="3291840"/>
            <a:ext cx="221650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902598" y="3355848"/>
            <a:ext cx="210677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标题词频与主题分析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446520" y="3611880"/>
            <a:ext cx="1292962" cy="320040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501384" y="3675888"/>
            <a:ext cx="118323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Year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7739482" y="3611880"/>
            <a:ext cx="1108253" cy="320040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794346" y="3675888"/>
            <a:ext cx="99852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100.00%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847734" y="3611880"/>
            <a:ext cx="2216506" cy="320040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902598" y="3675888"/>
            <a:ext cx="210677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年度趋势与阶段判断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6446520" y="3931920"/>
            <a:ext cx="129296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501384" y="3995928"/>
            <a:ext cx="118323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Abstract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7739482" y="3931920"/>
            <a:ext cx="1108253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794346" y="3995928"/>
            <a:ext cx="99852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98.28%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8847734" y="3931920"/>
            <a:ext cx="221650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902598" y="3995928"/>
            <a:ext cx="210677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语义扩展与主题解释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6446520" y="4251960"/>
            <a:ext cx="1292962" cy="320040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501384" y="4315968"/>
            <a:ext cx="118323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References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7739482" y="4251960"/>
            <a:ext cx="1108253" cy="320040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794346" y="4315968"/>
            <a:ext cx="99852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81.99%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8847734" y="4251960"/>
            <a:ext cx="2216506" cy="320040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902598" y="4315968"/>
            <a:ext cx="210677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引用网络与共被引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6446520" y="4572000"/>
            <a:ext cx="129296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501384" y="4636008"/>
            <a:ext cx="118323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7739482" y="4572000"/>
            <a:ext cx="1108253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794346" y="4636008"/>
            <a:ext cx="99852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99.81%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8847734" y="4572000"/>
            <a:ext cx="2216506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902598" y="4636008"/>
            <a:ext cx="210677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去重、溯源与 milestone 识别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658368" y="5440680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841248" y="5605272"/>
            <a:ext cx="10287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边界说明：2026 年是采集时点数据，年份尚未结束，因此只作为阶段性观察，不与完整年份直接比较。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81" name="Text 79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方法框架与复现流水线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本项目采用“定量指标 + 知识图谱 + 综述解释”的组合方法。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0352" y="1298448"/>
            <a:ext cx="6629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repo_imgs/fig1_methodology_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84485"/>
            <a:ext cx="6483096" cy="41256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52360" y="1362456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98664" y="132588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分析维度与输出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1773936"/>
            <a:ext cx="3886200" cy="1600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数据清洗：Pandas 去重后得到 522 篇有效文献。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年度趋势：发文增长、增长率、总被引、h 指数。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网络分析：关键词共现、作者合作、机构/国家、引用与共被引。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敏感性分析：阈值扫描与时间窗口比较，验证结论稳健性。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综述写作：将图谱证据转化为 mini review 的技术叙事线。
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452360" y="3931920"/>
            <a:ext cx="38587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680960" y="416052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一键复现入口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80960" y="448056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pip install -r requirements.txt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run_pipeline.py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5669280"/>
            <a:ext cx="10588752" cy="438912"/>
          </a:xfrm>
          <a:prstGeom prst="roundRect">
            <a:avLst>
              <a:gd name="adj" fmla="val 16667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41248" y="5833872"/>
            <a:ext cx="1022299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亮点：所有结论都能回到 config / data / src / outputs / reports / paper，而不是单纯口头判断。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19" name="Text 16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1｜RQ—方法—图表证据对应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 5 个研究问题与对应方法、图表证据和解释边界对齐。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38912" y="1261872"/>
            <a:ext cx="791139" cy="557784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335024"/>
            <a:ext cx="681411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1230051" y="1261872"/>
            <a:ext cx="3051536" cy="557784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84915" y="1335024"/>
            <a:ext cx="2941808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Claim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4281587" y="1261872"/>
            <a:ext cx="2147377" cy="557784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36451" y="1335024"/>
            <a:ext cx="2037649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分析方法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428964" y="1261872"/>
            <a:ext cx="3616635" cy="557784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83828" y="1335024"/>
            <a:ext cx="3506907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后续图表 / 数据支撑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10045598" y="1261872"/>
            <a:ext cx="1695298" cy="557784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100462" y="1335024"/>
            <a:ext cx="1585570" cy="4480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438912" y="1819656"/>
            <a:ext cx="791139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" y="1883664"/>
            <a:ext cx="681411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RQ1</a:t>
            </a:r>
            <a:endParaRPr lang="en-US" sz="725" dirty="0"/>
          </a:p>
        </p:txBody>
      </p:sp>
      <p:sp>
        <p:nvSpPr>
          <p:cNvPr id="20" name="Shape 18"/>
          <p:cNvSpPr/>
          <p:nvPr/>
        </p:nvSpPr>
        <p:spPr>
          <a:xfrm>
            <a:off x="1230051" y="1819656"/>
            <a:ext cx="3051536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84915" y="1883664"/>
            <a:ext cx="294180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发文量在 2024–2025 出现跃迁，领域进入快速扩张。</a:t>
            </a:r>
            <a:endParaRPr lang="en-US" sz="725" dirty="0"/>
          </a:p>
        </p:txBody>
      </p:sp>
      <p:sp>
        <p:nvSpPr>
          <p:cNvPr id="22" name="Shape 20"/>
          <p:cNvSpPr/>
          <p:nvPr/>
        </p:nvSpPr>
        <p:spPr>
          <a:xfrm>
            <a:off x="4281587" y="1819656"/>
            <a:ext cx="2147377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36451" y="1883664"/>
            <a:ext cx="2037649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年度统计、增长率、影响力指标</a:t>
            </a:r>
            <a:endParaRPr lang="en-US" sz="725" dirty="0"/>
          </a:p>
        </p:txBody>
      </p:sp>
      <p:sp>
        <p:nvSpPr>
          <p:cNvPr id="24" name="Shape 22"/>
          <p:cNvSpPr/>
          <p:nvPr/>
        </p:nvSpPr>
        <p:spPr>
          <a:xfrm>
            <a:off x="6428964" y="1819656"/>
            <a:ext cx="3616635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83828" y="1883664"/>
            <a:ext cx="3506907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Fig.2；2020=1，2024=81，2025=344；AGR=181.29%</a:t>
            </a:r>
            <a:endParaRPr lang="en-US" sz="725" dirty="0"/>
          </a:p>
        </p:txBody>
      </p:sp>
      <p:sp>
        <p:nvSpPr>
          <p:cNvPr id="26" name="Shape 24"/>
          <p:cNvSpPr/>
          <p:nvPr/>
        </p:nvSpPr>
        <p:spPr>
          <a:xfrm>
            <a:off x="10045598" y="1819656"/>
            <a:ext cx="169529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00462" y="1883664"/>
            <a:ext cx="158557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增长代表关注度上升，不等于技术成熟</a:t>
            </a:r>
            <a:endParaRPr lang="en-US" sz="725" dirty="0"/>
          </a:p>
        </p:txBody>
      </p:sp>
      <p:sp>
        <p:nvSpPr>
          <p:cNvPr id="28" name="Shape 26"/>
          <p:cNvSpPr/>
          <p:nvPr/>
        </p:nvSpPr>
        <p:spPr>
          <a:xfrm>
            <a:off x="438912" y="2377440"/>
            <a:ext cx="791139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93776" y="2441448"/>
            <a:ext cx="681411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RQ2</a:t>
            </a:r>
            <a:endParaRPr lang="en-US" sz="725" dirty="0"/>
          </a:p>
        </p:txBody>
      </p:sp>
      <p:sp>
        <p:nvSpPr>
          <p:cNvPr id="30" name="Shape 28"/>
          <p:cNvSpPr/>
          <p:nvPr/>
        </p:nvSpPr>
        <p:spPr>
          <a:xfrm>
            <a:off x="1230051" y="2377440"/>
            <a:ext cx="3051536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84915" y="2441448"/>
            <a:ext cx="294180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作者很多但重复合作弱，稳定核心团队尚未形成。</a:t>
            </a:r>
            <a:endParaRPr lang="en-US" sz="725" dirty="0"/>
          </a:p>
        </p:txBody>
      </p:sp>
      <p:sp>
        <p:nvSpPr>
          <p:cNvPr id="32" name="Shape 30"/>
          <p:cNvSpPr/>
          <p:nvPr/>
        </p:nvSpPr>
        <p:spPr>
          <a:xfrm>
            <a:off x="4281587" y="2377440"/>
            <a:ext cx="2147377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36451" y="2441448"/>
            <a:ext cx="2037649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作者合作网络、阈值过滤、机构/国家分布</a:t>
            </a:r>
            <a:endParaRPr lang="en-US" sz="725" dirty="0"/>
          </a:p>
        </p:txBody>
      </p:sp>
      <p:sp>
        <p:nvSpPr>
          <p:cNvPr id="34" name="Shape 32"/>
          <p:cNvSpPr/>
          <p:nvPr/>
        </p:nvSpPr>
        <p:spPr>
          <a:xfrm>
            <a:off x="6428964" y="2377440"/>
            <a:ext cx="3616635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83828" y="2441448"/>
            <a:ext cx="3506907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作者约 2,565；原始 2,502 节点/12,227 边；过滤后 51 节点/48 边</a:t>
            </a:r>
            <a:endParaRPr lang="en-US" sz="725" dirty="0"/>
          </a:p>
        </p:txBody>
      </p:sp>
      <p:sp>
        <p:nvSpPr>
          <p:cNvPr id="36" name="Shape 34"/>
          <p:cNvSpPr/>
          <p:nvPr/>
        </p:nvSpPr>
        <p:spPr>
          <a:xfrm>
            <a:off x="10045598" y="2377440"/>
            <a:ext cx="1695298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100462" y="2441448"/>
            <a:ext cx="158557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合作图不能直接评价作者/机构质量</a:t>
            </a:r>
            <a:endParaRPr lang="en-US" sz="725" dirty="0"/>
          </a:p>
        </p:txBody>
      </p:sp>
      <p:sp>
        <p:nvSpPr>
          <p:cNvPr id="38" name="Shape 36"/>
          <p:cNvSpPr/>
          <p:nvPr/>
        </p:nvSpPr>
        <p:spPr>
          <a:xfrm>
            <a:off x="438912" y="2935224"/>
            <a:ext cx="791139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3776" y="2999232"/>
            <a:ext cx="681411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RQ3</a:t>
            </a:r>
            <a:endParaRPr lang="en-US" sz="725" dirty="0"/>
          </a:p>
        </p:txBody>
      </p:sp>
      <p:sp>
        <p:nvSpPr>
          <p:cNvPr id="40" name="Shape 38"/>
          <p:cNvSpPr/>
          <p:nvPr/>
        </p:nvSpPr>
        <p:spPr>
          <a:xfrm>
            <a:off x="1230051" y="2935224"/>
            <a:ext cx="3051536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84915" y="2999232"/>
            <a:ext cx="294180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热点从单模型能力转向系统协作机制。</a:t>
            </a:r>
            <a:endParaRPr lang="en-US" sz="725" dirty="0"/>
          </a:p>
        </p:txBody>
      </p:sp>
      <p:sp>
        <p:nvSpPr>
          <p:cNvPr id="42" name="Shape 40"/>
          <p:cNvSpPr/>
          <p:nvPr/>
        </p:nvSpPr>
        <p:spPr>
          <a:xfrm>
            <a:off x="4281587" y="2935224"/>
            <a:ext cx="2147377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336451" y="2999232"/>
            <a:ext cx="2037649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关键词共现、主题归纳、四层架构</a:t>
            </a:r>
            <a:endParaRPr lang="en-US" sz="725" dirty="0"/>
          </a:p>
        </p:txBody>
      </p:sp>
      <p:sp>
        <p:nvSpPr>
          <p:cNvPr id="44" name="Shape 42"/>
          <p:cNvSpPr/>
          <p:nvPr/>
        </p:nvSpPr>
        <p:spPr>
          <a:xfrm>
            <a:off x="6428964" y="2935224"/>
            <a:ext cx="3616635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83828" y="2999232"/>
            <a:ext cx="3506907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227 关键词、2,087 共现边；AI=56，LLMs=45</a:t>
            </a:r>
            <a:endParaRPr lang="en-US" sz="725" dirty="0"/>
          </a:p>
        </p:txBody>
      </p:sp>
      <p:sp>
        <p:nvSpPr>
          <p:cNvPr id="46" name="Shape 44"/>
          <p:cNvSpPr/>
          <p:nvPr/>
        </p:nvSpPr>
        <p:spPr>
          <a:xfrm>
            <a:off x="10045598" y="2935224"/>
            <a:ext cx="169529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100462" y="2999232"/>
            <a:ext cx="158557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关键词反映文献关注，不等于效果验证</a:t>
            </a:r>
            <a:endParaRPr lang="en-US" sz="725" dirty="0"/>
          </a:p>
        </p:txBody>
      </p:sp>
      <p:sp>
        <p:nvSpPr>
          <p:cNvPr id="48" name="Shape 46"/>
          <p:cNvSpPr/>
          <p:nvPr/>
        </p:nvSpPr>
        <p:spPr>
          <a:xfrm>
            <a:off x="438912" y="3493008"/>
            <a:ext cx="791139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93776" y="3557016"/>
            <a:ext cx="681411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RQ4</a:t>
            </a:r>
            <a:endParaRPr lang="en-US" sz="725" dirty="0"/>
          </a:p>
        </p:txBody>
      </p:sp>
      <p:sp>
        <p:nvSpPr>
          <p:cNvPr id="50" name="Shape 48"/>
          <p:cNvSpPr/>
          <p:nvPr/>
        </p:nvSpPr>
        <p:spPr>
          <a:xfrm>
            <a:off x="1230051" y="3493008"/>
            <a:ext cx="3051536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284915" y="3557016"/>
            <a:ext cx="294180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高被引论文共同构成 mini review 的知识骨架。</a:t>
            </a:r>
            <a:endParaRPr lang="en-US" sz="725" dirty="0"/>
          </a:p>
        </p:txBody>
      </p:sp>
      <p:sp>
        <p:nvSpPr>
          <p:cNvPr id="52" name="Shape 50"/>
          <p:cNvSpPr/>
          <p:nvPr/>
        </p:nvSpPr>
        <p:spPr>
          <a:xfrm>
            <a:off x="4281587" y="3493008"/>
            <a:ext cx="2147377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36451" y="3557016"/>
            <a:ext cx="2037649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高被引识别、milestone 矩阵、共被引网络</a:t>
            </a:r>
            <a:endParaRPr lang="en-US" sz="725" dirty="0"/>
          </a:p>
        </p:txBody>
      </p:sp>
      <p:sp>
        <p:nvSpPr>
          <p:cNvPr id="54" name="Shape 52"/>
          <p:cNvSpPr/>
          <p:nvPr/>
        </p:nvSpPr>
        <p:spPr>
          <a:xfrm>
            <a:off x="6428964" y="3493008"/>
            <a:ext cx="3616635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83828" y="3557016"/>
            <a:ext cx="3506907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Top5 被引：352 / 259 / 173 / 136 / 109；Fig.4 &amp; Fig.6</a:t>
            </a:r>
            <a:endParaRPr lang="en-US" sz="725" dirty="0"/>
          </a:p>
        </p:txBody>
      </p:sp>
      <p:sp>
        <p:nvSpPr>
          <p:cNvPr id="56" name="Shape 54"/>
          <p:cNvSpPr/>
          <p:nvPr/>
        </p:nvSpPr>
        <p:spPr>
          <a:xfrm>
            <a:off x="10045598" y="3493008"/>
            <a:ext cx="1695298" cy="557784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10100462" y="3557016"/>
            <a:ext cx="158557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被引高不必然表示结论更正确</a:t>
            </a:r>
            <a:endParaRPr lang="en-US" sz="725" dirty="0"/>
          </a:p>
        </p:txBody>
      </p:sp>
      <p:sp>
        <p:nvSpPr>
          <p:cNvPr id="58" name="Shape 56"/>
          <p:cNvSpPr/>
          <p:nvPr/>
        </p:nvSpPr>
        <p:spPr>
          <a:xfrm>
            <a:off x="438912" y="4050792"/>
            <a:ext cx="791139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93776" y="4114800"/>
            <a:ext cx="681411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RQ5</a:t>
            </a:r>
            <a:endParaRPr lang="en-US" sz="725" dirty="0"/>
          </a:p>
        </p:txBody>
      </p:sp>
      <p:sp>
        <p:nvSpPr>
          <p:cNvPr id="60" name="Shape 58"/>
          <p:cNvSpPr/>
          <p:nvPr/>
        </p:nvSpPr>
        <p:spPr>
          <a:xfrm>
            <a:off x="1230051" y="4050792"/>
            <a:ext cx="3051536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284915" y="4114800"/>
            <a:ext cx="2941808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评价、解释性、场景验证与安全治理是主要挑战。</a:t>
            </a:r>
            <a:endParaRPr lang="en-US" sz="725" dirty="0"/>
          </a:p>
        </p:txBody>
      </p:sp>
      <p:sp>
        <p:nvSpPr>
          <p:cNvPr id="62" name="Shape 60"/>
          <p:cNvSpPr/>
          <p:nvPr/>
        </p:nvSpPr>
        <p:spPr>
          <a:xfrm>
            <a:off x="4281587" y="4050792"/>
            <a:ext cx="2147377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4336451" y="4114800"/>
            <a:ext cx="2037649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证据链归纳、Discussion 结构化总结</a:t>
            </a:r>
            <a:endParaRPr lang="en-US" sz="725" dirty="0"/>
          </a:p>
        </p:txBody>
      </p:sp>
      <p:sp>
        <p:nvSpPr>
          <p:cNvPr id="64" name="Shape 62"/>
          <p:cNvSpPr/>
          <p:nvPr/>
        </p:nvSpPr>
        <p:spPr>
          <a:xfrm>
            <a:off x="6428964" y="4050792"/>
            <a:ext cx="3616635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483828" y="4114800"/>
            <a:ext cx="3506907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Fig.5；由增长、分散合作、多主题并行共同支撑</a:t>
            </a:r>
            <a:endParaRPr lang="en-US" sz="725" dirty="0"/>
          </a:p>
        </p:txBody>
      </p:sp>
      <p:sp>
        <p:nvSpPr>
          <p:cNvPr id="66" name="Shape 64"/>
          <p:cNvSpPr/>
          <p:nvPr/>
        </p:nvSpPr>
        <p:spPr>
          <a:xfrm>
            <a:off x="10045598" y="4050792"/>
            <a:ext cx="1695298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0100462" y="4114800"/>
            <a:ext cx="158557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5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未来方向是基于现有文献的归纳</a:t>
            </a:r>
            <a:endParaRPr lang="en-US" sz="725" dirty="0"/>
          </a:p>
        </p:txBody>
      </p:sp>
      <p:sp>
        <p:nvSpPr>
          <p:cNvPr id="68" name="Shape 66"/>
          <p:cNvSpPr/>
          <p:nvPr/>
        </p:nvSpPr>
        <p:spPr>
          <a:xfrm>
            <a:off x="658368" y="523036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EAF6EE"/>
          </a:solidFill>
          <a:ln w="10160">
            <a:solidFill>
              <a:srgbClr val="BDE5C8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68680" y="5449824"/>
            <a:ext cx="2788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分析范式：Claim → Evidence → Boundary</a:t>
            </a:r>
            <a:endParaRPr lang="en-US" sz="940" dirty="0"/>
          </a:p>
        </p:txBody>
      </p:sp>
      <p:sp>
        <p:nvSpPr>
          <p:cNvPr id="70" name="Shape 68"/>
          <p:cNvSpPr/>
          <p:nvPr/>
        </p:nvSpPr>
        <p:spPr>
          <a:xfrm>
            <a:off x="4251960" y="523036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62272" y="5449824"/>
            <a:ext cx="27889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作用：防止“图很多但不知道回答什么问题”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7845552" y="5230368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8046720" y="5449824"/>
            <a:ext cx="281635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边界：所有结论只在 Lens.org 2020–2026 样本内成立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58368" y="5989320"/>
            <a:ext cx="10652760" cy="347472"/>
          </a:xfrm>
          <a:prstGeom prst="roundRect">
            <a:avLst>
              <a:gd name="adj" fmla="val 21053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41248" y="6153912"/>
            <a:ext cx="10287000" cy="731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结果组织：第 7–12 页按照 RQ 顺序展开，每个研究问题均由对应图表和量化指标支撑。</a:t>
            </a:r>
            <a:endParaRPr lang="en-US" sz="1020" dirty="0"/>
          </a:p>
        </p:txBody>
      </p:sp>
      <p:sp>
        <p:nvSpPr>
          <p:cNvPr id="76" name="Text 74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77" name="Text 75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RQ1：发文量变化与发展阶段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核心结论：2024–2025 年出现明显跃迁，领域从早期探索进入高速扩张。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0352" y="1298448"/>
            <a:ext cx="67208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repo_imgs/fig2_publication_growth_stag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01110"/>
            <a:ext cx="6574536" cy="41837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43800" y="1335024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543800" y="1335024"/>
            <a:ext cx="73152" cy="73152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708392" y="1444752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篇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08392" y="1764792"/>
            <a:ext cx="125272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 年发文量</a:t>
            </a:r>
            <a:endParaRPr lang="en-US" sz="810" dirty="0"/>
          </a:p>
        </p:txBody>
      </p:sp>
      <p:sp>
        <p:nvSpPr>
          <p:cNvPr id="14" name="Shape 11"/>
          <p:cNvSpPr/>
          <p:nvPr/>
        </p:nvSpPr>
        <p:spPr>
          <a:xfrm>
            <a:off x="9308592" y="1335024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308592" y="1335024"/>
            <a:ext cx="73152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473184" y="1444752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81 篇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473184" y="1764792"/>
            <a:ext cx="125272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年发文量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7543800" y="2340864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543800" y="2340864"/>
            <a:ext cx="73152" cy="731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708392" y="2450592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344 篇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708392" y="2770632"/>
            <a:ext cx="125272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 年发文量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9308592" y="2340864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308592" y="2340864"/>
            <a:ext cx="73152" cy="731520"/>
          </a:xfrm>
          <a:prstGeom prst="rect">
            <a:avLst/>
          </a:prstGeom>
          <a:solidFill>
            <a:srgbClr val="C89211"/>
          </a:solidFill>
          <a:ln w="12700">
            <a:solidFill>
              <a:srgbClr val="C89211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473184" y="2450592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325%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473184" y="2770632"/>
            <a:ext cx="125272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 同比增长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7543800" y="34290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754112" y="365760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证据解释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7754112" y="3950208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年 agentic AI、工具调用、RAG 和自动化工作流成为独立热点；2025 年发文量增至 344 篇，说明研究活动迅速扩张。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658368" y="5806440"/>
            <a:ext cx="10378440" cy="411480"/>
          </a:xfrm>
          <a:prstGeom prst="roundRect">
            <a:avLst>
              <a:gd name="adj" fmla="val 17778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41248" y="5971032"/>
            <a:ext cx="1001268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补充指标：总被引 4,265，h 指数 31。边界：热度上升不等于应用成熟，新近论文仍需引用积累。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7/13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RQ2：核心研究主体与合作格局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核心结论：研究力量高度分散，尚未形成稳定核心团队。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8368" y="1362456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132588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合作网络量化证据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10512"/>
            <a:ext cx="1975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1810512"/>
            <a:ext cx="73152" cy="73152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1920240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2,565 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作者总数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2962656" y="1810512"/>
            <a:ext cx="1975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962656" y="1810512"/>
            <a:ext cx="73152" cy="731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27248" y="1920240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5.10 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27248" y="224028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篇均作者数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749808" y="2761488"/>
            <a:ext cx="1975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9808" y="2761488"/>
            <a:ext cx="73152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2871216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2,502 节点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B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12,227 边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19125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原始合作网络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2962656" y="2761488"/>
            <a:ext cx="1975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962656" y="2761488"/>
            <a:ext cx="73152" cy="731520"/>
          </a:xfrm>
          <a:prstGeom prst="rect">
            <a:avLst/>
          </a:prstGeom>
          <a:solidFill>
            <a:srgbClr val="C89211"/>
          </a:solidFill>
          <a:ln w="12700">
            <a:solidFill>
              <a:srgbClr val="C8921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127248" y="2871216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51 节点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 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127248" y="319125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过滤后网络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749808" y="3712464"/>
            <a:ext cx="1975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9808" y="3712464"/>
            <a:ext cx="73152" cy="731520"/>
          </a:xfrm>
          <a:prstGeom prst="rect">
            <a:avLst/>
          </a:prstGeom>
          <a:solidFill>
            <a:srgbClr val="A61C2A"/>
          </a:solidFill>
          <a:ln w="12700">
            <a:solidFill>
              <a:srgbClr val="A61C2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3822192"/>
            <a:ext cx="1719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A61C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篇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14223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最高产作者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5394960" y="1417320"/>
            <a:ext cx="5897880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650992" y="1700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怎样解释“分散”？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650992" y="2157984"/>
            <a:ext cx="5074920" cy="10515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作者数量大、篇均作者数高，说明该方向具有跨学科和跨任务属性。
</a:t>
            </a:r>
            <a:r>
              <a:rPr lang="en-US" sz="11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过滤一次性合作后网络明显收缩，说明重复合作关系并不密集。
</a:t>
            </a:r>
            <a:r>
              <a:rPr lang="en-US" sz="114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最高产作者仅 3 篇，说明尚未出现高集中度核心作者群体。
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5650992" y="352958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因此，该领域更像快速涌入的开放研究场，而不是已经稳定分层的成熟共同体。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658368" y="5029200"/>
            <a:ext cx="10625328" cy="566928"/>
          </a:xfrm>
          <a:prstGeom prst="roundRect">
            <a:avLst>
              <a:gd name="adj" fmla="val 12903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1248" y="5193792"/>
            <a:ext cx="10259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边界：机构 / 国家字段可能受元数据缺失或格式差异影响，更适合解释为“研究力量分布线索”，不是绝对排名。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8/13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RQ3：研究热点与四层技术结构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核心结论：研究重心从“单模型能力”转向“系统协作机制”。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280160"/>
            <a:ext cx="6309360" cy="4352544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repo_imgs/fig3_thematic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5460"/>
            <a:ext cx="6163056" cy="39219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14032" y="1316736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114032" y="1316736"/>
            <a:ext cx="73152" cy="73152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78624" y="142646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227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78624" y="1746504"/>
            <a:ext cx="11155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关键词节点</a:t>
            </a:r>
            <a:endParaRPr lang="en-US" sz="810" dirty="0"/>
          </a:p>
        </p:txBody>
      </p:sp>
      <p:sp>
        <p:nvSpPr>
          <p:cNvPr id="14" name="Shape 11"/>
          <p:cNvSpPr/>
          <p:nvPr/>
        </p:nvSpPr>
        <p:spPr>
          <a:xfrm>
            <a:off x="8723376" y="1316736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723376" y="1316736"/>
            <a:ext cx="73152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887968" y="142646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B9AA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2,087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887968" y="1746504"/>
            <a:ext cx="11155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共现关系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10332720" y="1316736"/>
            <a:ext cx="10607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332720" y="1316736"/>
            <a:ext cx="73152" cy="731520"/>
          </a:xfrm>
          <a:prstGeom prst="rect">
            <a:avLst/>
          </a:prstGeom>
          <a:solidFill>
            <a:srgbClr val="C89211"/>
          </a:solidFill>
          <a:ln w="12700">
            <a:solidFill>
              <a:srgbClr val="C8921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497312" y="1426464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 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497312" y="1746504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共现阈值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7114032" y="2395728"/>
            <a:ext cx="1074420" cy="402336"/>
          </a:xfrm>
          <a:prstGeom prst="rect">
            <a:avLst/>
          </a:prstGeom>
          <a:solidFill>
            <a:srgbClr val="2E8B57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168896" y="2468880"/>
            <a:ext cx="96469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层次</a:t>
            </a:r>
            <a:endParaRPr lang="en-US" sz="910" dirty="0"/>
          </a:p>
        </p:txBody>
      </p:sp>
      <p:sp>
        <p:nvSpPr>
          <p:cNvPr id="24" name="Shape 21"/>
          <p:cNvSpPr/>
          <p:nvPr/>
        </p:nvSpPr>
        <p:spPr>
          <a:xfrm>
            <a:off x="8188452" y="2395728"/>
            <a:ext cx="1633118" cy="402336"/>
          </a:xfrm>
          <a:prstGeom prst="rect">
            <a:avLst/>
          </a:prstGeom>
          <a:solidFill>
            <a:srgbClr val="2E8B57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243316" y="2468880"/>
            <a:ext cx="152339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代表关键词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9821570" y="2395728"/>
            <a:ext cx="1590142" cy="402336"/>
          </a:xfrm>
          <a:prstGeom prst="rect">
            <a:avLst/>
          </a:prstGeom>
          <a:solidFill>
            <a:srgbClr val="2E8B57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876434" y="2468880"/>
            <a:ext cx="148041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含义</a:t>
            </a:r>
            <a:endParaRPr lang="en-US" sz="910" dirty="0"/>
          </a:p>
        </p:txBody>
      </p:sp>
      <p:sp>
        <p:nvSpPr>
          <p:cNvPr id="28" name="Shape 25"/>
          <p:cNvSpPr/>
          <p:nvPr/>
        </p:nvSpPr>
        <p:spPr>
          <a:xfrm>
            <a:off x="7114032" y="2798064"/>
            <a:ext cx="10744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168896" y="2862072"/>
            <a:ext cx="9646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技术底座</a:t>
            </a:r>
            <a:endParaRPr lang="en-US" sz="770" dirty="0"/>
          </a:p>
        </p:txBody>
      </p:sp>
      <p:sp>
        <p:nvSpPr>
          <p:cNvPr id="30" name="Shape 27"/>
          <p:cNvSpPr/>
          <p:nvPr/>
        </p:nvSpPr>
        <p:spPr>
          <a:xfrm>
            <a:off x="8188452" y="2798064"/>
            <a:ext cx="163311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243316" y="2862072"/>
            <a:ext cx="152339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/ AI / ML / NLP</a:t>
            </a:r>
            <a:endParaRPr lang="en-US" sz="770" dirty="0"/>
          </a:p>
        </p:txBody>
      </p:sp>
      <p:sp>
        <p:nvSpPr>
          <p:cNvPr id="32" name="Shape 29"/>
          <p:cNvSpPr/>
          <p:nvPr/>
        </p:nvSpPr>
        <p:spPr>
          <a:xfrm>
            <a:off x="9821570" y="2798064"/>
            <a:ext cx="159014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9876434" y="2862072"/>
            <a:ext cx="14804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依赖基础模型能力</a:t>
            </a:r>
            <a:endParaRPr lang="en-US" sz="770" dirty="0"/>
          </a:p>
        </p:txBody>
      </p:sp>
      <p:sp>
        <p:nvSpPr>
          <p:cNvPr id="34" name="Shape 31"/>
          <p:cNvSpPr/>
          <p:nvPr/>
        </p:nvSpPr>
        <p:spPr>
          <a:xfrm>
            <a:off x="7114032" y="3200400"/>
            <a:ext cx="1074420" cy="402336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168896" y="3264408"/>
            <a:ext cx="9646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协作架构</a:t>
            </a:r>
            <a:endParaRPr lang="en-US" sz="770" dirty="0"/>
          </a:p>
        </p:txBody>
      </p:sp>
      <p:sp>
        <p:nvSpPr>
          <p:cNvPr id="36" name="Shape 33"/>
          <p:cNvSpPr/>
          <p:nvPr/>
        </p:nvSpPr>
        <p:spPr>
          <a:xfrm>
            <a:off x="8188452" y="3200400"/>
            <a:ext cx="1633118" cy="402336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8243316" y="3264408"/>
            <a:ext cx="152339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AI / MAS / AI agents</a:t>
            </a:r>
            <a:endParaRPr lang="en-US" sz="770" dirty="0"/>
          </a:p>
        </p:txBody>
      </p:sp>
      <p:sp>
        <p:nvSpPr>
          <p:cNvPr id="38" name="Shape 35"/>
          <p:cNvSpPr/>
          <p:nvPr/>
        </p:nvSpPr>
        <p:spPr>
          <a:xfrm>
            <a:off x="9821570" y="3200400"/>
            <a:ext cx="1590142" cy="402336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876434" y="3264408"/>
            <a:ext cx="14804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角色分工、任务拆解与协同</a:t>
            </a:r>
            <a:endParaRPr lang="en-US" sz="770" dirty="0"/>
          </a:p>
        </p:txBody>
      </p:sp>
      <p:sp>
        <p:nvSpPr>
          <p:cNvPr id="40" name="Shape 37"/>
          <p:cNvSpPr/>
          <p:nvPr/>
        </p:nvSpPr>
        <p:spPr>
          <a:xfrm>
            <a:off x="7114032" y="3602736"/>
            <a:ext cx="10744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168896" y="3666744"/>
            <a:ext cx="9646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能力增强</a:t>
            </a:r>
            <a:endParaRPr lang="en-US" sz="770" dirty="0"/>
          </a:p>
        </p:txBody>
      </p:sp>
      <p:sp>
        <p:nvSpPr>
          <p:cNvPr id="42" name="Shape 39"/>
          <p:cNvSpPr/>
          <p:nvPr/>
        </p:nvSpPr>
        <p:spPr>
          <a:xfrm>
            <a:off x="8188452" y="3602736"/>
            <a:ext cx="163311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8243316" y="3666744"/>
            <a:ext cx="152339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/ RL / planning / tool use</a:t>
            </a:r>
            <a:endParaRPr lang="en-US" sz="770" dirty="0"/>
          </a:p>
        </p:txBody>
      </p:sp>
      <p:sp>
        <p:nvSpPr>
          <p:cNvPr id="44" name="Shape 41"/>
          <p:cNvSpPr/>
          <p:nvPr/>
        </p:nvSpPr>
        <p:spPr>
          <a:xfrm>
            <a:off x="9821570" y="3602736"/>
            <a:ext cx="159014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9876434" y="3666744"/>
            <a:ext cx="14804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检索、反馈学习与工具调用</a:t>
            </a:r>
            <a:endParaRPr lang="en-US" sz="770" dirty="0"/>
          </a:p>
        </p:txBody>
      </p:sp>
      <p:sp>
        <p:nvSpPr>
          <p:cNvPr id="46" name="Shape 43"/>
          <p:cNvSpPr/>
          <p:nvPr/>
        </p:nvSpPr>
        <p:spPr>
          <a:xfrm>
            <a:off x="7114032" y="4005072"/>
            <a:ext cx="1074420" cy="402336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7168896" y="4069080"/>
            <a:ext cx="96469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治理应用</a:t>
            </a:r>
            <a:endParaRPr lang="en-US" sz="770" dirty="0"/>
          </a:p>
        </p:txBody>
      </p:sp>
      <p:sp>
        <p:nvSpPr>
          <p:cNvPr id="48" name="Shape 45"/>
          <p:cNvSpPr/>
          <p:nvPr/>
        </p:nvSpPr>
        <p:spPr>
          <a:xfrm>
            <a:off x="8188452" y="4005072"/>
            <a:ext cx="1633118" cy="402336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8243316" y="4069080"/>
            <a:ext cx="152339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ethics / HRI / digital health</a:t>
            </a:r>
            <a:endParaRPr lang="en-US" sz="770" dirty="0"/>
          </a:p>
        </p:txBody>
      </p:sp>
      <p:sp>
        <p:nvSpPr>
          <p:cNvPr id="50" name="Shape 47"/>
          <p:cNvSpPr/>
          <p:nvPr/>
        </p:nvSpPr>
        <p:spPr>
          <a:xfrm>
            <a:off x="9821570" y="4005072"/>
            <a:ext cx="1590142" cy="402336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9876434" y="4069080"/>
            <a:ext cx="14804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高约束场景与安全治理</a:t>
            </a:r>
            <a:endParaRPr lang="en-US" sz="770" dirty="0"/>
          </a:p>
        </p:txBody>
      </p:sp>
      <p:sp>
        <p:nvSpPr>
          <p:cNvPr id="52" name="Shape 49"/>
          <p:cNvSpPr/>
          <p:nvPr/>
        </p:nvSpPr>
        <p:spPr>
          <a:xfrm>
            <a:off x="7114032" y="4882896"/>
            <a:ext cx="4297680" cy="475488"/>
          </a:xfrm>
          <a:prstGeom prst="roundRect">
            <a:avLst>
              <a:gd name="adj" fmla="val 15385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296912" y="504748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高频关键词：artificial intelligence（56）、large language models（45）、large language model（24）。</a:t>
            </a:r>
            <a:endParaRPr lang="en-US" sz="1020" dirty="0"/>
          </a:p>
        </p:txBody>
      </p:sp>
      <p:sp>
        <p:nvSpPr>
          <p:cNvPr id="54" name="Text 51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55" name="Text 52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RQ4：高影响论文与技术叙事线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核心结论：高被引论文不是清单，而是 mini review 的知识骨架。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280160"/>
            <a:ext cx="6035040" cy="4352544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repo_imgs/fig4_milestone_road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82743"/>
            <a:ext cx="5888736" cy="37473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03720" y="1362456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050024" y="132588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 5 milestone 候选论文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03720" y="1792224"/>
            <a:ext cx="888797" cy="393192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958584" y="1865376"/>
            <a:ext cx="779069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年份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7792517" y="1792224"/>
            <a:ext cx="755477" cy="393192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847381" y="1865376"/>
            <a:ext cx="645749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被引</a:t>
            </a:r>
            <a:endParaRPr lang="en-US" sz="910" dirty="0"/>
          </a:p>
        </p:txBody>
      </p:sp>
      <p:sp>
        <p:nvSpPr>
          <p:cNvPr id="16" name="Shape 13"/>
          <p:cNvSpPr/>
          <p:nvPr/>
        </p:nvSpPr>
        <p:spPr>
          <a:xfrm>
            <a:off x="8547994" y="1792224"/>
            <a:ext cx="2799710" cy="393192"/>
          </a:xfrm>
          <a:prstGeom prst="rect">
            <a:avLst/>
          </a:prstGeom>
          <a:solidFill>
            <a:srgbClr val="12344D"/>
          </a:solidFill>
          <a:ln w="889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602858" y="1865376"/>
            <a:ext cx="268998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6903720" y="2185416"/>
            <a:ext cx="888797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958584" y="2249424"/>
            <a:ext cx="77906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7792517" y="2185416"/>
            <a:ext cx="755477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847381" y="2249424"/>
            <a:ext cx="64574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352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8547994" y="2185416"/>
            <a:ext cx="279971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602858" y="2249424"/>
            <a:ext cx="2689982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自驱动实验室、化学与材料科学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903720" y="2578608"/>
            <a:ext cx="888797" cy="393192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958584" y="2642616"/>
            <a:ext cx="77906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792517" y="2578608"/>
            <a:ext cx="755477" cy="393192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847381" y="2642616"/>
            <a:ext cx="64574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259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8547994" y="2578608"/>
            <a:ext cx="2799710" cy="393192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602858" y="2642616"/>
            <a:ext cx="2689982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无人机与多智能体系统综述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903720" y="2971800"/>
            <a:ext cx="888797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958584" y="3035808"/>
            <a:ext cx="77906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7792517" y="2971800"/>
            <a:ext cx="755477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847381" y="3035808"/>
            <a:ext cx="64574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173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8547994" y="2971800"/>
            <a:ext cx="279971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602858" y="3035808"/>
            <a:ext cx="2689982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人机协同创作与语言模型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6903720" y="3364992"/>
            <a:ext cx="888797" cy="393192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958584" y="3429000"/>
            <a:ext cx="77906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7792517" y="3364992"/>
            <a:ext cx="755477" cy="393192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847381" y="3429000"/>
            <a:ext cx="64574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136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8547994" y="3364992"/>
            <a:ext cx="2799710" cy="393192"/>
          </a:xfrm>
          <a:prstGeom prst="rect">
            <a:avLst/>
          </a:prstGeom>
          <a:solidFill>
            <a:srgbClr val="FBF7F0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8602858" y="3429000"/>
            <a:ext cx="2689982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化学领域 LLM 与 autonomous agents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6903720" y="3758184"/>
            <a:ext cx="888797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6958584" y="3822192"/>
            <a:ext cx="77906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7792517" y="3758184"/>
            <a:ext cx="755477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47381" y="3822192"/>
            <a:ext cx="645749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109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8547994" y="3758184"/>
            <a:ext cx="279971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8602858" y="3822192"/>
            <a:ext cx="2689982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SMART-LLM 多智能体任务规划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6903720" y="4389120"/>
            <a:ext cx="444398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7150608" y="460857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综述主线</a:t>
            </a:r>
            <a:endParaRPr lang="en-US" sz="1320" dirty="0"/>
          </a:p>
        </p:txBody>
      </p:sp>
      <p:sp>
        <p:nvSpPr>
          <p:cNvPr id="50" name="Text 47"/>
          <p:cNvSpPr/>
          <p:nvPr/>
        </p:nvSpPr>
        <p:spPr>
          <a:xfrm>
            <a:off x="7150608" y="491947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任务规划与自动化工作流｜科学发现与自驱动实验室｜人机协作与人类监督｜医疗、机器人等垂直行业智能体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52" name="Text 49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RQ4 补充：共被引网络如何支撑知识基础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共被引网络用于解释代表性论文之间的知识关联，支撑 mini review 的知识基础。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280160"/>
            <a:ext cx="672084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repo_imgs/fig6_reference_cocitation_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73678"/>
            <a:ext cx="6574536" cy="41837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43800" y="1362456"/>
            <a:ext cx="82296" cy="2926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690104" y="132588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共被引网络的读图方式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71232" y="1783080"/>
            <a:ext cx="3703320" cy="14813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节点代表在本语料中同时被引用的文献，节点大小反映在语料内被引频次。
</a:t>
            </a: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边代表两篇文献被共同引用的强度，用于识别共同知识基础。
</a:t>
            </a: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颜色对应主题簇：机器人规划、科学发现、临床智能体、人机协作等。
</a:t>
            </a: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这张图把“代表论文”与“主题簇”连接起来，支撑综述的技术叙事线。
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3858768"/>
            <a:ext cx="3749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72400" y="407822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支撑结论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39826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代表论文并非仅按被引次数罗列，而是通过共被引关系共同构成领域知识基础。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58368" y="580644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FFF3D8"/>
          </a:solidFill>
          <a:ln w="10160">
            <a:solidFill>
              <a:srgbClr val="E8C66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41248" y="5971032"/>
            <a:ext cx="1010412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边界：共被引网络说明知识关联，不等于判断论文结论一定正确，也不能直接证明某条技术路线已经成熟。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19" name="Text 16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11/13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RQ5：研究空白、未来挑战与项目局限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基于增长趋势、合作格局、关键词结构和代表文献进行综合归纳。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243584"/>
            <a:ext cx="5943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repo_imgs/fig5_challenges_agend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99" y="1316736"/>
            <a:ext cx="5661442" cy="36027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12280" y="1280160"/>
            <a:ext cx="82296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58584" y="124358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四个未来挑战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1700784"/>
            <a:ext cx="4297680" cy="122529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评价体系不统一：任务、指标、提示词和工具环境难以横向比较。
</a:t>
            </a: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协作机制可解释性不足：任务分配、冲突解决与错误溯源仍不透明。
</a:t>
            </a: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垂直场景验证有限：医疗、机器人、科学实验需要更强约束与审计。
</a:t>
            </a:r>
            <a:r>
              <a:rPr lang="en-US" sz="105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安全治理复杂化：错误传播、责任模糊、工具误用风险增加。
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12280" y="3456432"/>
            <a:ext cx="2057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22592" y="367588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项目贡献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7022592" y="396849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522 篇数据集；图谱回答 RQ；计量证据转 mini review；GitHub 归档可复现。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189720" y="3456432"/>
            <a:ext cx="2057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400032" y="367588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A61C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项目局限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9400032" y="396849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 Lens 元数据；2026 非完整年份；关键词与引用网络仍需结合人工阅读解释。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658368" y="5650992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E9F1F8"/>
          </a:solidFill>
          <a:ln w="1016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41248" y="5815584"/>
            <a:ext cx="10287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结论边界：现有文献显示这些问题正在受到关注，并可能成为后续研究需要重点解决的方向。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12/13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44D"/>
          </a:solidFill>
          <a:ln w="12700">
            <a:solidFill>
              <a:srgbClr val="1234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310896"/>
            <a:ext cx="512064" cy="365760"/>
          </a:xfrm>
          <a:prstGeom prst="rect">
            <a:avLst/>
          </a:prstGeom>
          <a:solidFill>
            <a:srgbClr val="12344D"/>
          </a:solidFill>
          <a:ln>
            <a:solidFill>
              <a:srgbClr val="12344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5603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总结与答辩收束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060704" y="749808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875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围绕研究结论、项目价值、后续改进和分工亮点四个层次完成总结。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11480" y="1033272"/>
            <a:ext cx="1124712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96112" y="1591056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研究结论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993392"/>
            <a:ext cx="2697480" cy="7863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领域已进入高速增长阶段。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研究主体分散，稳定核心团队尚未形成。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主题从单模型能力转向系统协作机制。
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90872" y="1591056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项目价值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0872" y="1993392"/>
            <a:ext cx="2697480" cy="7863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 GitHub 保存数据、代码、报告、图表和综述。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 run_pipeline.py 串联清洗、指标和图谱。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将计量图谱转化为 mini review 技术叙事线。
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85632" y="15910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下一步改进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85632" y="1993392"/>
            <a:ext cx="2304288" cy="7863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补充全文阅读与主题编码。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增加跨数据库对照。
</a:t>
            </a:r>
            <a:r>
              <a:rPr lang="en-US" sz="108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围绕 EDA / RTL Agent 形成后续选题入口。
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82296" cy="2926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4672" y="37947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复现路径与分工亮点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4224528"/>
            <a:ext cx="10561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6112" y="44805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复现路径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1938528" y="4498848"/>
            <a:ext cx="88879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2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config/query.yaml → data/processed/cleaned_data.csv → src/*.py → outputs/figures → reports/*.md → paper/mini_review_final.md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896112" y="4773168"/>
            <a:ext cx="9966960" cy="0"/>
          </a:xfrm>
          <a:prstGeom prst="line">
            <a:avLst/>
          </a:prstGeom>
          <a:noFill/>
          <a:ln w="12700">
            <a:solidFill>
              <a:srgbClr val="DAD4C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6112" y="491947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2E8B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分工亮点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1938528" y="4937760"/>
            <a:ext cx="88696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E2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高俊杰：工程架构与代码统筹；赵世铎：检索策略与数据获取；团队成员覆盖清洗、图谱、综述写作，满足正式汇报参与要求。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5852160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感谢聆听，欢迎老师和同学提问。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README / Lens.org 2020–2026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11064240" y="6455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13/13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5413</Words>
  <Application>WPS 演示</Application>
  <PresentationFormat>On-screen Show (16:9)</PresentationFormat>
  <Paragraphs>601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Aptos Mono</vt:lpstr>
      <vt:lpstr>Aptos Mono</vt:lpstr>
      <vt:lpstr>Aptos Mono</vt:lpstr>
      <vt:lpstr>微软雅黑</vt:lpstr>
      <vt:lpstr>Arial Unicode MS</vt:lpstr>
      <vt:lpstr>等线</vt:lpstr>
      <vt:lpstr>Cascadia Mono SemiLight</vt:lpstr>
      <vt:lpstr>MS PGothic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湖南大学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基于文献计量学的 LLM 多智能体协作研究趋势分析</dc:title>
  <dc:creator>OpenAI</dc:creator>
  <dc:subject>LLM multi-agent collaboration bibliometric presentation</dc:subject>
  <cp:lastModifiedBy>高俊杰0317</cp:lastModifiedBy>
  <cp:revision>2</cp:revision>
  <dcterms:created xsi:type="dcterms:W3CDTF">2026-06-09T12:33:00Z</dcterms:created>
  <dcterms:modified xsi:type="dcterms:W3CDTF">2026-06-09T12:45:48Z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76D25788C9DC46C78C4673B481C1DD1B_13</vt:lpwstr>
  </property>
  <property fmtid="{D5CDD505-2E9C-101B-9397-08002B2CF9AE}" pid="3" name="KSOProductBuildVer">
    <vt:lpwstr>2052-12.1.0.26895</vt:lpwstr>
  </property>
</Properties>
</file>