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55c8f6e767e46a1" /><Relationship Type="http://schemas.openxmlformats.org/officeDocument/2006/relationships/extended-properties" Target="/docProps/app.xml" Id="Rb3c75ee9e339487c" /><Relationship Type="http://schemas.openxmlformats.org/officeDocument/2006/relationships/officeDocument" Target="/ppt/presentation.xml" Id="Rf0a0670f83bc477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fea9d8075e94294"/>
  </p:sldMasterIdLst>
  <p:notesMasterIdLst>
    <p:notesMasterId xmlns:r="http://schemas.openxmlformats.org/officeDocument/2006/relationships" r:id="Rc57532f284c446a0"/>
  </p:notesMasterIdLst>
  <p:sldIdLst>
    <p:sldId xmlns:r="http://schemas.openxmlformats.org/officeDocument/2006/relationships" id="256" r:id="Rb05394bb9d87405e"/>
    <p:sldId xmlns:r="http://schemas.openxmlformats.org/officeDocument/2006/relationships" id="257" r:id="R416d30403b4e4da9"/>
    <p:sldId xmlns:r="http://schemas.openxmlformats.org/officeDocument/2006/relationships" id="258" r:id="R82f065a5bc2f4367"/>
    <p:sldId xmlns:r="http://schemas.openxmlformats.org/officeDocument/2006/relationships" id="259" r:id="Rfb939e3dc78b4fbc"/>
    <p:sldId xmlns:r="http://schemas.openxmlformats.org/officeDocument/2006/relationships" id="260" r:id="Rba6498e46fb04cc7"/>
    <p:sldId xmlns:r="http://schemas.openxmlformats.org/officeDocument/2006/relationships" id="261" r:id="R846e460adcf1433d"/>
    <p:sldId xmlns:r="http://schemas.openxmlformats.org/officeDocument/2006/relationships" id="262" r:id="R858d867413944346"/>
    <p:sldId xmlns:r="http://schemas.openxmlformats.org/officeDocument/2006/relationships" id="263" r:id="Re6e6bce2a336407d"/>
    <p:sldId xmlns:r="http://schemas.openxmlformats.org/officeDocument/2006/relationships" id="264" r:id="Rc6b8614bd1c44ff7"/>
    <p:sldId xmlns:r="http://schemas.openxmlformats.org/officeDocument/2006/relationships" id="265" r:id="R198c630a7cb445c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ea9d8075e94294" /><Relationship Type="http://schemas.openxmlformats.org/officeDocument/2006/relationships/theme" Target="/ppt/theme/theme1.xml" Id="Rc08e17183e934ff7" /><Relationship Type="http://schemas.openxmlformats.org/officeDocument/2006/relationships/notesMaster" Target="/ppt/notesMasters/notesMaster1.xml" Id="Rc57532f284c446a0" /><Relationship Type="http://schemas.openxmlformats.org/officeDocument/2006/relationships/presProps" Target="/ppt/presProps.xml" Id="Rd0c1aeb31f774ef1" /><Relationship Type="http://schemas.openxmlformats.org/officeDocument/2006/relationships/viewProps" Target="/ppt/viewProps.xml" Id="Rcecd5fbf5d074642" /><Relationship Type="http://schemas.openxmlformats.org/officeDocument/2006/relationships/tableStyles" Target="/ppt/tableStyles.xml" Id="Rb57e21dc0a704ce1" /><Relationship Type="http://schemas.openxmlformats.org/officeDocument/2006/relationships/slide" Target="/ppt/slides/slide1.xml" Id="Rb05394bb9d87405e" /><Relationship Type="http://schemas.openxmlformats.org/officeDocument/2006/relationships/slide" Target="/ppt/slides/slide2.xml" Id="R416d30403b4e4da9" /><Relationship Type="http://schemas.openxmlformats.org/officeDocument/2006/relationships/slide" Target="/ppt/slides/slide3.xml" Id="R82f065a5bc2f4367" /><Relationship Type="http://schemas.openxmlformats.org/officeDocument/2006/relationships/slide" Target="/ppt/slides/slide4.xml" Id="Rfb939e3dc78b4fbc" /><Relationship Type="http://schemas.openxmlformats.org/officeDocument/2006/relationships/slide" Target="/ppt/slides/slide5.xml" Id="Rba6498e46fb04cc7" /><Relationship Type="http://schemas.openxmlformats.org/officeDocument/2006/relationships/slide" Target="/ppt/slides/slide6.xml" Id="R846e460adcf1433d" /><Relationship Type="http://schemas.openxmlformats.org/officeDocument/2006/relationships/slide" Target="/ppt/slides/slide7.xml" Id="R858d867413944346" /><Relationship Type="http://schemas.openxmlformats.org/officeDocument/2006/relationships/slide" Target="/ppt/slides/slide8.xml" Id="Re6e6bce2a336407d" /><Relationship Type="http://schemas.openxmlformats.org/officeDocument/2006/relationships/slide" Target="/ppt/slides/slide9.xml" Id="Rc6b8614bd1c44ff7" /><Relationship Type="http://schemas.openxmlformats.org/officeDocument/2006/relationships/slide" Target="/ppt/slides/slide10.xml" Id="R198c630a7cb445c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f3414667eddc4fe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ac90828ac4844aa" /><Relationship Type="http://schemas.openxmlformats.org/officeDocument/2006/relationships/notesMaster" Target="/ppt/notesMasters/notesMaster1.xml" Id="R3656d3d4392a40d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6318ce3f323434a" /><Relationship Type="http://schemas.openxmlformats.org/officeDocument/2006/relationships/notesMaster" Target="/ppt/notesMasters/notesMaster1.xml" Id="R72f4cc9a88304f7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5a0cbf1abd54c75" /><Relationship Type="http://schemas.openxmlformats.org/officeDocument/2006/relationships/notesMaster" Target="/ppt/notesMasters/notesMaster1.xml" Id="R34abb4e902d743e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879f6a1a0024325" /><Relationship Type="http://schemas.openxmlformats.org/officeDocument/2006/relationships/notesMaster" Target="/ppt/notesMasters/notesMaster1.xml" Id="Rb40e347e1c83434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4ede7ad19894695" /><Relationship Type="http://schemas.openxmlformats.org/officeDocument/2006/relationships/notesMaster" Target="/ppt/notesMasters/notesMaster1.xml" Id="R1c51d277ccb3444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3e2c8491c964780" /><Relationship Type="http://schemas.openxmlformats.org/officeDocument/2006/relationships/notesMaster" Target="/ppt/notesMasters/notesMaster1.xml" Id="Rd71265fee47946e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bd706312031473d" /><Relationship Type="http://schemas.openxmlformats.org/officeDocument/2006/relationships/notesMaster" Target="/ppt/notesMasters/notesMaster1.xml" Id="R7788868157d54ef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34240d24c164561" /><Relationship Type="http://schemas.openxmlformats.org/officeDocument/2006/relationships/notesMaster" Target="/ppt/notesMasters/notesMaster1.xml" Id="R8f841b0b9d6f408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4de7854aa2846b2" /><Relationship Type="http://schemas.openxmlformats.org/officeDocument/2006/relationships/notesMaster" Target="/ppt/notesMasters/notesMaster1.xml" Id="R36a6a051249f411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1328724b72b431f" /><Relationship Type="http://schemas.openxmlformats.org/officeDocument/2006/relationships/notesMaster" Target="/ppt/notesMasters/notesMaster1.xml" Id="R202515e450af499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ea161d9fd0460f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bc50127987de4d2f" /><Relationship Type="http://schemas.openxmlformats.org/officeDocument/2006/relationships/slideLayout" Target="/ppt/slideLayouts/slideLayout2.xml" Id="Rb0f4bc08a87f49d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0f4bc08a87f49d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82d43d5808f43be" /><Relationship Type="http://schemas.openxmlformats.org/officeDocument/2006/relationships/notesSlide" Target="/ppt/notesSlides/notesSlide1.xml" Id="Rc3ce719ac34a4bb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9ff27f327144e53" /><Relationship Type="http://schemas.openxmlformats.org/officeDocument/2006/relationships/notesSlide" Target="/ppt/notesSlides/notesSlide2.xml" Id="R5f3aca97181d400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62eb0ab71d34b52" /><Relationship Type="http://schemas.openxmlformats.org/officeDocument/2006/relationships/notesSlide" Target="/ppt/notesSlides/notesSlide3.xml" Id="R2621c29df8b6456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7e102d077834ab3" /><Relationship Type="http://schemas.openxmlformats.org/officeDocument/2006/relationships/notesSlide" Target="/ppt/notesSlides/notesSlide4.xml" Id="R8e61c5d9bb6d4c7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723ca086d2945a1" /><Relationship Type="http://schemas.openxmlformats.org/officeDocument/2006/relationships/notesSlide" Target="/ppt/notesSlides/notesSlide5.xml" Id="Rb49332458ab1416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d54710042ef4d42" /><Relationship Type="http://schemas.openxmlformats.org/officeDocument/2006/relationships/image" Target="/ppt/media/image.png" Id="Rfa0775c9fc944744" /><Relationship Type="http://schemas.openxmlformats.org/officeDocument/2006/relationships/notesSlide" Target="/ppt/notesSlides/notesSlide6.xml" Id="R0c055cd469fe49e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48d458ace194117" /><Relationship Type="http://schemas.openxmlformats.org/officeDocument/2006/relationships/image" Target="/ppt/media/image2.png" Id="Radad46a8aa744097" /><Relationship Type="http://schemas.openxmlformats.org/officeDocument/2006/relationships/image" Target="/ppt/media/image3.png" Id="Raef533567b834843" /><Relationship Type="http://schemas.openxmlformats.org/officeDocument/2006/relationships/notesSlide" Target="/ppt/notesSlides/notesSlide7.xml" Id="R640a54414eca4cc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296db7350814bba" /><Relationship Type="http://schemas.openxmlformats.org/officeDocument/2006/relationships/image" Target="/ppt/media/image4.png" Id="R713c58c491904eb0" /><Relationship Type="http://schemas.openxmlformats.org/officeDocument/2006/relationships/notesSlide" Target="/ppt/notesSlides/notesSlide8.xml" Id="R68db027a5450403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83ebe1bf40c4978" /><Relationship Type="http://schemas.openxmlformats.org/officeDocument/2006/relationships/notesSlide" Target="/ppt/notesSlides/notesSlide9.xml" Id="R847dcf0ad6794c3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366f206c3aa4cae" /><Relationship Type="http://schemas.openxmlformats.org/officeDocument/2006/relationships/notesSlide" Target="/ppt/notesSlides/notesSlide10.xml" Id="R8c1726c7e0a84ed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9BC3D3-CC6A-4B23-A35A-5112EBEC5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271899-DA6D-41BD-9236-C2B9E517A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C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DA0003-DAE7-4D3A-8335-80B6492D3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E2A18B-2326-44CA-A2CC-C86DEB4DB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443BCE-CFE1-456E-9C40-1F32BA279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7C4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7C4D6"/>
                </a:solidFill>
                <a:latin typeface="Microsoft YaHei"/>
                <a:ea typeface="Microsoft YaHei"/>
                <a:cs typeface="Microsoft YaHei"/>
              </a:rPr>
              <a:t>文献计量学课程项目答辩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836805-071C-4D9E-9488-85119E437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953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4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LLM 多智能体协作研究趋势分析与综述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69EDE6-1A06-4D12-8B7A-68EAE1DB4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05150"/>
            <a:ext cx="647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9E0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D9E0EA"/>
                </a:solidFill>
                <a:latin typeface="Microsoft YaHei"/>
                <a:ea typeface="Microsoft YaHei"/>
                <a:cs typeface="Microsoft YaHei"/>
              </a:rPr>
              <a:t>从 Lens.org 数据集、知识图谱到 mini review 的可复现 GitHub 项目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CDDF1F-0426-46E8-959D-EDC4B58D4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767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9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89B19"/>
                </a:solidFill>
                <a:latin typeface="Microsoft YaHei"/>
                <a:ea typeface="Microsoft YaHei"/>
                <a:cs typeface="Microsoft YaHei"/>
              </a:rPr>
              <a:t>答辩主线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44499E-7B43-406A-BC19-FEDA71333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81550"/>
            <a:ext cx="6667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DF1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DF1F5"/>
                </a:solidFill>
                <a:latin typeface="Microsoft YaHei"/>
                <a:ea typeface="Microsoft YaHei"/>
                <a:cs typeface="Microsoft YaHei"/>
              </a:rPr>
              <a:t>课程要求如何被落到 M1-M3 交付物中；计量证据如何支撑综述结构；Week 13 如何把图表、文字与证据链绑定成可提交版本。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5CBE42-5860-432E-B1F4-A5B5642EA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876300"/>
            <a:ext cx="23241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64C68D-675E-45D3-AB3E-A5C9B8A7C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876300"/>
            <a:ext cx="47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215991-2A56-474F-98FE-23242C2A4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971550"/>
            <a:ext cx="2057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24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00" b="1">
                <a:solidFill>
                  <a:srgbClr val="20242A"/>
                </a:solidFill>
                <a:latin typeface="Microsoft YaHei UI"/>
                <a:ea typeface="Microsoft YaHei UI"/>
                <a:cs typeface="Microsoft YaHei UI"/>
              </a:rPr>
              <a:t>522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9BE4DF-B640-4221-8A27-94574AB2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295400"/>
            <a:ext cx="2057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有效文献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A7B667-D060-4C27-B5FA-EAD7F7E04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476375"/>
            <a:ext cx="2057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B75"/>
                </a:solidFill>
                <a:latin typeface="Microsoft YaHei"/>
                <a:ea typeface="Microsoft YaHei"/>
                <a:cs typeface="Microsoft YaHei"/>
              </a:rPr>
              <a:t>542 条原始记录去重后纳入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B848DF-5344-43B7-9296-9E150331D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866900"/>
            <a:ext cx="23241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E40D48-7601-40AC-A5CC-F1D7DD58A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866900"/>
            <a:ext cx="47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7A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F2CDA6-2FE8-44D8-A521-DE1AED3D9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962150"/>
            <a:ext cx="2057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24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00" b="1">
                <a:solidFill>
                  <a:srgbClr val="20242A"/>
                </a:solidFill>
                <a:latin typeface="Microsoft YaHei UI"/>
                <a:ea typeface="Microsoft YaHei UI"/>
                <a:cs typeface="Microsoft YaHei UI"/>
              </a:rPr>
              <a:t>4,265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9E6FF2-38B1-468B-8FB4-40F40155D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286000"/>
            <a:ext cx="2057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总被引次数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86CAA0-008D-476F-81FC-004E674D9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466975"/>
            <a:ext cx="2057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B75"/>
                </a:solidFill>
                <a:latin typeface="Microsoft YaHei"/>
                <a:ea typeface="Microsoft YaHei"/>
                <a:cs typeface="Microsoft YaHei"/>
              </a:rPr>
              <a:t>样本整体学术关注度较高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FF99B5-3882-4C38-B347-C8177B4E1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857500"/>
            <a:ext cx="23241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DC657F-1D90-4487-B31A-42CBDFC66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857500"/>
            <a:ext cx="47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8C6E54-CA88-4FF2-AE4B-57B88F647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952750"/>
            <a:ext cx="2057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24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00" b="1">
                <a:solidFill>
                  <a:srgbClr val="20242A"/>
                </a:solidFill>
                <a:latin typeface="Microsoft YaHei UI"/>
                <a:ea typeface="Microsoft YaHei UI"/>
                <a:cs typeface="Microsoft YaHei UI"/>
              </a:rPr>
              <a:t>h = 31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578861-C746-48D1-9A58-A42316A0C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276600"/>
            <a:ext cx="2057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领域影响力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69CDC2-9C07-479D-A959-FF95D2CC2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457575"/>
            <a:ext cx="2057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B75"/>
                </a:solidFill>
                <a:latin typeface="Microsoft YaHei"/>
                <a:ea typeface="Microsoft YaHei"/>
                <a:cs typeface="Microsoft YaHei"/>
              </a:rPr>
              <a:t>31 篇论文被引至少 31 次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1B9183-CF9D-4C80-B9DD-3D982F1B4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848100"/>
            <a:ext cx="23241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A7DF14-49F4-4C07-9CF6-034D5E490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848100"/>
            <a:ext cx="47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6B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147E6A-F697-4800-9B3F-7DB115AC0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943350"/>
            <a:ext cx="2057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24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00" b="1">
                <a:solidFill>
                  <a:srgbClr val="20242A"/>
                </a:solidFill>
                <a:latin typeface="Microsoft YaHei UI"/>
                <a:ea typeface="Microsoft YaHei UI"/>
                <a:cs typeface="Microsoft YaHei UI"/>
              </a:rPr>
              <a:t>344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6A88804-3774-435E-A8BA-04EA08109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267200"/>
            <a:ext cx="2057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2025 年发文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540028D-EB7C-461E-8300-0AEC7109F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448175"/>
            <a:ext cx="2057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B75"/>
                </a:solidFill>
                <a:latin typeface="Microsoft YaHei"/>
                <a:ea typeface="Microsoft YaHei"/>
                <a:cs typeface="Microsoft YaHei"/>
              </a:rPr>
              <a:t>进入爆发式增长阶段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0E76DF4-D80D-4C08-9AFA-B28882FB1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219700"/>
            <a:ext cx="2343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26B75"/>
                </a:solidFill>
                <a:latin typeface="Microsoft YaHei"/>
                <a:ea typeface="Microsoft YaHei"/>
                <a:cs typeface="Microsoft YaHei"/>
              </a:rPr>
              <a:t>组别 / 姓名可在此处替换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A89159F-78AA-4889-B605-A286430B9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486400"/>
            <a:ext cx="2343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6B75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626B75"/>
                </a:solidFill>
                <a:latin typeface="Consolas"/>
                <a:ea typeface="Consolas"/>
                <a:cs typeface="Consolas"/>
              </a:rPr>
              <a:t>Week 13 defense draft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FC35295-0101-4FF7-A353-18ED27E49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857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7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A746B"/>
                </a:solidFill>
                <a:latin typeface="Microsoft YaHei"/>
                <a:ea typeface="Microsoft YaHei"/>
                <a:cs typeface="Microsoft YaHei"/>
              </a:rPr>
              <a:t>Project: LLM-trends-analysis-main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B3FE42D-BAA5-481F-891A-DF20D838F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151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A746B"/>
                </a:solidFill>
                <a:latin typeface="Consolas"/>
                <a:ea typeface="Consolas"/>
                <a:cs typeface="Consolas"/>
              </a:defRPr>
            </a:pPr>
            <a:r>
              <a:rPr sz="825" b="0">
                <a:solidFill>
                  <a:srgbClr val="7A746B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7661959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0CAC712-FC53-4A47-8733-56FC766C4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2-marker">
            <a:extLst xmlns:a="http://schemas.openxmlformats.org/drawingml/2006/main">
              <a:ext uri="{FF2B5EF4-FFF2-40B4-BE49-F238E27FC236}">
                <a16:creationId xmlns:a16="http://schemas.microsoft.com/office/drawing/2014/main" id="{8ACFEB46-789A-4798-9435-8181BB1F2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05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2-label">
            <a:extLst xmlns:a="http://schemas.openxmlformats.org/drawingml/2006/main">
              <a:ext uri="{FF2B5EF4-FFF2-40B4-BE49-F238E27FC236}">
                <a16:creationId xmlns:a16="http://schemas.microsoft.com/office/drawing/2014/main" id="{CD6BBA84-F94E-41A8-A4D4-1E491592A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29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46BF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246BFE"/>
                </a:solidFill>
                <a:latin typeface="Microsoft YaHei UI"/>
                <a:ea typeface="Microsoft YaHei UI"/>
                <a:cs typeface="Microsoft YaHei UI"/>
              </a:rPr>
              <a:t>COURSE FIT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6A89E8-3534-4F3D-9AFC-E1714CA05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9906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024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20242A"/>
                </a:solidFill>
                <a:latin typeface="Microsoft YaHei UI"/>
                <a:ea typeface="Microsoft YaHei UI"/>
                <a:cs typeface="Microsoft YaHei UI"/>
              </a:rPr>
              <a:t>课程任务已经被拆解为可验证的项目交付物。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46EE7F-67F5-49EC-9969-662B11EF8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38300"/>
            <a:ext cx="7810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C24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5F1D68-0F84-4589-8478-34A364E6F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4975"/>
            <a:ext cx="184023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阶段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873B26-C377-44CF-8ED4-DBB489ABA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2730" y="1704975"/>
            <a:ext cx="308991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课程要求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60B4AF-EBD3-414E-ADAF-F95ADFA1B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3140" y="1704975"/>
            <a:ext cx="230886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项目响应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7B6702-A9C6-4A83-824A-A8FD86C4C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7810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C1640A-A754-4662-BB9E-C261A4813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33625"/>
            <a:ext cx="184023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Week 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843FBA-755C-471E-B259-79D0CF90C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2730" y="2333625"/>
            <a:ext cx="308991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复现实验、工具基线、二次开源声明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DD6499-1AAA-4CCB-8CB1-6682E720B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3140" y="2333625"/>
            <a:ext cx="230886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建立 GitHub 仓库、参数化检索配置和复现说明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BF55CB-CEA7-4D8C-9D21-545956389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95600"/>
            <a:ext cx="7810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516B93-C882-4176-88B3-29157EEB9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62275"/>
            <a:ext cx="184023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Week 9-10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591120-7181-4BD9-A503-CCF31802E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2730" y="2962275"/>
            <a:ext cx="308991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案例计量分析、3 图 1 表、方法解释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3FDA0A-F924-4665-B3F8-03105BC42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3140" y="2962275"/>
            <a:ext cx="230886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完成 M1/M2 报告、指标表、关键词与合作网络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73F6A0-95E0-4C42-9034-51A73714A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7810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706317-F5B7-4719-80BA-9864C0FCF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90925"/>
            <a:ext cx="184023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Week 11-12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036AF7-6D62-47FE-B848-8C0369D29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2730" y="3590925"/>
            <a:ext cx="308991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PRISMA、综述写作、引用规范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B01884-FF16-461B-9B30-AFE794FCB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3140" y="3590925"/>
            <a:ext cx="230886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完成 mini review、图表配文、参考项目材料清单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EA61F2-D32F-4F00-93FC-1E261F463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52900"/>
            <a:ext cx="7810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CA5757-FC18-4C81-9717-27316F4B5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19575"/>
            <a:ext cx="184023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Week 13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D07DC2-584C-426B-8726-B3CC6D3DA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2730" y="4219575"/>
            <a:ext cx="308991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智能体构建、证据绑定、CER 修订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C9CEFD-E004-415E-9910-BB809146B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3140" y="4219575"/>
            <a:ext cx="230886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形成 claim-evidence-reasoning 的改稿和答辩流程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86016B-6BDA-404F-A275-792197855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638300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不是把课程周任务分散提交，而是把它们合并成一条可追溯链：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C25D85-6802-4602-9B49-2414E3261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0505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FE">
              <a:alpha val="9412"/>
            </a:srgbClr>
          </a:solidFill>
          <a:ln xmlns:a="http://schemas.openxmlformats.org/drawingml/2006/main" w="9525">
            <a:solidFill>
              <a:srgbClr val="246BF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7C86E2-A923-4AED-A79E-1B9D94623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343150"/>
            <a:ext cx="1847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46BF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246BFE"/>
                </a:solidFill>
                <a:latin typeface="Microsoft YaHei"/>
                <a:ea typeface="Microsoft YaHei"/>
                <a:cs typeface="Microsoft YaHei"/>
              </a:rPr>
              <a:t>M1 数据与检索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6A0F89B-ABA0-4309-892A-2FCC041D7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66700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6B75"/>
                </a:solidFill>
                <a:latin typeface="Microsoft YaHei"/>
                <a:ea typeface="Microsoft YaHei"/>
                <a:cs typeface="Microsoft YaHei"/>
              </a:rPr>
              <a:t>数据口径、去重逻辑、字段覆盖率和 PRISMA 式筛选。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656E852-143E-4A63-B091-BA872EC05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27660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7A0">
              <a:alpha val="9412"/>
            </a:srgbClr>
          </a:solidFill>
          <a:ln xmlns:a="http://schemas.openxmlformats.org/drawingml/2006/main" w="9525">
            <a:solidFill>
              <a:srgbClr val="12A7A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4033233-6F8C-4E9C-967A-09CA71DB2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314700"/>
            <a:ext cx="1847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2A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2A7A0"/>
                </a:solidFill>
                <a:latin typeface="Microsoft YaHei"/>
                <a:ea typeface="Microsoft YaHei"/>
                <a:cs typeface="Microsoft YaHei"/>
              </a:rPr>
              <a:t>M2 计量与图谱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3B60849-778C-4C12-9ED3-94FFBD090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3855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6B75"/>
                </a:solidFill>
                <a:latin typeface="Microsoft YaHei"/>
                <a:ea typeface="Microsoft YaHei"/>
                <a:cs typeface="Microsoft YaHei"/>
              </a:rPr>
              <a:t>发文趋势、影响力指标、关键词共现、引用与共被引网络。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4CA8E58-99F5-41EE-AB5E-1B0676715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24815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19">
              <a:alpha val="9412"/>
            </a:srgbClr>
          </a:solidFill>
          <a:ln xmlns:a="http://schemas.openxmlformats.org/drawingml/2006/main" w="9525">
            <a:solidFill>
              <a:srgbClr val="D89B1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B3C6441-6B71-4F9D-B697-B84F1ABFD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286250"/>
            <a:ext cx="1847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89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D89B19"/>
                </a:solidFill>
                <a:latin typeface="Microsoft YaHei"/>
                <a:ea typeface="Microsoft YaHei"/>
                <a:cs typeface="Microsoft YaHei"/>
              </a:rPr>
              <a:t>M3 综述与发布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4FE5C64-4A27-43EC-BCE9-B0AA203C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61010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26B75"/>
                </a:solidFill>
                <a:latin typeface="Microsoft YaHei"/>
                <a:ea typeface="Microsoft YaHei"/>
                <a:cs typeface="Microsoft YaHei"/>
              </a:rPr>
              <a:t>把图谱证据转化为技术叙事线，整理 GitHub 可复现版本。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41972B3-D944-4069-90B1-ED3CC0E3A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4673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36B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E36B5C"/>
                </a:solidFill>
                <a:latin typeface="Microsoft YaHei"/>
                <a:ea typeface="Microsoft YaHei"/>
                <a:cs typeface="Microsoft YaHei"/>
              </a:rPr>
              <a:t>答辩重点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0BD8D80-5BDA-40A9-9948-9259F1AAF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734050"/>
            <a:ext cx="247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我们展示的是“如何完成课程要求”，更展示“为什么这些结果能支撑一个综述”。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DB79E0F-2A93-49AE-9E52-5C364BA6E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857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7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A746B"/>
                </a:solidFill>
                <a:latin typeface="Microsoft YaHei"/>
                <a:ea typeface="Microsoft YaHei"/>
                <a:cs typeface="Microsoft YaHei"/>
              </a:rPr>
              <a:t>Course timeline interpreted from Week 8-13 requirements and local deliverables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8E652C1-9650-4C8D-B837-AE88E99A7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151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A746B"/>
                </a:solidFill>
                <a:latin typeface="Consolas"/>
                <a:ea typeface="Consolas"/>
                <a:cs typeface="Consolas"/>
              </a:defRPr>
            </a:pPr>
            <a:r>
              <a:rPr sz="825" b="0">
                <a:solidFill>
                  <a:srgbClr val="7A746B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1279294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3F2F65-63DE-4AA6-996F-7DC261D09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3-marker">
            <a:extLst xmlns:a="http://schemas.openxmlformats.org/drawingml/2006/main">
              <a:ext uri="{FF2B5EF4-FFF2-40B4-BE49-F238E27FC236}">
                <a16:creationId xmlns:a16="http://schemas.microsoft.com/office/drawing/2014/main" id="{DE58D7C2-D32A-42AA-B542-E3F4CB784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05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3-label">
            <a:extLst xmlns:a="http://schemas.openxmlformats.org/drawingml/2006/main">
              <a:ext uri="{FF2B5EF4-FFF2-40B4-BE49-F238E27FC236}">
                <a16:creationId xmlns:a16="http://schemas.microsoft.com/office/drawing/2014/main" id="{8D22EFBF-5DE7-4F85-8BE6-4C068DB2D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29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46BF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246BFE"/>
                </a:solidFill>
                <a:latin typeface="Microsoft YaHei UI"/>
                <a:ea typeface="Microsoft YaHei UI"/>
                <a:cs typeface="Microsoft YaHei UI"/>
              </a:rPr>
              <a:t>PIPELINE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FC0A98-A5DE-4169-A179-73C2A8A90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9906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024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20242A"/>
                </a:solidFill>
                <a:latin typeface="Microsoft YaHei UI"/>
                <a:ea typeface="Microsoft YaHei UI"/>
                <a:cs typeface="Microsoft YaHei UI"/>
              </a:rPr>
              <a:t>项目的核心不是单张图，而是一条可复现证据链。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42ABEE-F362-41F6-B62B-970D6103E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05050"/>
            <a:ext cx="16764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FC8C64-7632-4350-8D68-38FC3967C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476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6BFE"/>
                </a:solidFill>
                <a:latin typeface="Consolas"/>
                <a:ea typeface="Consolas"/>
                <a:cs typeface="Consolas"/>
              </a:defRPr>
            </a:pPr>
            <a:r>
              <a:rPr sz="1650" b="1">
                <a:solidFill>
                  <a:srgbClr val="246BFE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ADE09C-95BC-42AD-BFDC-FD6F0532B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检索配置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1D2941-10DF-4C7A-89C1-BC05B1414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0040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6B75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626B75"/>
                </a:solidFill>
                <a:latin typeface="Consolas"/>
                <a:ea typeface="Consolas"/>
                <a:cs typeface="Consolas"/>
              </a:rPr>
              <a:t>config/query.yaml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DEBE4E-52E8-41F0-812C-576AB72B1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971800"/>
            <a:ext cx="38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2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89BFA6-B56E-4647-BDBB-53DEBC3E8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9337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2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79A73D-7F7A-4A40-B114-56AF7C875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305050"/>
            <a:ext cx="16764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8BA804-CBF3-4EEC-A77F-EA000B532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476500"/>
            <a:ext cx="476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A7A0"/>
                </a:solidFill>
                <a:latin typeface="Consolas"/>
                <a:ea typeface="Consolas"/>
                <a:cs typeface="Consolas"/>
              </a:defRPr>
            </a:pPr>
            <a:r>
              <a:rPr sz="1650" b="1">
                <a:solidFill>
                  <a:srgbClr val="12A7A0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13D367-64D8-4A5C-9CD6-169889873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85750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原始数据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FE7156-1222-4C91-B76F-0C870D922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20040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26B75"/>
                </a:solidFill>
                <a:latin typeface="Microsoft YaHei"/>
                <a:ea typeface="Microsoft YaHei"/>
                <a:cs typeface="Microsoft YaHei"/>
              </a:rPr>
              <a:t>542 records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FB81AD-0AB4-49B2-8372-E48C2C2E2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971800"/>
            <a:ext cx="38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2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C3E0E1-45C1-498E-B45B-07AA85F49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9337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2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7666DE-55E3-47F1-8A4F-DE43F7DEA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05050"/>
            <a:ext cx="16764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91616E-88DD-48B6-8DAE-4E847C5F5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476500"/>
            <a:ext cx="476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89B19"/>
                </a:solidFill>
                <a:latin typeface="Consolas"/>
                <a:ea typeface="Consolas"/>
                <a:cs typeface="Consolas"/>
              </a:defRPr>
            </a:pPr>
            <a:r>
              <a:rPr sz="1650" b="1">
                <a:solidFill>
                  <a:srgbClr val="D89B19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3889AF-20CB-437D-8B50-75E935106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85750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清洗去重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E75FB6-BF94-45E5-A423-6BC07E40B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20040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6B75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626B75"/>
                </a:solidFill>
                <a:latin typeface="Consolas"/>
                <a:ea typeface="Consolas"/>
                <a:cs typeface="Consolas"/>
              </a:rPr>
              <a:t>DOI + title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7A0FBB-32AF-4F70-B463-BCEE0D486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971800"/>
            <a:ext cx="38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2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10ABDF-3272-48BB-B60D-7B11F3C3A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9337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2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0665A2-342D-4A81-AFC3-E9B0992F3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05050"/>
            <a:ext cx="16764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246BF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9B29A1-7F24-40CF-81A7-CCBDDE0EB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76500"/>
            <a:ext cx="476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36B5C"/>
                </a:solidFill>
                <a:latin typeface="Consolas"/>
                <a:ea typeface="Consolas"/>
                <a:cs typeface="Consolas"/>
              </a:defRPr>
            </a:pPr>
            <a:r>
              <a:rPr sz="1650" b="1">
                <a:solidFill>
                  <a:srgbClr val="E36B5C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5C78E4-8E80-4094-9C7D-E5C0EB4EF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5750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有效样本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16B877-BD18-4CE6-82E3-DB695F2C7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0040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26B75"/>
                </a:solidFill>
                <a:latin typeface="Microsoft YaHei"/>
                <a:ea typeface="Microsoft YaHei"/>
                <a:cs typeface="Microsoft YaHei"/>
              </a:rPr>
              <a:t>522 papers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6619C7-1F9D-447B-BA57-941C7BE48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971800"/>
            <a:ext cx="38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2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B02073F-18DE-47F6-8A83-66B31DD28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9337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2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6D6669F-FF06-4B1A-95EF-E0E3CF418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05050"/>
            <a:ext cx="16764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058EC9F-15B4-45B8-8CFE-9E22B30CD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476500"/>
            <a:ext cx="476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25AC1"/>
                </a:solidFill>
                <a:latin typeface="Consolas"/>
                <a:ea typeface="Consolas"/>
                <a:cs typeface="Consolas"/>
              </a:defRPr>
            </a:pPr>
            <a:r>
              <a:rPr sz="1650" b="1">
                <a:solidFill>
                  <a:srgbClr val="725AC1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B8C03D5-39DF-4DF4-A492-3B731F905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5750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计量图谱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300CCB2-113E-4C46-B3B0-D1AB2B13C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20040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6B75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626B75"/>
                </a:solidFill>
                <a:latin typeface="Consolas"/>
                <a:ea typeface="Consolas"/>
                <a:cs typeface="Consolas"/>
              </a:rPr>
              <a:t>M2 figures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471159B-7020-418A-8A1F-B7E888C09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971800"/>
            <a:ext cx="38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2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8BABEFF-BDA8-4E38-84BD-94C72650F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9337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2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12592C9-559F-42C4-8D6B-E5C97E93A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305050"/>
            <a:ext cx="16764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C919FDD-B775-4B57-B31B-63E9128DF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476500"/>
            <a:ext cx="476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C946B"/>
                </a:solidFill>
                <a:latin typeface="Consolas"/>
                <a:ea typeface="Consolas"/>
                <a:cs typeface="Consolas"/>
              </a:defRPr>
            </a:pPr>
            <a:r>
              <a:rPr sz="1650" b="1">
                <a:solidFill>
                  <a:srgbClr val="2C946B"/>
                </a:solidFill>
                <a:latin typeface="Consolas"/>
                <a:ea typeface="Consolas"/>
                <a:cs typeface="Consolas"/>
              </a:rPr>
              <a:t>06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24A2D82-4A51-44B9-9BF2-35CE56C9D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85750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综述答辩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AB223CB-642C-47B5-8A2F-DEC130301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20040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6B75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626B75"/>
                </a:solidFill>
                <a:latin typeface="Consolas"/>
                <a:ea typeface="Consolas"/>
                <a:cs typeface="Consolas"/>
              </a:rPr>
              <a:t>paper + PPT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B19765E-7D37-4DA9-83C9-77D4F3443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196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C4ED5C3-5759-43C6-9CF0-0078C968F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1965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6BF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6BFE"/>
                </a:solidFill>
                <a:latin typeface="Microsoft YaHei"/>
                <a:ea typeface="Microsoft YaHei"/>
                <a:cs typeface="Microsoft YaHei"/>
              </a:rPr>
              <a:t>复现入口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9979A5C-C462-42FA-99F2-D66FE64E6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686300"/>
            <a:ext cx="32194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  <p:txBody>
          <a:bodyPr xmlns:a="http://schemas.openxmlformats.org/drawingml/2006/main" lIns="152400" tIns="95250" rIns="152400" bIns="952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42A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20242A"/>
                </a:solidFill>
                <a:latin typeface="Consolas"/>
                <a:ea typeface="Consolas"/>
                <a:cs typeface="Consolas"/>
              </a:rPr>
              <a:t>pip install -r requirements.txt</a:t>
            </a:r>
          </a:p>
          <a:p xmlns:a="http://schemas.openxmlformats.org/drawingml/2006/main">
            <a:pPr algn="l">
              <a:defRPr sz="1350" b="0">
                <a:solidFill>
                  <a:srgbClr val="20242A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20242A"/>
                </a:solidFill>
                <a:latin typeface="Consolas"/>
                <a:ea typeface="Consolas"/>
                <a:cs typeface="Consolas"/>
              </a:rPr>
              <a:t>python run_pipeline.py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F2ED5CC-9B6A-4D00-9A52-E126B64C7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1965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A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A7A0"/>
                </a:solidFill>
                <a:latin typeface="Microsoft YaHei"/>
                <a:ea typeface="Microsoft YaHei"/>
                <a:cs typeface="Microsoft YaHei"/>
              </a:rPr>
              <a:t>输出绑定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B871772-7162-4D44-8FB1-D7322B154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724400"/>
            <a:ext cx="3162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数据、脚本、图、报告和综述在仓库内保持相互引用，答辩中的每个结论都能回到一个文件或一个图表。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9071B62-15BE-4AB0-86AF-C8943C8A2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857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7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A746B"/>
                </a:solidFill>
                <a:latin typeface="Microsoft YaHei"/>
                <a:ea typeface="Microsoft YaHei"/>
                <a:cs typeface="Microsoft YaHei"/>
              </a:rPr>
              <a:t>Files: config/query.yaml, data/processed/cleaned_data.csv, run_pipeline.py, reports/, paper/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35071B6-47C5-4759-BFF9-1215091C3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151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A746B"/>
                </a:solidFill>
                <a:latin typeface="Consolas"/>
                <a:ea typeface="Consolas"/>
                <a:cs typeface="Consolas"/>
              </a:defRPr>
            </a:pPr>
            <a:r>
              <a:rPr sz="825" b="0">
                <a:solidFill>
                  <a:srgbClr val="7A746B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283846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E8622D3-0212-4F67-BBF0-37350C620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4-marker">
            <a:extLst xmlns:a="http://schemas.openxmlformats.org/drawingml/2006/main">
              <a:ext uri="{FF2B5EF4-FFF2-40B4-BE49-F238E27FC236}">
                <a16:creationId xmlns:a16="http://schemas.microsoft.com/office/drawing/2014/main" id="{7903EB97-074E-4F8C-9A93-3C9114513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05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4-label">
            <a:extLst xmlns:a="http://schemas.openxmlformats.org/drawingml/2006/main">
              <a:ext uri="{FF2B5EF4-FFF2-40B4-BE49-F238E27FC236}">
                <a16:creationId xmlns:a16="http://schemas.microsoft.com/office/drawing/2014/main" id="{5C5C5DB8-BF5E-4C65-8CB8-3FCAB10EA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29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46BF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246BFE"/>
                </a:solidFill>
                <a:latin typeface="Microsoft YaHei UI"/>
                <a:ea typeface="Microsoft YaHei UI"/>
                <a:cs typeface="Microsoft YaHei UI"/>
              </a:rPr>
              <a:t>M1 QUALITY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D50388-D013-4A1D-BD0E-F718776FF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9906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024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20242A"/>
                </a:solidFill>
                <a:latin typeface="Microsoft YaHei UI"/>
                <a:ea typeface="Microsoft YaHei UI"/>
                <a:cs typeface="Microsoft YaHei UI"/>
              </a:rPr>
              <a:t>数据质量足以支撑后续网络和引文分析。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116A35-7C0C-405C-B9F0-E994877C1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6BF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46BFE"/>
                </a:solidFill>
                <a:latin typeface="Microsoft YaHei"/>
                <a:ea typeface="Microsoft YaHei"/>
                <a:cs typeface="Microsoft YaHei"/>
              </a:rPr>
              <a:t>PRISMA 式筛选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59B864-286E-4B04-B82F-2C4914B46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81200"/>
            <a:ext cx="4191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D83F79-E19C-4847-B4F1-86D198A90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9550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46BFE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246BFE"/>
                </a:solidFill>
                <a:latin typeface="Consolas"/>
                <a:ea typeface="Consolas"/>
                <a:cs typeface="Consolas"/>
              </a:rPr>
              <a:t>Identification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7C4D3C-3865-4A0D-B293-068F534DD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05050"/>
            <a:ext cx="3067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Lens.org 原始记录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DE5D36-E52D-476C-A6B7-C7BCA1A78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90750"/>
            <a:ext cx="590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542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EA691A-2D55-4589-BCFD-89D8DA02C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971800"/>
            <a:ext cx="35623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8E12C0-D798-4279-AD6B-9EC734DBD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08610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89B19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D89B19"/>
                </a:solidFill>
                <a:latin typeface="Consolas"/>
                <a:ea typeface="Consolas"/>
                <a:cs typeface="Consolas"/>
              </a:rPr>
              <a:t>Deduplication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8552AB-DCDB-4248-A58D-FC65CA0F5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295650"/>
            <a:ext cx="2438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DOI 与 Title 双重去重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CD49EF-BB50-472B-9657-279A620BB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3181350"/>
            <a:ext cx="590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E36B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E36B5C"/>
                </a:solidFill>
                <a:latin typeface="Microsoft YaHei"/>
                <a:ea typeface="Microsoft YaHei"/>
                <a:cs typeface="Microsoft YaHei"/>
              </a:rPr>
              <a:t>-20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7AB7D3-5CCD-416D-A88F-165001ED9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962400"/>
            <a:ext cx="3143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246BF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716602-8C6E-4F57-AD5F-D1F89D034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407670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2A7A0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12A7A0"/>
                </a:solidFill>
                <a:latin typeface="Consolas"/>
                <a:ea typeface="Consolas"/>
                <a:cs typeface="Consolas"/>
              </a:rPr>
              <a:t>Included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83F824-5061-4C23-B766-BA2517D16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4286250"/>
            <a:ext cx="2019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纳入计量分析样本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1C74EE-0D59-48EF-A406-C408A5AF7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4171950"/>
            <a:ext cx="590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522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3A06C5-6CC9-4149-A6DF-CC8423019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2400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A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2A7A0"/>
                </a:solidFill>
                <a:latin typeface="Microsoft YaHei"/>
                <a:ea typeface="Microsoft YaHei"/>
                <a:cs typeface="Microsoft YaHei"/>
              </a:rPr>
              <a:t>字段覆盖率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FCDE5D-0EF9-4B55-83E2-CC2ED3D6E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76450"/>
            <a:ext cx="1504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Title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556BC1-0CF8-4BF7-8E74-122CD2F44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114550"/>
            <a:ext cx="3143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E180D1-703B-44CF-8A71-EDB78CB0C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114550"/>
            <a:ext cx="3143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AC2792-2A50-4359-8BE7-F7AC5F8BE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066925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26B75"/>
                </a:solidFill>
                <a:latin typeface="Microsoft YaHei"/>
                <a:ea typeface="Microsoft YaHei"/>
                <a:cs typeface="Microsoft YaHei"/>
              </a:rPr>
              <a:t>100.00%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6DEF1C-B0F6-4F6A-8BE9-FCE642F6C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52700"/>
            <a:ext cx="1504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Year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9246DE-A7FB-4FAC-96C2-4A41CB54A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590800"/>
            <a:ext cx="3143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992CD3-C2F7-4ED0-AF59-46FC84E5E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590800"/>
            <a:ext cx="3143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7A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329040-C8A7-42EC-8943-A1C1E4967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543175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26B75"/>
                </a:solidFill>
                <a:latin typeface="Microsoft YaHei"/>
                <a:ea typeface="Microsoft YaHei"/>
                <a:cs typeface="Microsoft YaHei"/>
              </a:rPr>
              <a:t>100.00%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A62E3A-7800-4025-B2D6-4C39D56F1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28950"/>
            <a:ext cx="1504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Abstract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02B32B-D9CC-4FE1-AFF4-A2BB30F55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067050"/>
            <a:ext cx="3143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90EED6E-D536-4BD0-B38C-CD1BD0093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067050"/>
            <a:ext cx="3089186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95A7E04-7FF6-4A53-9551-F0B5FAB0D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019425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26B75"/>
                </a:solidFill>
                <a:latin typeface="Microsoft YaHei"/>
                <a:ea typeface="Microsoft YaHei"/>
                <a:cs typeface="Microsoft YaHei"/>
              </a:rPr>
              <a:t>98.28%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F5E2372-F6CC-446E-A4C4-277867D54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05200"/>
            <a:ext cx="1504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References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BD90357-CE2D-48DA-97F0-7D0B08DD3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543300"/>
            <a:ext cx="31432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E8583D1-23FE-4BCA-9471-DC19D804A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543300"/>
            <a:ext cx="2577151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6B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5A26983-6816-4FC4-AA21-E5EB43E10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495675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26B75"/>
                </a:solidFill>
                <a:latin typeface="Microsoft YaHei"/>
                <a:ea typeface="Microsoft YaHei"/>
                <a:cs typeface="Microsoft YaHei"/>
              </a:rPr>
              <a:t>81.99%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CE913A7-9F27-40A6-BBE8-2720DF7ED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00550"/>
            <a:ext cx="4476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B93897D-8272-477B-A979-B066AE570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5910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36B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E36B5C"/>
                </a:solidFill>
                <a:latin typeface="Microsoft YaHei"/>
                <a:ea typeface="Microsoft YaHei"/>
                <a:cs typeface="Microsoft YaHei"/>
              </a:rPr>
              <a:t>为什么这一页重要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3D80645-CEB1-48C2-BB59-D63ED0B68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876800"/>
            <a:ext cx="4000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Title 和 Year 全覆盖保证时序与标题主题分析可靠；References 覆盖率达到 81.99%，可以开展引用网络和共被引网络，但在解释时仍需说明字段缺失带来的边界。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B001DF1-8EAE-4068-B418-026D0AB6E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857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7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A746B"/>
                </a:solidFill>
                <a:latin typeface="Microsoft YaHei"/>
                <a:ea typeface="Microsoft YaHei"/>
                <a:cs typeface="Microsoft YaHei"/>
              </a:rPr>
              <a:t>Source: reports/m1_data_quality_report.md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F830F3A-6F0E-44CE-92AD-4D71E9455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151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A746B"/>
                </a:solidFill>
                <a:latin typeface="Consolas"/>
                <a:ea typeface="Consolas"/>
                <a:cs typeface="Consolas"/>
              </a:defRPr>
            </a:pPr>
            <a:r>
              <a:rPr sz="825" b="0">
                <a:solidFill>
                  <a:srgbClr val="7A746B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4655388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B599749-B2AD-4BEC-8379-9DB32B211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5-marker">
            <a:extLst xmlns:a="http://schemas.openxmlformats.org/drawingml/2006/main">
              <a:ext uri="{FF2B5EF4-FFF2-40B4-BE49-F238E27FC236}">
                <a16:creationId xmlns:a16="http://schemas.microsoft.com/office/drawing/2014/main" id="{405D6E05-6AB2-4B61-9504-88D3A78B0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05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5-label">
            <a:extLst xmlns:a="http://schemas.openxmlformats.org/drawingml/2006/main">
              <a:ext uri="{FF2B5EF4-FFF2-40B4-BE49-F238E27FC236}">
                <a16:creationId xmlns:a16="http://schemas.microsoft.com/office/drawing/2014/main" id="{99D66C25-F4DD-457B-A23A-1ED539267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29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46BF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246BFE"/>
                </a:solidFill>
                <a:latin typeface="Microsoft YaHei UI"/>
                <a:ea typeface="Microsoft YaHei UI"/>
                <a:cs typeface="Microsoft YaHei UI"/>
              </a:rPr>
              <a:t>M2 METRICS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EEEF71-0D48-4BE7-A973-EA755564D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9906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024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20242A"/>
                </a:solidFill>
                <a:latin typeface="Microsoft YaHei UI"/>
                <a:ea typeface="Microsoft YaHei UI"/>
                <a:cs typeface="Microsoft YaHei UI"/>
              </a:rPr>
              <a:t>2024-2025 年是 LLM 多智能体研究的爆发窗口。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988D14-4882-4348-8492-4BDA2B392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685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3648E8-C066-4CA7-88A1-E0CDA777A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81600"/>
            <a:ext cx="590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0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6A2BBD-845B-4549-90A9-C2188001E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14900"/>
            <a:ext cx="742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0242A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20242A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D96788-3436-4A1D-B5DB-A6E81E949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53050"/>
            <a:ext cx="742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26B75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626B75"/>
                </a:solidFill>
                <a:latin typeface="Consolas"/>
                <a:ea typeface="Consolas"/>
                <a:cs typeface="Consolas"/>
              </a:rPr>
              <a:t>2020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31ADED-76FA-4E12-B09E-E52D45FCD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181600"/>
            <a:ext cx="590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0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D9E671-4683-45C0-B555-87FE9603F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914900"/>
            <a:ext cx="742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0242A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20242A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D99D20-8CD6-4728-95F0-A83AA5392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353050"/>
            <a:ext cx="742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26B75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626B75"/>
                </a:solidFill>
                <a:latin typeface="Consolas"/>
                <a:ea typeface="Consolas"/>
                <a:cs typeface="Consolas"/>
              </a:rPr>
              <a:t>2021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7A25BB-A892-4FB3-A225-68CB26F32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169860"/>
            <a:ext cx="590550" cy="49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0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B3AF57-F5A0-43E0-AD5E-5463C3614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903160"/>
            <a:ext cx="742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0242A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20242A"/>
                </a:solidFill>
                <a:latin typeface="Consolas"/>
                <a:ea typeface="Consolas"/>
                <a:cs typeface="Consolas"/>
              </a:rPr>
              <a:t>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57EE05-DCAA-4ED7-8C41-65BA40ABD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353050"/>
            <a:ext cx="742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26B75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626B75"/>
                </a:solidFill>
                <a:latin typeface="Consolas"/>
                <a:ea typeface="Consolas"/>
                <a:cs typeface="Consolas"/>
              </a:rPr>
              <a:t>2022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56A50E-19B9-4842-A5E5-9550E8ECE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061873"/>
            <a:ext cx="590550" cy="15782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0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C49DAB-7E2F-49AC-91F5-9446853CB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795173"/>
            <a:ext cx="742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0242A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20242A"/>
                </a:solidFill>
                <a:latin typeface="Consolas"/>
                <a:ea typeface="Consolas"/>
                <a:cs typeface="Consolas"/>
              </a:rPr>
              <a:t>19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06DA2C-1730-401D-99C5-C952C7641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353050"/>
            <a:ext cx="742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26B75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626B75"/>
                </a:solidFill>
                <a:latin typeface="Consolas"/>
                <a:ea typeface="Consolas"/>
                <a:cs typeface="Consolas"/>
              </a:rPr>
              <a:t>2023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B803BA-644C-4C30-A682-AFC1F8EB2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546858"/>
            <a:ext cx="590550" cy="6728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7A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32CE50-3C53-4C30-9116-E7FDBDF3A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280158"/>
            <a:ext cx="742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0242A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20242A"/>
                </a:solidFill>
                <a:latin typeface="Consolas"/>
                <a:ea typeface="Consolas"/>
                <a:cs typeface="Consolas"/>
              </a:rPr>
              <a:t>81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FBC154-9642-4664-A8A0-F482B96A9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353050"/>
            <a:ext cx="742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26B75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626B75"/>
                </a:solidFill>
                <a:latin typeface="Consolas"/>
                <a:ea typeface="Consolas"/>
                <a:cs typeface="Consolas"/>
              </a:rPr>
              <a:t>2024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27066E-ADA3-40E9-8567-EDEFB40CB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362200"/>
            <a:ext cx="5905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15C89B-EA05-4F66-A7C9-1D35F15A7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095500"/>
            <a:ext cx="742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0242A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20242A"/>
                </a:solidFill>
                <a:latin typeface="Consolas"/>
                <a:ea typeface="Consolas"/>
                <a:cs typeface="Consolas"/>
              </a:rPr>
              <a:t>344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3201BB-44F3-4700-AA62-BF2A36000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353050"/>
            <a:ext cx="742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26B75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626B75"/>
                </a:solidFill>
                <a:latin typeface="Consolas"/>
                <a:ea typeface="Consolas"/>
                <a:cs typeface="Consolas"/>
              </a:rPr>
              <a:t>2025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A483E3-AA16-4565-BAFA-AC9DDF166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646539"/>
            <a:ext cx="590550" cy="5731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89C0C1-2404-4F5E-9DA6-80F3E7910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379839"/>
            <a:ext cx="742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0242A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20242A"/>
                </a:solidFill>
                <a:latin typeface="Consolas"/>
                <a:ea typeface="Consolas"/>
                <a:cs typeface="Consolas"/>
              </a:rPr>
              <a:t>69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0FB5AF-2E02-4292-B96A-16D25C85C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353050"/>
            <a:ext cx="742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26B75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626B75"/>
                </a:solidFill>
                <a:latin typeface="Consolas"/>
                <a:ea typeface="Consolas"/>
                <a:cs typeface="Consolas"/>
              </a:rPr>
              <a:t>2026*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2025F7-37C4-461E-9387-AE6EA5ED9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26B75"/>
                </a:solidFill>
                <a:latin typeface="Microsoft YaHei"/>
                <a:ea typeface="Microsoft YaHei"/>
                <a:cs typeface="Microsoft YaHei"/>
              </a:rPr>
              <a:t>年度发文量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0E10952-3D6A-45D0-B6E9-5D8C2F788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391150"/>
            <a:ext cx="3238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2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6B75"/>
                </a:solidFill>
                <a:latin typeface="Microsoft YaHei"/>
                <a:ea typeface="Microsoft YaHei"/>
                <a:cs typeface="Microsoft YaHei"/>
              </a:rPr>
              <a:t>2026 为采集时点数据，不能与完整年份直接比较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A015EE4-9F27-4502-9681-3C7CAA402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71650"/>
            <a:ext cx="25146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5D5688B-89C4-445B-9781-96D720A69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71650"/>
            <a:ext cx="47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6A26AC3-F5E2-49CE-98E9-4EF19321F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86690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24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00" b="1">
                <a:solidFill>
                  <a:srgbClr val="20242A"/>
                </a:solidFill>
                <a:latin typeface="Microsoft YaHei UI"/>
                <a:ea typeface="Microsoft YaHei UI"/>
                <a:cs typeface="Microsoft YaHei UI"/>
              </a:rPr>
              <a:t>181.29%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E2F29FA-0A53-445F-91DD-E11EC0186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190750"/>
            <a:ext cx="2247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平均年增长率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77A3424-BC31-47F0-BC53-7E9F7522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371725"/>
            <a:ext cx="2247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B75"/>
                </a:solidFill>
                <a:latin typeface="Microsoft YaHei"/>
                <a:ea typeface="Microsoft YaHei"/>
                <a:cs typeface="Microsoft YaHei"/>
              </a:rPr>
              <a:t>高速成长期特征明显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442B4EA-D80F-4846-A120-4A4CC3943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62250"/>
            <a:ext cx="25146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B9758C3-7E09-447B-97C1-98F33DC5D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62250"/>
            <a:ext cx="47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7A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4C82CA6-D4DF-4F2C-85DA-47B06F4DA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85750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24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00" b="1">
                <a:solidFill>
                  <a:srgbClr val="20242A"/>
                </a:solidFill>
                <a:latin typeface="Microsoft YaHei UI"/>
                <a:ea typeface="Microsoft YaHei UI"/>
                <a:cs typeface="Microsoft YaHei UI"/>
              </a:rPr>
              <a:t>8.17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C0281FF-21E2-4130-B68C-318BAE09C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181350"/>
            <a:ext cx="2247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篇均被引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2155713-32DD-415F-A4A7-0C81502FD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362325"/>
            <a:ext cx="2247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B75"/>
                </a:solidFill>
                <a:latin typeface="Microsoft YaHei"/>
                <a:ea typeface="Microsoft YaHei"/>
                <a:cs typeface="Microsoft YaHei"/>
              </a:rPr>
              <a:t>大量新论文仍在引用积累期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BFBD8CF-8005-414E-A812-FF74AA828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52850"/>
            <a:ext cx="25146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CD1B619-126A-4550-B9CE-A75C67821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52850"/>
            <a:ext cx="47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FAA79F1-B802-4F23-812D-0FD5B73E9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84810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24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00" b="1">
                <a:solidFill>
                  <a:srgbClr val="20242A"/>
                </a:solidFill>
                <a:latin typeface="Microsoft YaHei UI"/>
                <a:ea typeface="Microsoft YaHei UI"/>
                <a:cs typeface="Microsoft YaHei UI"/>
              </a:rPr>
              <a:t>236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2E9F779-7134-468B-9BC3-5A3BC9157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171950"/>
            <a:ext cx="2247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零被引论文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B40A81A-3E2A-42B2-BE9A-E931DD1EB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352925"/>
            <a:ext cx="2247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B75"/>
                </a:solidFill>
                <a:latin typeface="Microsoft YaHei"/>
                <a:ea typeface="Microsoft YaHei"/>
                <a:cs typeface="Microsoft YaHei"/>
              </a:rPr>
              <a:t>约 45.2% 为新近发表稀释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D1D11C8-5008-480C-8711-810CC0FC5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95300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36B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E36B5C"/>
                </a:solidFill>
                <a:latin typeface="Microsoft YaHei"/>
                <a:ea typeface="Microsoft YaHei"/>
                <a:cs typeface="Microsoft YaHei"/>
              </a:rPr>
              <a:t>答辩讲法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91502C5-B322-4E49-8BF0-9291EBB0A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219700"/>
            <a:ext cx="2724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这里不要只说“增长很快”，要强调它意味着：综述必须采用计量方法先建立全局图谱，否则很容易被 2024-2025 的论文洪流带偏。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7D0B86F-003C-426A-B99B-98CC6F342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857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7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A746B"/>
                </a:solidFill>
                <a:latin typeface="Microsoft YaHei"/>
                <a:ea typeface="Microsoft YaHei"/>
                <a:cs typeface="Microsoft YaHei"/>
              </a:rPr>
              <a:t>Source: outputs/metrics_summary.txt and reports/m2_metrics_analysis_report.md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66C6345-47D2-4D89-8C89-5BB5F60D5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151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A746B"/>
                </a:solidFill>
                <a:latin typeface="Consolas"/>
                <a:ea typeface="Consolas"/>
                <a:cs typeface="Consolas"/>
              </a:defRPr>
            </a:pPr>
            <a:r>
              <a:rPr sz="825" b="0">
                <a:solidFill>
                  <a:srgbClr val="7A746B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1480576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DF9006C-40BF-4DB7-91D0-75EE1C5D2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6-marker">
            <a:extLst xmlns:a="http://schemas.openxmlformats.org/drawingml/2006/main">
              <a:ext uri="{FF2B5EF4-FFF2-40B4-BE49-F238E27FC236}">
                <a16:creationId xmlns:a16="http://schemas.microsoft.com/office/drawing/2014/main" id="{46ED34E3-2480-4464-BF3B-5D10A05CA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05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6-label">
            <a:extLst xmlns:a="http://schemas.openxmlformats.org/drawingml/2006/main">
              <a:ext uri="{FF2B5EF4-FFF2-40B4-BE49-F238E27FC236}">
                <a16:creationId xmlns:a16="http://schemas.microsoft.com/office/drawing/2014/main" id="{3F8C80B5-537C-4B2A-9E4C-845097266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29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46BF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246BFE"/>
                </a:solidFill>
                <a:latin typeface="Microsoft YaHei UI"/>
                <a:ea typeface="Microsoft YaHei UI"/>
                <a:cs typeface="Microsoft YaHei UI"/>
              </a:rPr>
              <a:t>THEME 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78FB6C-8222-4475-8D5E-5543BEADD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9906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024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20242A"/>
                </a:solidFill>
                <a:latin typeface="Microsoft YaHei UI"/>
                <a:ea typeface="Microsoft YaHei UI"/>
                <a:cs typeface="Microsoft YaHei UI"/>
              </a:rPr>
              <a:t>关键词图谱把研究主题压缩成四层结构。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828193-FE67-4A76-8E98-3E9926BF7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428750"/>
            <a:ext cx="63817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0775c9fc944744"/>
          <a:stretch xmlns:a="http://schemas.openxmlformats.org/drawingml/2006/main"/>
        </p:blipFill>
        <p:spPr>
          <a:xfrm xmlns:a="http://schemas.openxmlformats.org/drawingml/2006/main">
            <a:off x="5285014" y="1524000"/>
            <a:ext cx="5717721" cy="36385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4ED954-FDEE-4B9D-B957-7104A14E0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5200650"/>
            <a:ext cx="6115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6B75"/>
                </a:solidFill>
                <a:latin typeface="Microsoft YaHei"/>
                <a:ea typeface="Microsoft YaHei"/>
                <a:cs typeface="Microsoft YaHei"/>
              </a:rPr>
              <a:t>图谱不是装饰：它提供综述章节的主题骨架。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CB1FEF-7951-4274-8D3C-17F715E70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3524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0B9652-4093-4D1A-BE9F-05C6041B1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F22DDC-CA40-4119-9C5D-4DF4CEDD5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335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技术底座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FCC526-9E7A-4FB4-B420-68EEB8D2D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00250"/>
            <a:ext cx="2990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6B75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626B75"/>
                </a:solidFill>
                <a:latin typeface="Consolas"/>
                <a:ea typeface="Consolas"/>
                <a:cs typeface="Consolas"/>
              </a:rPr>
              <a:t>LLM / AI / machine learning / NLP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D4EDB9-E092-4939-99D8-FC8A61EC6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3524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D3F5C3-5E50-4190-A508-905EB61A7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7A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1FA3C8-77AD-40B4-B64A-24D305913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289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协作架构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19A962-1502-4969-81A6-8C29508C6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95600"/>
            <a:ext cx="2990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6B75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626B75"/>
                </a:solidFill>
                <a:latin typeface="Consolas"/>
                <a:ea typeface="Consolas"/>
                <a:cs typeface="Consolas"/>
              </a:rPr>
              <a:t>agentic AI / multi-agent systems / AI agents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B51E5C-4C35-4891-AF6F-A7E07EF89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09950"/>
            <a:ext cx="3524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AFC6B2-8026-48D0-82CE-A429180F2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09950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8CE16A-83F3-45F1-90AB-85C50F816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242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能力增强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6577EF-18E2-4CE7-9D1B-50BF853D3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90950"/>
            <a:ext cx="2990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6B75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626B75"/>
                </a:solidFill>
                <a:latin typeface="Consolas"/>
                <a:ea typeface="Consolas"/>
                <a:cs typeface="Consolas"/>
              </a:rPr>
              <a:t>RAG / reinforcement learning / planning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D652F4-6AE1-434A-9D64-024F2C760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05300"/>
            <a:ext cx="3524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793D55-6927-4FC6-8CD4-F75586B1A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05300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6B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DF0D3B-0CD5-4E17-A4CF-F89AB7CEE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196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治理应用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495475-1D20-4E80-8374-51E97BAD9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86300"/>
            <a:ext cx="2990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6B75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626B75"/>
                </a:solidFill>
                <a:latin typeface="Consolas"/>
                <a:ea typeface="Consolas"/>
                <a:cs typeface="Consolas"/>
              </a:rPr>
              <a:t>ethics / HRI / digital health / robot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04C47A-DCAE-4928-B8D6-47D173050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2925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25A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25AC1"/>
                </a:solidFill>
                <a:latin typeface="Microsoft YaHei"/>
                <a:ea typeface="Microsoft YaHei"/>
                <a:cs typeface="Microsoft YaHei"/>
              </a:rPr>
              <a:t>逻辑解释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7C85C2-9AB0-4DEF-B331-4229EC580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381625"/>
            <a:ext cx="8191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先用关键词共现识别“研究在谈什么”，再把这些主题层次转化为综述的技术叙事，而不是先写一个泛泛目录再去找图填空。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FD3789-D13C-4266-BFA1-45E0951C9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857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7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A746B"/>
                </a:solidFill>
                <a:latin typeface="Microsoft YaHei"/>
                <a:ea typeface="Microsoft YaHei"/>
                <a:cs typeface="Microsoft YaHei"/>
              </a:rPr>
              <a:t>Source: outputs/review_figures/fig3_thematic_architecture.png and outputs/keyword_statistics.txt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8B9906-4334-429D-9052-DD9B04680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151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A746B"/>
                </a:solidFill>
                <a:latin typeface="Consolas"/>
                <a:ea typeface="Consolas"/>
                <a:cs typeface="Consolas"/>
              </a:defRPr>
            </a:pPr>
            <a:r>
              <a:rPr sz="825" b="0">
                <a:solidFill>
                  <a:srgbClr val="7A746B"/>
                </a:solidFill>
                <a:latin typeface="Consolas"/>
                <a:ea typeface="Consolas"/>
                <a:cs typeface="Consola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1601266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1D6BFCF-772E-464A-A13D-955EA584D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7-marker">
            <a:extLst xmlns:a="http://schemas.openxmlformats.org/drawingml/2006/main">
              <a:ext uri="{FF2B5EF4-FFF2-40B4-BE49-F238E27FC236}">
                <a16:creationId xmlns:a16="http://schemas.microsoft.com/office/drawing/2014/main" id="{8AFDB66C-F0DD-40FB-9100-9650D7828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05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7-label">
            <a:extLst xmlns:a="http://schemas.openxmlformats.org/drawingml/2006/main">
              <a:ext uri="{FF2B5EF4-FFF2-40B4-BE49-F238E27FC236}">
                <a16:creationId xmlns:a16="http://schemas.microsoft.com/office/drawing/2014/main" id="{4695C596-E3E9-4602-8E8B-5494A2999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29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46BF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246BFE"/>
                </a:solidFill>
                <a:latin typeface="Microsoft YaHei UI"/>
                <a:ea typeface="Microsoft YaHei UI"/>
                <a:cs typeface="Microsoft YaHei UI"/>
              </a:rPr>
              <a:t>CITATION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CC3ABF-5A25-4C96-B637-A275F69D8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9906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4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325" b="1">
                <a:solidFill>
                  <a:srgbClr val="20242A"/>
                </a:solidFill>
                <a:latin typeface="Microsoft YaHei UI"/>
                <a:ea typeface="Microsoft YaHei UI"/>
                <a:cs typeface="Microsoft YaHei UI"/>
              </a:rPr>
              <a:t>高被引影响力回答“谁重要”，共被引网络回答“知识基础如何聚集”。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29F5CB-63D6-4DA3-B856-9CD1584FF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519112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ad46a8aa744097"/>
          <a:stretch xmlns:a="http://schemas.openxmlformats.org/drawingml/2006/main"/>
        </p:blipFill>
        <p:spPr>
          <a:xfrm xmlns:a="http://schemas.openxmlformats.org/drawingml/2006/main">
            <a:off x="919163" y="1619250"/>
            <a:ext cx="4457700" cy="29718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68E7AF-9D1C-4380-890F-4B1BDF214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49244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6B75"/>
                </a:solidFill>
                <a:latin typeface="Microsoft YaHei"/>
                <a:ea typeface="Microsoft YaHei"/>
                <a:cs typeface="Microsoft YaHei"/>
              </a:rPr>
              <a:t>高被引影响力图谱：识别 milestone 候选论文。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33A89E-D35A-49B7-86E2-73D15B14B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524000"/>
            <a:ext cx="519112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f533567b834843"/>
          <a:stretch xmlns:a="http://schemas.openxmlformats.org/drawingml/2006/main"/>
        </p:blipFill>
        <p:spPr>
          <a:xfrm xmlns:a="http://schemas.openxmlformats.org/drawingml/2006/main">
            <a:off x="6718527" y="1619250"/>
            <a:ext cx="4669971" cy="29718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8B27AA-D70C-4477-9424-794E2D381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629150"/>
            <a:ext cx="49244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6B75"/>
                </a:solidFill>
                <a:latin typeface="Microsoft YaHei"/>
                <a:ea typeface="Microsoft YaHei"/>
                <a:cs typeface="Microsoft YaHei"/>
              </a:rPr>
              <a:t>文献共被引网络：识别被共同依赖的知识群落。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BE5B12-42B8-44F4-A934-4E9CC4F74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38750"/>
            <a:ext cx="4381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1F3D3C-62C5-4B6E-89BD-C0743A129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81625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46BF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46BFE"/>
                </a:solidFill>
                <a:latin typeface="Microsoft YaHei"/>
                <a:ea typeface="Microsoft YaHei"/>
                <a:cs typeface="Microsoft YaHei"/>
              </a:rPr>
              <a:t>答辩解释 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012B5A-B66F-4F4B-9617-1690EFD23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3625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高被引图先回答哪些论文具有影响力，作为综述选题锚点。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EC57E8-9DE1-483D-BBCA-349A24BF7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238750"/>
            <a:ext cx="4381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643870-AFF8-45D9-9200-2BB8C6DD3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381625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2A7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2A7A0"/>
                </a:solidFill>
                <a:latin typeface="Microsoft YaHei"/>
                <a:ea typeface="Microsoft YaHei"/>
                <a:cs typeface="Microsoft YaHei"/>
              </a:rPr>
              <a:t>答辩解释 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265924-B428-4072-91A0-A60069789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3625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共被引图再说明这些论文背后有哪些共同知识基础和主题簇。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D76709-2473-465B-8C7D-0352DFA8C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857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7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A746B"/>
                </a:solidFill>
                <a:latin typeface="Microsoft YaHei"/>
                <a:ea typeface="Microsoft YaHei"/>
                <a:cs typeface="Microsoft YaHei"/>
              </a:rPr>
              <a:t>Source: outputs/figures/citation_network.png and outputs/review_figures/fig6_reference_cocitation_network.png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1D7082-A1B0-453F-A51E-6DC33E019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151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A746B"/>
                </a:solidFill>
                <a:latin typeface="Consolas"/>
                <a:ea typeface="Consolas"/>
                <a:cs typeface="Consolas"/>
              </a:defRPr>
            </a:pPr>
            <a:r>
              <a:rPr sz="825" b="0">
                <a:solidFill>
                  <a:srgbClr val="7A746B"/>
                </a:solidFill>
                <a:latin typeface="Consolas"/>
                <a:ea typeface="Consolas"/>
                <a:cs typeface="Consola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8809436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6AFAD23-4265-441A-A34E-F5DDE207D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8-marker">
            <a:extLst xmlns:a="http://schemas.openxmlformats.org/drawingml/2006/main">
              <a:ext uri="{FF2B5EF4-FFF2-40B4-BE49-F238E27FC236}">
                <a16:creationId xmlns:a16="http://schemas.microsoft.com/office/drawing/2014/main" id="{7F977170-90AE-47CE-91E7-3DA353B41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05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8-label">
            <a:extLst xmlns:a="http://schemas.openxmlformats.org/drawingml/2006/main">
              <a:ext uri="{FF2B5EF4-FFF2-40B4-BE49-F238E27FC236}">
                <a16:creationId xmlns:a16="http://schemas.microsoft.com/office/drawing/2014/main" id="{0D6D5DA7-AA14-4C48-AAE9-6C33A31DB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29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46BF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246BFE"/>
                </a:solidFill>
                <a:latin typeface="Microsoft YaHei UI"/>
                <a:ea typeface="Microsoft YaHei UI"/>
                <a:cs typeface="Microsoft YaHei UI"/>
              </a:rPr>
              <a:t>REVIEW SYNTHESIS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DD7BB9-140D-42AF-BCE0-6220AD5A3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9906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024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20242A"/>
                </a:solidFill>
                <a:latin typeface="Microsoft YaHei UI"/>
                <a:ea typeface="Microsoft YaHei UI"/>
                <a:cs typeface="Microsoft YaHei UI"/>
              </a:rPr>
              <a:t>综述结构来自计量证据，而不是套用通用模板。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3F39F9-B9B6-465C-8F07-04A044B6B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47800"/>
            <a:ext cx="6096000" cy="398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3c58c491904eb0"/>
          <a:stretch xmlns:a="http://schemas.openxmlformats.org/drawingml/2006/main"/>
        </p:blipFill>
        <p:spPr>
          <a:xfrm xmlns:a="http://schemas.openxmlformats.org/drawingml/2006/main">
            <a:off x="945696" y="1543050"/>
            <a:ext cx="5538107" cy="3524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4ED831-0E49-4F1D-A49A-678FBC64C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05400"/>
            <a:ext cx="5829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26B75"/>
                </a:solidFill>
                <a:latin typeface="Microsoft YaHei"/>
                <a:ea typeface="Microsoft YaHei"/>
                <a:cs typeface="Microsoft YaHei"/>
              </a:rPr>
              <a:t>高被引 milestone 候选矩阵：把“重要论文”转成“技术叙事线”。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09DBC9-E558-4BB8-8EAC-3F99D475B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00200"/>
            <a:ext cx="3695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F556FB-1D83-4680-B6C3-5B409B5B4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00200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629588-1E59-4970-901A-97D2733BA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7145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多智能体任务规划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6CA331-8B6C-4A5D-ACCF-95745BCBD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000250"/>
            <a:ext cx="3143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26B75"/>
                </a:solidFill>
                <a:latin typeface="Microsoft YaHei"/>
                <a:ea typeface="Microsoft YaHei"/>
                <a:cs typeface="Microsoft YaHei"/>
              </a:rPr>
              <a:t>自然语言目标 -&gt; 子任务拆解 -&gt; 多角色协作执行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4DF735-ECFF-426F-B381-C660DDE2B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514600"/>
            <a:ext cx="3695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49D372-33D7-4249-B323-787953601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514600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7A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510E9D-DDD0-43C5-9B2C-582EFE63E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6289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科学发现与自驱动实验室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71E3DA-54F3-4A4C-9F4B-1BADCD49D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914650"/>
            <a:ext cx="3143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26B75"/>
                </a:solidFill>
                <a:latin typeface="Microsoft YaHei"/>
                <a:ea typeface="Microsoft YaHei"/>
                <a:cs typeface="Microsoft YaHei"/>
              </a:rPr>
              <a:t>文献检索、假设生成、实验设计与结果分析闭环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DE5771-D87B-4620-8E37-C25D8BA75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429000"/>
            <a:ext cx="3695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1CDE55-03B2-4A3C-A17A-4C74461B0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429000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0A4428-3EEE-4BE0-8EE7-C2299D914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5433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人机协作与人类监督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8CA966-96F9-4D50-8A30-B47F6455E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829050"/>
            <a:ext cx="3143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26B75"/>
                </a:solidFill>
                <a:latin typeface="Microsoft YaHei"/>
                <a:ea typeface="Microsoft YaHei"/>
                <a:cs typeface="Microsoft YaHei"/>
              </a:rPr>
              <a:t>从 AI-AI 协作扩展为人、模型、工具、环境协作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C353F5-0753-442D-A87F-D215340CD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343400"/>
            <a:ext cx="3695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E189B3-01FB-402C-B407-C6CDF5DCF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343400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6B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F281A9-97B8-4EBF-B759-63364143A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4577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医疗、机器人等垂直应用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B1B56C-DE50-40DB-8ACE-9E3BDCB33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743450"/>
            <a:ext cx="3143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26B75"/>
                </a:solidFill>
                <a:latin typeface="Microsoft YaHei"/>
                <a:ea typeface="Microsoft YaHei"/>
                <a:cs typeface="Microsoft YaHei"/>
              </a:rPr>
              <a:t>高约束场景要求证据、审计、安全退出机制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64FC9D-8EB6-4BEB-8FA9-83E80818C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3911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25A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25AC1"/>
                </a:solidFill>
                <a:latin typeface="Microsoft YaHei"/>
                <a:ea typeface="Microsoft YaHei"/>
                <a:cs typeface="Microsoft YaHei"/>
              </a:rPr>
              <a:t>这页的作用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42B031-F165-49EE-8111-B315BDE19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343525"/>
            <a:ext cx="2857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答辩时可以说：我们不是把所有文献平均铺开，而是用高被引候选论文和主题图谱共同决定综述的四条主线。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89DF79-0BB0-48CD-8FF0-DF60A38EB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857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7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A746B"/>
                </a:solidFill>
                <a:latin typeface="Microsoft YaHei"/>
                <a:ea typeface="Microsoft YaHei"/>
                <a:cs typeface="Microsoft YaHei"/>
              </a:rPr>
              <a:t>Source: paper/mini_review_final.md and outputs/milestone_paper_candidates.md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685F91-04B3-4D30-9846-D18B1A176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151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A746B"/>
                </a:solidFill>
                <a:latin typeface="Consolas"/>
                <a:ea typeface="Consolas"/>
                <a:cs typeface="Consolas"/>
              </a:defRPr>
            </a:pPr>
            <a:r>
              <a:rPr sz="825" b="0">
                <a:solidFill>
                  <a:srgbClr val="7A746B"/>
                </a:solidFill>
                <a:latin typeface="Consolas"/>
                <a:ea typeface="Consolas"/>
                <a:cs typeface="Consola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88206594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68F12C9-AEFA-4C6C-B60B-896B87767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9-marker">
            <a:extLst xmlns:a="http://schemas.openxmlformats.org/drawingml/2006/main">
              <a:ext uri="{FF2B5EF4-FFF2-40B4-BE49-F238E27FC236}">
                <a16:creationId xmlns:a16="http://schemas.microsoft.com/office/drawing/2014/main" id="{7B8BE605-FB65-4A56-BC39-35C4AE049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05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9-label">
            <a:extLst xmlns:a="http://schemas.openxmlformats.org/drawingml/2006/main">
              <a:ext uri="{FF2B5EF4-FFF2-40B4-BE49-F238E27FC236}">
                <a16:creationId xmlns:a16="http://schemas.microsoft.com/office/drawing/2014/main" id="{2CEA90F0-8AF4-4852-A12D-3DE08329B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29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46BF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246BFE"/>
                </a:solidFill>
                <a:latin typeface="Microsoft YaHei UI"/>
                <a:ea typeface="Microsoft YaHei UI"/>
                <a:cs typeface="Microsoft YaHei UI"/>
              </a:rPr>
              <a:t>WEEK 13 AGENT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734786-EB61-48AB-ADA5-9CF9F8C44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9906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024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20242A"/>
                </a:solidFill>
                <a:latin typeface="Microsoft YaHei UI"/>
                <a:ea typeface="Microsoft YaHei UI"/>
                <a:cs typeface="Microsoft YaHei UI"/>
              </a:rPr>
              <a:t>Week 13 的改进点是把“结论-证据-解释”绑定起来。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486D0B-418F-4ED1-A072-47C785F1D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695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46BF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917153-4AFF-4CD9-8594-757CBBFA6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2405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6BFE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246BFE"/>
                </a:solidFill>
                <a:latin typeface="Consolas"/>
                <a:ea typeface="Consolas"/>
                <a:cs typeface="Consolas"/>
              </a:rPr>
              <a:t>Claim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13BD2C-F5EE-4CA1-8A9B-FD4EE7770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6695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提出段落主张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1603C0-BD75-4858-B95F-F4848D459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2098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2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BA3281-B4DF-4F40-8A52-4A3E4344F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1717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2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2D8635-A87F-405A-BE4D-4F950D598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752600"/>
            <a:ext cx="1695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8F7"/>
          </a:solidFill>
          <a:ln xmlns:a="http://schemas.openxmlformats.org/drawingml/2006/main" w="9525">
            <a:solidFill>
              <a:srgbClr val="12A7A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D1A93A-9AAD-47F2-87AD-7EAE78BA7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92405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A7A0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12A7A0"/>
                </a:solidFill>
                <a:latin typeface="Consolas"/>
                <a:ea typeface="Consolas"/>
                <a:cs typeface="Consolas"/>
              </a:rPr>
              <a:t>Evidence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F99208-66AC-4436-95E6-814C3F290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26695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定位图表与数据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E72ED5-3D2F-459F-AD1B-842B1E9FD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098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2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4B6C45-117B-451B-A3B8-CB53204AE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1717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2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515D8E-6A45-487B-A0CB-8F4AC637F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752600"/>
            <a:ext cx="1695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25AC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BFB708-2219-4A48-84EB-E1C59599D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92405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25AC1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725AC1"/>
                </a:solidFill>
                <a:latin typeface="Consolas"/>
                <a:ea typeface="Consolas"/>
                <a:cs typeface="Consolas"/>
              </a:rPr>
              <a:t>Tool trace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BFAB95-D293-4381-9733-DF3776B53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6695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绑定脚本与文件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9B2C90-43B5-40B4-8293-706EEE603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2098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2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991C3E-AB4F-47C3-9F91-3B491C6B0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1717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2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D84A4C-C408-4FE4-84CE-20DBA161F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752600"/>
            <a:ext cx="1695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DF"/>
          </a:solidFill>
          <a:ln xmlns:a="http://schemas.openxmlformats.org/drawingml/2006/main" w="9525">
            <a:solidFill>
              <a:srgbClr val="D89B1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6B29BC-2C5C-4C43-A873-442A8E8EE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92405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89B19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D89B19"/>
                </a:solidFill>
                <a:latin typeface="Consolas"/>
                <a:ea typeface="Consolas"/>
                <a:cs typeface="Consolas"/>
              </a:rPr>
              <a:t>Reasoning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E1FE88-63E8-4069-BEBF-3B62CB1A0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26695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改写解释逻辑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E80E4B-CC57-44DF-83F9-611F91289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2098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2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43694B-0F7E-440A-9171-8F6D72016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1717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2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08161A-20B4-4FCC-B1A7-A56BBAE80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752600"/>
            <a:ext cx="1695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6B5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E8832E-084F-483E-B4DD-A7FF48619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92405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36B5C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E36B5C"/>
                </a:solidFill>
                <a:latin typeface="Consolas"/>
                <a:ea typeface="Consolas"/>
                <a:cs typeface="Consolas"/>
              </a:rPr>
              <a:t>Review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13AA33-759B-4E4F-B5A1-924B494EE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26695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检查图文一致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3A7296E-2585-42CE-B5C8-28106220E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76600"/>
            <a:ext cx="6858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C24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8ACE9E-D62D-4521-9C59-8D579A11D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43275"/>
            <a:ext cx="159258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主张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4D5520-41FC-49C7-8763-DE39D3137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630" y="3343275"/>
            <a:ext cx="268986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证据对象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26E1435-3FA7-4F24-A857-9A524EF9B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4990" y="3343275"/>
            <a:ext cx="200406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解释动作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11AAF4F-BA21-43BA-AE4C-C4EB7350C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33800"/>
            <a:ext cx="6858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2B30F9D-8E36-46DE-9C01-83C73524A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00475"/>
            <a:ext cx="159258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领域爆发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6F4ACF9-ED0E-4CCF-B4FF-50C9A33EE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630" y="3800475"/>
            <a:ext cx="268986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年度发文量 2020-2026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725305A-5BDD-47D4-909E-23D6AFED3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4990" y="3800475"/>
            <a:ext cx="200406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说明 2024-2025 拐点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1E6486F-C0DD-4114-92E4-19CBD4CDC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0"/>
            <a:ext cx="6858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DEF47E5-64D0-4F55-B012-EAA31040B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57675"/>
            <a:ext cx="159258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主题分层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9DCD62F-15F4-415A-BD5A-F115D5177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630" y="4257675"/>
            <a:ext cx="268986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关键词共现与主题架构图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8E9C78A-C13B-49DE-A0E5-09E07A701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4990" y="4257675"/>
            <a:ext cx="200406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把图转为综述章节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36C2F08-355A-4654-ACE3-6B8A89767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48200"/>
            <a:ext cx="6858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A6FF655-C253-461B-ABEC-E53D7963F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714875"/>
            <a:ext cx="159258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知识基础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E21FDBE-B8BA-4DA0-BC03-3E9138C89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630" y="4714875"/>
            <a:ext cx="268986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引用网络 + 共被引网络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E776C61-1195-436B-8AFA-289B32B82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4990" y="4714875"/>
            <a:ext cx="200406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区分传播与共同依赖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C2BB752-A17E-44C9-88A2-FD21BDEF8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05400"/>
            <a:ext cx="6858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8D1C4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ED7F834-CA2F-4250-9735-93801C0F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172075"/>
            <a:ext cx="159258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未来挑战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1809EC7-54DB-4E13-8D47-353948AEF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630" y="5172075"/>
            <a:ext cx="268986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挑战议程图与文献解释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0CEEB22-6E6A-4ED2-9C6A-FC3CF58A9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4990" y="5172075"/>
            <a:ext cx="200406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20242A"/>
                </a:solidFill>
                <a:latin typeface="Microsoft YaHei"/>
                <a:ea typeface="Microsoft YaHei"/>
                <a:cs typeface="Microsoft YaHei"/>
              </a:rPr>
              <a:t>回到评价、审计、安全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7CC4ACF-B47C-4527-A345-DD2938FBB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76600"/>
            <a:ext cx="28575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C24"/>
          </a:solidFill>
          <a:ln xmlns:a="http://schemas.openxmlformats.org/drawingml/2006/main" w="9525">
            <a:solidFill>
              <a:srgbClr val="171C24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930A3FD-2006-4161-B7E3-606DF14BD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54330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不是“让 AI 写完论文”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5EEFCF5-7D61-40A8-81E3-20BCEFADA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000500"/>
            <a:ext cx="2247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E3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DCE3EC"/>
                </a:solidFill>
                <a:latin typeface="Microsoft YaHei"/>
                <a:ea typeface="Microsoft YaHei"/>
                <a:cs typeface="Microsoft YaHei"/>
              </a:rPr>
              <a:t>这里的 agent 角色更像证据审稿人：每个段落必须回答三件事。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8C33356-C4EC-4137-8B9D-493015C22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686300"/>
            <a:ext cx="228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6DF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F6DFA8"/>
                </a:solidFill>
                <a:latin typeface="Microsoft YaHei"/>
                <a:ea typeface="Microsoft YaHei"/>
                <a:cs typeface="Microsoft YaHei"/>
              </a:rPr>
              <a:t>1. 我说了什么？</a:t>
            </a:r>
          </a:p>
          <a:p xmlns:a="http://schemas.openxmlformats.org/drawingml/2006/main">
            <a:pPr algn="l">
              <a:defRPr sz="1125" b="0">
                <a:solidFill>
                  <a:srgbClr val="F6DF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F6DFA8"/>
                </a:solidFill>
                <a:latin typeface="Microsoft YaHei"/>
                <a:ea typeface="Microsoft YaHei"/>
                <a:cs typeface="Microsoft YaHei"/>
              </a:rPr>
              <a:t>2. 哪张图或哪个指标支持？</a:t>
            </a:r>
          </a:p>
          <a:p xmlns:a="http://schemas.openxmlformats.org/drawingml/2006/main">
            <a:pPr algn="l">
              <a:defRPr sz="1125" b="0">
                <a:solidFill>
                  <a:srgbClr val="F6DF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F6DFA8"/>
                </a:solidFill>
                <a:latin typeface="Microsoft YaHei"/>
                <a:ea typeface="Microsoft YaHei"/>
                <a:cs typeface="Microsoft YaHei"/>
              </a:rPr>
              <a:t>3. 这张图为什么能支持？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D220159-895F-4A91-A6DC-844739C6F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857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7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A746B"/>
                </a:solidFill>
                <a:latin typeface="Microsoft YaHei"/>
                <a:ea typeface="Microsoft YaHei"/>
                <a:cs typeface="Microsoft YaHei"/>
              </a:rPr>
              <a:t>Week 13 requirement: agent workflow, tool calls/evidence binding, claim-evidence-reasoning revision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0C5855A-AFE2-41CE-AA56-3C536F17F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151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A746B"/>
                </a:solidFill>
                <a:latin typeface="Consolas"/>
                <a:ea typeface="Consolas"/>
                <a:cs typeface="Consolas"/>
              </a:defRPr>
            </a:pPr>
            <a:r>
              <a:rPr sz="825" b="0">
                <a:solidFill>
                  <a:srgbClr val="7A746B"/>
                </a:solidFill>
                <a:latin typeface="Consolas"/>
                <a:ea typeface="Consolas"/>
                <a:cs typeface="Consola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95162701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5080D8A-F8A4-4425-BF9B-C69CCFCA5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C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0-marker">
            <a:extLst xmlns:a="http://schemas.openxmlformats.org/drawingml/2006/main">
              <a:ext uri="{FF2B5EF4-FFF2-40B4-BE49-F238E27FC236}">
                <a16:creationId xmlns:a16="http://schemas.microsoft.com/office/drawing/2014/main" id="{16769AFD-7625-47AD-861C-E1796B12B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05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0-label">
            <a:extLst xmlns:a="http://schemas.openxmlformats.org/drawingml/2006/main">
              <a:ext uri="{FF2B5EF4-FFF2-40B4-BE49-F238E27FC236}">
                <a16:creationId xmlns:a16="http://schemas.microsoft.com/office/drawing/2014/main" id="{89E3C27A-7476-4B31-A050-0A87630B3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29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89B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D89B19"/>
                </a:solidFill>
                <a:latin typeface="Microsoft YaHei UI"/>
                <a:ea typeface="Microsoft YaHei UI"/>
                <a:cs typeface="Microsoft YaHei UI"/>
              </a:rPr>
              <a:t>DELIVERABLES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E2672A-050C-47A4-B1E5-BD4077B17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9906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4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最终提交物已经形成一个可答辩、可复现、可继续发布的 GitHub 项目。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1E6131-479B-4FB6-8D4E-813D72D1D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3143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934"/>
          </a:solidFill>
          <a:ln xmlns:a="http://schemas.openxmlformats.org/drawingml/2006/main" w="9525">
            <a:solidFill>
              <a:srgbClr val="3C465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59AE77-03E8-4C5B-8952-DC07BD629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3143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6576B5-D414-4B36-98CA-780F8BCEE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38350"/>
            <a:ext cx="2286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数据与代码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8BD59F-9916-4D00-AA17-02A52CFC0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4795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CE3EC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DCE3EC"/>
                </a:solidFill>
                <a:latin typeface="Consolas"/>
                <a:ea typeface="Consolas"/>
                <a:cs typeface="Consolas"/>
              </a:rPr>
              <a:t>data/processed/cleaned_data.csv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C5EFC7-34A5-436C-AC5E-D8C890B99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336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494357-A32B-4502-867A-B917DB45E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0515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CE3EC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DCE3EC"/>
                </a:solidFill>
                <a:latin typeface="Consolas"/>
                <a:ea typeface="Consolas"/>
                <a:cs typeface="Consolas"/>
              </a:rPr>
              <a:t>run_pipeline.py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698A6E-5D4A-4404-9167-7D190C572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908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2A99F6-70D7-414F-B3A3-5ACB71827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6235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CE3EC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DCE3EC"/>
                </a:solidFill>
                <a:latin typeface="Consolas"/>
                <a:ea typeface="Consolas"/>
                <a:cs typeface="Consolas"/>
              </a:rPr>
              <a:t>src/*.py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B92729-0DB5-41DF-8EE1-D582749D9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480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739025-727E-483E-AD80-515287C0E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1955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CE3EC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DCE3EC"/>
                </a:solidFill>
                <a:latin typeface="Consolas"/>
                <a:ea typeface="Consolas"/>
                <a:cs typeface="Consolas"/>
              </a:rPr>
              <a:t>requirements.txt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BBF070-A566-4AA3-8A94-86A52D57C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052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66B205-CE8F-473B-9210-8D30B62BD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695450"/>
            <a:ext cx="3143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934"/>
          </a:solidFill>
          <a:ln xmlns:a="http://schemas.openxmlformats.org/drawingml/2006/main" w="9525">
            <a:solidFill>
              <a:srgbClr val="3C465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5F47FB-90EA-4547-8EF8-6F1FAB3EA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695450"/>
            <a:ext cx="3143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7A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D2847F-24E7-4509-B184-69284B776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038350"/>
            <a:ext cx="2286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报告与图谱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ACF970-9F72-4CAB-AC0B-B8684F75F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64795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CE3EC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DCE3EC"/>
                </a:solidFill>
                <a:latin typeface="Consolas"/>
                <a:ea typeface="Consolas"/>
                <a:cs typeface="Consolas"/>
              </a:rPr>
              <a:t>reports/m1_data_quality_report.md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DEAA16-4A02-4319-808B-427FB8D50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5336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7A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473767-C991-45F8-811E-93A4D103E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10515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CE3EC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DCE3EC"/>
                </a:solidFill>
                <a:latin typeface="Consolas"/>
                <a:ea typeface="Consolas"/>
                <a:cs typeface="Consolas"/>
              </a:rPr>
              <a:t>reports/m2_metrics_analysis_report.md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06493C-EBCB-42F6-9534-B08376CDD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9908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7A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0FA923-0AA5-4073-82C9-A650AA83B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56235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CE3EC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DCE3EC"/>
                </a:solidFill>
                <a:latin typeface="Consolas"/>
                <a:ea typeface="Consolas"/>
                <a:cs typeface="Consolas"/>
              </a:rPr>
              <a:t>outputs/figures/*.png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1DC62C-1CC3-413C-AD5C-D1B15E7B8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4480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7A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160697-C07D-48DC-8F1D-42F018317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01955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CE3EC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DCE3EC"/>
                </a:solidFill>
                <a:latin typeface="Consolas"/>
                <a:ea typeface="Consolas"/>
                <a:cs typeface="Consolas"/>
              </a:rPr>
              <a:t>outputs/review_figures/*.png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295C15-0E22-4176-811A-24DA3701A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9052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A7A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3B0B20-223E-4B5E-8362-207FD9393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95450"/>
            <a:ext cx="3143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934"/>
          </a:solidFill>
          <a:ln xmlns:a="http://schemas.openxmlformats.org/drawingml/2006/main" w="9525">
            <a:solidFill>
              <a:srgbClr val="3C465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87B9C9D-1453-431D-B2AF-3914E3A87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95450"/>
            <a:ext cx="3143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3559A16-5CE4-4305-85F0-4020ABC44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038350"/>
            <a:ext cx="2286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综述与发布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8DD3D53-2326-4BA9-93E0-2A0F9216A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64795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CE3EC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DCE3EC"/>
                </a:solidFill>
                <a:latin typeface="Consolas"/>
                <a:ea typeface="Consolas"/>
                <a:cs typeface="Consolas"/>
              </a:rPr>
              <a:t>paper/mini_review_final.md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B64BE61-9315-4D14-83EF-27A547CC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5336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D4A7BCE-027C-43BC-8409-8D8E45293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0515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CE3EC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DCE3EC"/>
                </a:solidFill>
                <a:latin typeface="Consolas"/>
                <a:ea typeface="Consolas"/>
                <a:cs typeface="Consolas"/>
              </a:rPr>
              <a:t>reports/m3_final_report.md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D8FF6F3-7AA2-448D-B340-11F503536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9908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664243B-382E-4E94-9FBD-10D6299BA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6235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CE3EC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DCE3EC"/>
                </a:solidFill>
                <a:latin typeface="Consolas"/>
                <a:ea typeface="Consolas"/>
                <a:cs typeface="Consolas"/>
              </a:rPr>
              <a:t>RELEASE_NOTES.md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69FE3E0-29E2-41E7-B1C4-BC2AB4831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480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0B3E69A-FAFC-41A6-85FE-FA443E7CD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01955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CE3EC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DCE3EC"/>
                </a:solidFill>
                <a:latin typeface="Consolas"/>
                <a:ea typeface="Consolas"/>
                <a:cs typeface="Consolas"/>
              </a:rPr>
              <a:t>defense PPTX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370459D-25D1-4486-956B-C193C11DD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9052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CFB80F3-CA50-4781-B7F4-2003ADC82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911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6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352C80E-25D9-470D-9F60-5DB5DC9FE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15000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9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89B19"/>
                </a:solidFill>
                <a:latin typeface="Microsoft YaHei"/>
                <a:ea typeface="Microsoft YaHei"/>
                <a:cs typeface="Microsoft YaHei"/>
              </a:rPr>
              <a:t>答辩结论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4BFAAE7-26A5-4F4B-A2B3-FAA31410E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619750"/>
            <a:ext cx="8096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本项目完成了从检索口径、数据清洗、计量图谱、综述写作到 Week 13 证据绑定的闭环；核心贡献是把 LLM 多智能体协作研究的快速增长，解释为一个有数据、有图谱、有技术主线的可复现课程项目。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9288FFB-1383-46BE-B045-48B7F2655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5600700"/>
            <a:ext cx="914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2550" b="1">
                <a:solidFill>
                  <a:srgbClr val="D89B1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D89B19"/>
                </a:solidFill>
                <a:latin typeface="Microsoft YaHei UI"/>
                <a:ea typeface="Microsoft YaHei UI"/>
                <a:cs typeface="Microsoft YaHei UI"/>
              </a:rPr>
              <a:t>Q&amp;A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399B0CF-65E9-46CA-A37E-3B5A4CB1A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857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7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A746B"/>
                </a:solidFill>
                <a:latin typeface="Microsoft YaHei"/>
                <a:ea typeface="Microsoft YaHei"/>
                <a:cs typeface="Microsoft YaHei"/>
              </a:rPr>
              <a:t>Final artifact: Week 13 defense deck and GitHub project package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33CF7E3-1A93-4EBC-9A8F-F3455BF30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5151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A746B"/>
                </a:solidFill>
                <a:latin typeface="Consolas"/>
                <a:ea typeface="Consolas"/>
                <a:cs typeface="Consolas"/>
              </a:defRPr>
            </a:pPr>
            <a:r>
              <a:rPr sz="825" b="0">
                <a:solidFill>
                  <a:srgbClr val="7A746B"/>
                </a:solidFill>
                <a:latin typeface="Consolas"/>
                <a:ea typeface="Consolas"/>
                <a:cs typeface="Consola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8075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2026-06-03T12:59:49.0590000Z</dcterms:created>
  <dcterms:modified xsi:type="dcterms:W3CDTF">2026-06-03T12:59:49.0590000Z</dcterms:modified>
</coreProperties>
</file>